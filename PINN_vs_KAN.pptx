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194560"/>
            <a:ext cx="10789920" cy="2194560"/>
          </a:xfrm>
          <a:prstGeom prst="rect">
            <a:avLst/>
          </a:prstGeom>
          <a:noFill/>
        </p:spPr>
        <p:txBody>
          <a:bodyPr wrap="square">
            <a:spAutoFit/>
          </a:bodyPr>
          <a:lstStyle/>
          <a:p>
            <a:r>
              <a:rPr sz="3600" b="1">
                <a:solidFill>
                  <a:srgbClr val="000000"/>
                </a:solidFill>
                <a:latin typeface="Calibri"/>
              </a:rPr>
              <a:t>PINNs vs KANs on the 1-D Elastic Wave Equation</a:t>
            </a:r>
          </a:p>
          <a:p>
            <a:pPr>
              <a:spcBef>
                <a:spcPts val="1400"/>
              </a:spcBef>
            </a:pPr>
            <a:r>
              <a:rPr sz="1600">
                <a:solidFill>
                  <a:srgbClr val="606060"/>
                </a:solidFill>
                <a:latin typeface="Calibri"/>
              </a:rPr>
              <a:t>A controlled comparison: what the inherited repository could not answer, what we rebuilt, and what the measurements say</a:t>
            </a:r>
          </a:p>
          <a:p>
            <a:pPr>
              <a:spcBef>
                <a:spcPts val="2200"/>
              </a:spcBef>
            </a:pPr>
            <a:r>
              <a:rPr sz="1300">
                <a:solidFill>
                  <a:srgbClr val="000000"/>
                </a:solidFill>
                <a:latin typeface="Calibri"/>
              </a:rPr>
              <a:t>~800 training runs  ·  10 phases  ·  3 materials  ·  9 architectures  ·  11 seeds per headline cell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Contents</a:t>
            </a:r>
          </a:p>
        </p:txBody>
      </p:sp>
      <p:sp>
        <p:nvSpPr>
          <p:cNvPr id="3" name="Rectangle 2"/>
          <p:cNvSpPr/>
          <p:nvPr/>
        </p:nvSpPr>
        <p:spPr>
          <a:xfrm>
            <a:off x="457200" y="1024128"/>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02920" y="1243584"/>
          <a:ext cx="10972800" cy="1426464"/>
        </p:xfrm>
        <a:graphic>
          <a:graphicData uri="http://schemas.openxmlformats.org/drawingml/2006/table">
            <a:tbl>
              <a:tblPr firstRow="1">
                <a:tableStyleId>{5C22544A-7EE6-4342-B048-85BDC9FD1C3A}</a:tableStyleId>
              </a:tblPr>
              <a:tblGrid>
                <a:gridCol w="731520"/>
                <a:gridCol w="8778240"/>
                <a:gridCol w="1463040"/>
              </a:tblGrid>
              <a:tr h="237744">
                <a:tc>
                  <a:txBody>
                    <a:bodyPr wrap="square"/>
                    <a:lstStyle/>
                    <a:p>
                      <a:r>
                        <a:rPr sz="1200" b="1">
                          <a:solidFill>
                            <a:srgbClr val="000000"/>
                          </a:solidFill>
                          <a:latin typeface="Calibri"/>
                        </a:rPr>
                        <a:t>Part</a:t>
                      </a:r>
                    </a:p>
                  </a:txBody>
                  <a:tcPr marL="45720" marR="45720" marT="9144" marB="9144">
                    <a:solidFill>
                      <a:srgbClr val="FFFFFF"/>
                    </a:solidFill>
                  </a:tcPr>
                </a:tc>
                <a:tc>
                  <a:txBody>
                    <a:bodyPr wrap="square"/>
                    <a:lstStyle/>
                    <a:p>
                      <a:r>
                        <a:rPr sz="1200" b="1">
                          <a:solidFill>
                            <a:srgbClr val="000000"/>
                          </a:solidFill>
                          <a:latin typeface="Calibri"/>
                        </a:rPr>
                        <a:t>Section</a:t>
                      </a:r>
                    </a:p>
                  </a:txBody>
                  <a:tcPr marL="45720" marR="45720" marT="9144" marB="9144">
                    <a:solidFill>
                      <a:srgbClr val="FFFFFF"/>
                    </a:solidFill>
                  </a:tcPr>
                </a:tc>
                <a:tc>
                  <a:txBody>
                    <a:bodyPr wrap="square"/>
                    <a:lstStyle/>
                    <a:p>
                      <a:r>
                        <a:rPr sz="1200" b="1">
                          <a:solidFill>
                            <a:srgbClr val="000000"/>
                          </a:solidFill>
                          <a:latin typeface="Calibri"/>
                        </a:rPr>
                        <a:t>Slides</a:t>
                      </a:r>
                    </a:p>
                  </a:txBody>
                  <a:tcPr marL="45720" marR="45720" marT="9144" marB="9144">
                    <a:solidFill>
                      <a:srgbClr val="FFFFFF"/>
                    </a:solidFill>
                  </a:tcPr>
                </a:tc>
              </a:tr>
              <a:tr h="237744">
                <a:tc>
                  <a:txBody>
                    <a:bodyPr wrap="square"/>
                    <a:lstStyle/>
                    <a:p>
                      <a:r>
                        <a:rPr sz="1200" b="0">
                          <a:solidFill>
                            <a:srgbClr val="000000"/>
                          </a:solidFill>
                          <a:latin typeface="Calibri"/>
                        </a:rPr>
                        <a:t>A</a:t>
                      </a:r>
                    </a:p>
                  </a:txBody>
                  <a:tcPr marL="45720" marR="45720" marT="9144" marB="9144">
                    <a:solidFill>
                      <a:srgbClr val="FFFFFF"/>
                    </a:solidFill>
                  </a:tcPr>
                </a:tc>
                <a:tc>
                  <a:txBody>
                    <a:bodyPr wrap="square"/>
                    <a:lstStyle/>
                    <a:p>
                      <a:r>
                        <a:rPr sz="1200" b="0">
                          <a:solidFill>
                            <a:srgbClr val="000000"/>
                          </a:solidFill>
                          <a:latin typeface="Calibri"/>
                        </a:rPr>
                        <a:t>The problem — the equation, the materials, what solving means</a:t>
                      </a:r>
                    </a:p>
                  </a:txBody>
                  <a:tcPr marL="45720" marR="45720" marT="9144" marB="9144">
                    <a:solidFill>
                      <a:srgbClr val="FFFFFF"/>
                    </a:solidFill>
                  </a:tcPr>
                </a:tc>
                <a:tc>
                  <a:txBody>
                    <a:bodyPr wrap="square"/>
                    <a:lstStyle/>
                    <a:p>
                      <a:r>
                        <a:rPr sz="1200" b="0">
                          <a:solidFill>
                            <a:srgbClr val="000000"/>
                          </a:solidFill>
                          <a:latin typeface="Calibri"/>
                        </a:rPr>
                        <a:t>3–8</a:t>
                      </a:r>
                    </a:p>
                  </a:txBody>
                  <a:tcPr marL="45720" marR="45720" marT="9144" marB="9144">
                    <a:solidFill>
                      <a:srgbClr val="FFFFFF"/>
                    </a:solidFill>
                  </a:tcPr>
                </a:tc>
              </a:tr>
              <a:tr h="237744">
                <a:tc>
                  <a:txBody>
                    <a:bodyPr wrap="square"/>
                    <a:lstStyle/>
                    <a:p>
                      <a:r>
                        <a:rPr sz="1200" b="0">
                          <a:solidFill>
                            <a:srgbClr val="000000"/>
                          </a:solidFill>
                          <a:latin typeface="Calibri"/>
                        </a:rPr>
                        <a:t>B</a:t>
                      </a:r>
                    </a:p>
                  </a:txBody>
                  <a:tcPr marL="45720" marR="45720" marT="9144" marB="9144">
                    <a:solidFill>
                      <a:srgbClr val="FFFFFF"/>
                    </a:solidFill>
                  </a:tcPr>
                </a:tc>
                <a:tc>
                  <a:txBody>
                    <a:bodyPr wrap="square"/>
                    <a:lstStyle/>
                    <a:p>
                      <a:r>
                        <a:rPr sz="1200" b="0">
                          <a:solidFill>
                            <a:srgbClr val="000000"/>
                          </a:solidFill>
                          <a:latin typeface="Calibri"/>
                        </a:rPr>
                        <a:t>The constraints — physical, experimental, and statistical</a:t>
                      </a:r>
                    </a:p>
                  </a:txBody>
                  <a:tcPr marL="45720" marR="45720" marT="9144" marB="9144">
                    <a:solidFill>
                      <a:srgbClr val="FFFFFF"/>
                    </a:solidFill>
                  </a:tcPr>
                </a:tc>
                <a:tc>
                  <a:txBody>
                    <a:bodyPr wrap="square"/>
                    <a:lstStyle/>
                    <a:p>
                      <a:r>
                        <a:rPr sz="1200" b="0">
                          <a:solidFill>
                            <a:srgbClr val="000000"/>
                          </a:solidFill>
                          <a:latin typeface="Calibri"/>
                        </a:rPr>
                        <a:t>9–12</a:t>
                      </a:r>
                    </a:p>
                  </a:txBody>
                  <a:tcPr marL="45720" marR="45720" marT="9144" marB="9144">
                    <a:solidFill>
                      <a:srgbClr val="FFFFFF"/>
                    </a:solidFill>
                  </a:tcPr>
                </a:tc>
              </a:tr>
              <a:tr h="237744">
                <a:tc>
                  <a:txBody>
                    <a:bodyPr wrap="square"/>
                    <a:lstStyle/>
                    <a:p>
                      <a:r>
                        <a:rPr sz="1200" b="0">
                          <a:solidFill>
                            <a:srgbClr val="000000"/>
                          </a:solidFill>
                          <a:latin typeface="Calibri"/>
                        </a:rPr>
                        <a:t>C</a:t>
                      </a:r>
                    </a:p>
                  </a:txBody>
                  <a:tcPr marL="45720" marR="45720" marT="9144" marB="9144">
                    <a:solidFill>
                      <a:srgbClr val="FFFFFF"/>
                    </a:solidFill>
                  </a:tcPr>
                </a:tc>
                <a:tc>
                  <a:txBody>
                    <a:bodyPr wrap="square"/>
                    <a:lstStyle/>
                    <a:p>
                      <a:r>
                        <a:rPr sz="1200" b="0">
                          <a:solidFill>
                            <a:srgbClr val="000000"/>
                          </a:solidFill>
                          <a:latin typeface="Calibri"/>
                        </a:rPr>
                        <a:t>Previous work — what the inherited repository contained, and its 18 defects</a:t>
                      </a:r>
                    </a:p>
                  </a:txBody>
                  <a:tcPr marL="45720" marR="45720" marT="9144" marB="9144">
                    <a:solidFill>
                      <a:srgbClr val="FFFFFF"/>
                    </a:solidFill>
                  </a:tcPr>
                </a:tc>
                <a:tc>
                  <a:txBody>
                    <a:bodyPr wrap="square"/>
                    <a:lstStyle/>
                    <a:p>
                      <a:r>
                        <a:rPr sz="1200" b="0">
                          <a:solidFill>
                            <a:srgbClr val="000000"/>
                          </a:solidFill>
                          <a:latin typeface="Calibri"/>
                        </a:rPr>
                        <a:t>13–18</a:t>
                      </a:r>
                    </a:p>
                  </a:txBody>
                  <a:tcPr marL="45720" marR="45720" marT="9144" marB="9144">
                    <a:solidFill>
                      <a:srgbClr val="FFFFFF"/>
                    </a:solidFill>
                  </a:tcPr>
                </a:tc>
              </a:tr>
              <a:tr h="237744">
                <a:tc>
                  <a:txBody>
                    <a:bodyPr wrap="square"/>
                    <a:lstStyle/>
                    <a:p>
                      <a:r>
                        <a:rPr sz="1200" b="0">
                          <a:solidFill>
                            <a:srgbClr val="000000"/>
                          </a:solidFill>
                          <a:latin typeface="Calibri"/>
                        </a:rPr>
                        <a:t>D</a:t>
                      </a:r>
                    </a:p>
                  </a:txBody>
                  <a:tcPr marL="45720" marR="45720" marT="9144" marB="9144">
                    <a:solidFill>
                      <a:srgbClr val="FFFFFF"/>
                    </a:solidFill>
                  </a:tcPr>
                </a:tc>
                <a:tc>
                  <a:txBody>
                    <a:bodyPr wrap="square"/>
                    <a:lstStyle/>
                    <a:p>
                      <a:r>
                        <a:rPr sz="1200" b="0">
                          <a:solidFill>
                            <a:srgbClr val="000000"/>
                          </a:solidFill>
                          <a:latin typeface="Calibri"/>
                        </a:rPr>
                        <a:t>Our work — what we built, how we ran it, what we found</a:t>
                      </a:r>
                    </a:p>
                  </a:txBody>
                  <a:tcPr marL="45720" marR="45720" marT="9144" marB="9144">
                    <a:solidFill>
                      <a:srgbClr val="FFFFFF"/>
                    </a:solidFill>
                  </a:tcPr>
                </a:tc>
                <a:tc>
                  <a:txBody>
                    <a:bodyPr wrap="square"/>
                    <a:lstStyle/>
                    <a:p>
                      <a:r>
                        <a:rPr sz="1200" b="0">
                          <a:solidFill>
                            <a:srgbClr val="000000"/>
                          </a:solidFill>
                          <a:latin typeface="Calibri"/>
                        </a:rPr>
                        <a:t>19–36</a:t>
                      </a:r>
                    </a:p>
                  </a:txBody>
                  <a:tcPr marL="45720" marR="45720" marT="9144" marB="9144">
                    <a:solidFill>
                      <a:srgbClr val="FFFFFF"/>
                    </a:solidFill>
                  </a:tcPr>
                </a:tc>
              </a:tr>
              <a:tr h="237744">
                <a:tc>
                  <a:txBody>
                    <a:bodyPr wrap="square"/>
                    <a:lstStyle/>
                    <a:p>
                      <a:r>
                        <a:rPr sz="1200" b="0">
                          <a:solidFill>
                            <a:srgbClr val="000000"/>
                          </a:solidFill>
                          <a:latin typeface="Calibri"/>
                        </a:rPr>
                        <a:t>E</a:t>
                      </a:r>
                    </a:p>
                  </a:txBody>
                  <a:tcPr marL="45720" marR="45720" marT="9144" marB="9144">
                    <a:solidFill>
                      <a:srgbClr val="FFFFFF"/>
                    </a:solidFill>
                  </a:tcPr>
                </a:tc>
                <a:tc>
                  <a:txBody>
                    <a:bodyPr wrap="square"/>
                    <a:lstStyle/>
                    <a:p>
                      <a:r>
                        <a:rPr sz="1200" b="0">
                          <a:solidFill>
                            <a:srgbClr val="000000"/>
                          </a:solidFill>
                          <a:latin typeface="Calibri"/>
                        </a:rPr>
                        <a:t>Results, mechanisms, and what remains open</a:t>
                      </a:r>
                    </a:p>
                  </a:txBody>
                  <a:tcPr marL="45720" marR="45720" marT="9144" marB="9144">
                    <a:solidFill>
                      <a:srgbClr val="FFFFFF"/>
                    </a:solidFill>
                  </a:tcPr>
                </a:tc>
                <a:tc>
                  <a:txBody>
                    <a:bodyPr wrap="square"/>
                    <a:lstStyle/>
                    <a:p>
                      <a:r>
                        <a:rPr sz="1200" b="0">
                          <a:solidFill>
                            <a:srgbClr val="000000"/>
                          </a:solidFill>
                          <a:latin typeface="Calibri"/>
                        </a:rPr>
                        <a:t>30–37</a:t>
                      </a:r>
                    </a:p>
                  </a:txBody>
                  <a:tcPr marL="45720" marR="45720" marT="9144" marB="9144">
                    <a:solidFill>
                      <a:srgbClr val="FFFFFF"/>
                    </a:solidFill>
                  </a:tcPr>
                </a:tc>
              </a:tr>
            </a:tbl>
          </a:graphicData>
        </a:graphic>
      </p:graphicFrame>
      <p:sp>
        <p:nvSpPr>
          <p:cNvPr id="5" name="TextBox 4"/>
          <p:cNvSpPr txBox="1"/>
          <p:nvPr/>
        </p:nvSpPr>
        <p:spPr>
          <a:xfrm>
            <a:off x="502920" y="6263640"/>
            <a:ext cx="11155680" cy="411480"/>
          </a:xfrm>
          <a:prstGeom prst="rect">
            <a:avLst/>
          </a:prstGeom>
          <a:noFill/>
        </p:spPr>
        <p:txBody>
          <a:bodyPr wrap="square">
            <a:spAutoFit/>
          </a:bodyPr>
          <a:lstStyle/>
          <a:p>
            <a:r>
              <a:rPr sz="1050">
                <a:solidFill>
                  <a:srgbClr val="606060"/>
                </a:solidFill>
                <a:latin typeface="Calibri"/>
              </a:rPr>
              <a:t>Every number in this deck is measured. Retracted claims are shown as retracted, not silently removed — see slides 33–34.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0"/>
            <a:ext cx="11338560" cy="1280160"/>
          </a:xfrm>
          <a:prstGeom prst="rect">
            <a:avLst/>
          </a:prstGeom>
          <a:noFill/>
        </p:spPr>
        <p:txBody>
          <a:bodyPr wrap="none">
            <a:spAutoFit/>
          </a:bodyPr>
          <a:lstStyle/>
          <a:p>
            <a:r>
              <a:rPr sz="1400">
                <a:solidFill>
                  <a:srgbClr val="606060"/>
                </a:solidFill>
                <a:latin typeface="Calibri"/>
              </a:rPr>
              <a:t>PART A</a:t>
            </a:r>
          </a:p>
          <a:p>
            <a:r>
              <a:rPr sz="3200" b="1">
                <a:solidFill>
                  <a:srgbClr val="000000"/>
                </a:solidFill>
                <a:latin typeface="Calibri"/>
              </a:rPr>
              <a:t>The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question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What this study set out to answer</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500" b="1">
                <a:solidFill>
                  <a:srgbClr val="000000"/>
                </a:solidFill>
                <a:latin typeface="Calibri"/>
              </a:rPr>
              <a:t>• Can a Kolmogorov-Arnold Network (KAN) solve a PDE more accurately than a standard Physics-Informed Neural Network (PINN)?</a:t>
            </a:r>
          </a:p>
          <a:p>
            <a:pPr>
              <a:spcAft>
                <a:spcPts val="800"/>
              </a:spcAft>
            </a:pPr>
            <a:r>
              <a:rPr sz="1500" b="0">
                <a:solidFill>
                  <a:srgbClr val="000000"/>
                </a:solidFill>
                <a:latin typeface="Calibri"/>
              </a:rPr>
              <a:t>• KANs were proposed in 2024 as an alternative to the multi-layer perceptron. Claims of superior accuracy and parameter efficiency are widespread.</a:t>
            </a:r>
          </a:p>
          <a:p>
            <a:pPr>
              <a:spcAft>
                <a:spcPts val="800"/>
              </a:spcAft>
            </a:pPr>
            <a:r>
              <a:rPr sz="1500" b="0">
                <a:solidFill>
                  <a:srgbClr val="000000"/>
                </a:solidFill>
                <a:latin typeface="Calibri"/>
              </a:rPr>
              <a:t>• The physics-informed variant (PIKAN) is an active research area, but published comparisons often vary the architecture and the training recipe at the same time.</a:t>
            </a:r>
          </a:p>
          <a:p>
            <a:pPr lvl="1">
              <a:spcAft>
                <a:spcPts val="500"/>
              </a:spcAft>
            </a:pPr>
            <a:r>
              <a:rPr sz="1350" b="0">
                <a:solidFill>
                  <a:srgbClr val="606060"/>
                </a:solidFill>
                <a:latin typeface="Calibri"/>
              </a:rPr>
              <a:t>– Different optimisers, different collocation counts, different constraint handling</a:t>
            </a:r>
          </a:p>
          <a:p>
            <a:pPr lvl="1">
              <a:spcAft>
                <a:spcPts val="500"/>
              </a:spcAft>
            </a:pPr>
            <a:r>
              <a:rPr sz="1350" b="0">
                <a:solidFill>
                  <a:srgbClr val="606060"/>
                </a:solidFill>
                <a:latin typeface="Calibri"/>
              </a:rPr>
              <a:t>– Often a single training run per configuration</a:t>
            </a:r>
          </a:p>
          <a:p>
            <a:pPr>
              <a:spcAft>
                <a:spcPts val="800"/>
              </a:spcAft>
            </a:pPr>
            <a:r>
              <a:rPr sz="1500" b="1">
                <a:solidFill>
                  <a:srgbClr val="000000"/>
                </a:solidFill>
                <a:latin typeface="Calibri"/>
              </a:rPr>
              <a:t>• Our standard: a comparison is only meaningful if everything except the network is held identical.</a:t>
            </a:r>
          </a:p>
          <a:p>
            <a:pPr>
              <a:spcAft>
                <a:spcPts val="800"/>
              </a:spcAft>
            </a:pPr>
            <a:r>
              <a:rPr sz="1500" b="0">
                <a:solidFill>
                  <a:srgbClr val="000000"/>
                </a:solidFill>
                <a:latin typeface="Calibri"/>
              </a:rPr>
              <a:t>• The test problem is the 1-D elastic wave equation, on three materials of increasing difficulty.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physical problem</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 wave travelling along an elastic rod</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500" b="0">
                <a:solidFill>
                  <a:srgbClr val="000000"/>
                </a:solidFill>
                <a:latin typeface="Calibri"/>
              </a:rPr>
              <a:t>• An elastic rod occupies x ∈ [-1, +1]. It is displaced at t = 0 and released. A wave travels outward in both directions.</a:t>
            </a:r>
          </a:p>
          <a:p>
            <a:pPr>
              <a:spcAft>
                <a:spcPts val="800"/>
              </a:spcAft>
            </a:pPr>
            <a:r>
              <a:rPr sz="1500" b="0">
                <a:solidFill>
                  <a:srgbClr val="000000"/>
                </a:solidFill>
                <a:latin typeface="Calibri"/>
              </a:rPr>
              <a:t>• We want u(x, t) — the displacement at every position and every moment.</a:t>
            </a:r>
          </a:p>
        </p:txBody>
      </p:sp>
      <p:graphicFrame>
        <p:nvGraphicFramePr>
          <p:cNvPr id="6" name="Table 5"/>
          <p:cNvGraphicFramePr>
            <a:graphicFrameLocks noGrp="1"/>
          </p:cNvGraphicFramePr>
          <p:nvPr/>
        </p:nvGraphicFramePr>
        <p:xfrm>
          <a:off x="502920" y="2606039"/>
          <a:ext cx="11155680" cy="2139696"/>
        </p:xfrm>
        <a:graphic>
          <a:graphicData uri="http://schemas.openxmlformats.org/drawingml/2006/table">
            <a:tbl>
              <a:tblPr firstRow="1">
                <a:tableStyleId>{5C22544A-7EE6-4342-B048-85BDC9FD1C3A}</a:tableStyleId>
              </a:tblPr>
              <a:tblGrid>
                <a:gridCol w="1188720"/>
                <a:gridCol w="1737360"/>
                <a:gridCol w="6309360"/>
                <a:gridCol w="1920240"/>
              </a:tblGrid>
              <a:tr h="237744">
                <a:tc>
                  <a:txBody>
                    <a:bodyPr wrap="square"/>
                    <a:lstStyle/>
                    <a:p>
                      <a:r>
                        <a:rPr sz="1100" b="1">
                          <a:solidFill>
                            <a:srgbClr val="000000"/>
                          </a:solidFill>
                          <a:latin typeface="Calibri"/>
                        </a:rPr>
                        <a:t>Symbol</a:t>
                      </a:r>
                    </a:p>
                  </a:txBody>
                  <a:tcPr marL="45720" marR="45720" marT="9144" marB="9144">
                    <a:solidFill>
                      <a:srgbClr val="FFFFFF"/>
                    </a:solidFill>
                  </a:tcPr>
                </a:tc>
                <a:tc>
                  <a:txBody>
                    <a:bodyPr wrap="square"/>
                    <a:lstStyle/>
                    <a:p>
                      <a:r>
                        <a:rPr sz="1100" b="1">
                          <a:solidFill>
                            <a:srgbClr val="000000"/>
                          </a:solidFill>
                          <a:latin typeface="Calibri"/>
                        </a:rPr>
                        <a:t>Name</a:t>
                      </a:r>
                    </a:p>
                  </a:txBody>
                  <a:tcPr marL="45720" marR="45720" marT="9144" marB="9144">
                    <a:solidFill>
                      <a:srgbClr val="FFFFFF"/>
                    </a:solidFill>
                  </a:tcPr>
                </a:tc>
                <a:tc>
                  <a:txBody>
                    <a:bodyPr wrap="square"/>
                    <a:lstStyle/>
                    <a:p>
                      <a:r>
                        <a:rPr sz="1100" b="1">
                          <a:solidFill>
                            <a:srgbClr val="000000"/>
                          </a:solidFill>
                          <a:latin typeface="Calibri"/>
                        </a:rPr>
                        <a:t>Meaning</a:t>
                      </a:r>
                    </a:p>
                  </a:txBody>
                  <a:tcPr marL="45720" marR="45720" marT="9144" marB="9144">
                    <a:solidFill>
                      <a:srgbClr val="FFFFFF"/>
                    </a:solidFill>
                  </a:tcPr>
                </a:tc>
                <a:tc>
                  <a:txBody>
                    <a:bodyPr wrap="square"/>
                    <a:lstStyle/>
                    <a:p>
                      <a:r>
                        <a:rPr sz="1100" b="1">
                          <a:solidFill>
                            <a:srgbClr val="000000"/>
                          </a:solidFill>
                          <a:latin typeface="Calibri"/>
                        </a:rPr>
                        <a:t>Range</a:t>
                      </a:r>
                    </a:p>
                  </a:txBody>
                  <a:tcPr marL="45720" marR="45720" marT="9144" marB="9144">
                    <a:solidFill>
                      <a:srgbClr val="FFFFFF"/>
                    </a:solidFill>
                  </a:tcPr>
                </a:tc>
              </a:tr>
              <a:tr h="237744">
                <a:tc>
                  <a:txBody>
                    <a:bodyPr wrap="square"/>
                    <a:lstStyle/>
                    <a:p>
                      <a:r>
                        <a:rPr sz="1100" b="0">
                          <a:solidFill>
                            <a:srgbClr val="000000"/>
                          </a:solidFill>
                          <a:latin typeface="Calibri"/>
                        </a:rPr>
                        <a:t>x</a:t>
                      </a:r>
                    </a:p>
                  </a:txBody>
                  <a:tcPr marL="45720" marR="45720" marT="9144" marB="9144">
                    <a:solidFill>
                      <a:srgbClr val="FFFFFF"/>
                    </a:solidFill>
                  </a:tcPr>
                </a:tc>
                <a:tc>
                  <a:txBody>
                    <a:bodyPr wrap="square"/>
                    <a:lstStyle/>
                    <a:p>
                      <a:r>
                        <a:rPr sz="1100" b="0">
                          <a:solidFill>
                            <a:srgbClr val="000000"/>
                          </a:solidFill>
                          <a:latin typeface="Calibri"/>
                        </a:rPr>
                        <a:t>position</a:t>
                      </a:r>
                    </a:p>
                  </a:txBody>
                  <a:tcPr marL="45720" marR="45720" marT="9144" marB="9144">
                    <a:solidFill>
                      <a:srgbClr val="FFFFFF"/>
                    </a:solidFill>
                  </a:tcPr>
                </a:tc>
                <a:tc>
                  <a:txBody>
                    <a:bodyPr wrap="square"/>
                    <a:lstStyle/>
                    <a:p>
                      <a:r>
                        <a:rPr sz="1100" b="0">
                          <a:solidFill>
                            <a:srgbClr val="000000"/>
                          </a:solidFill>
                          <a:latin typeface="Calibri"/>
                        </a:rPr>
                        <a:t>where along the rod (non-dimensional)</a:t>
                      </a:r>
                    </a:p>
                  </a:txBody>
                  <a:tcPr marL="45720" marR="45720" marT="9144" marB="9144">
                    <a:solidFill>
                      <a:srgbClr val="FFFFFF"/>
                    </a:solidFill>
                  </a:tcPr>
                </a:tc>
                <a:tc>
                  <a:txBody>
                    <a:bodyPr wrap="square"/>
                    <a:lstStyle/>
                    <a:p>
                      <a:r>
                        <a:rPr sz="1100" b="0">
                          <a:solidFill>
                            <a:srgbClr val="000000"/>
                          </a:solidFill>
                          <a:latin typeface="Calibri"/>
                        </a:rPr>
                        <a:t>-1 to +1</a:t>
                      </a:r>
                    </a:p>
                  </a:txBody>
                  <a:tcPr marL="45720" marR="45720" marT="9144" marB="9144">
                    <a:solidFill>
                      <a:srgbClr val="FFFFFF"/>
                    </a:solidFill>
                  </a:tcPr>
                </a:tc>
              </a:tr>
              <a:tr h="237744">
                <a:tc>
                  <a:txBody>
                    <a:bodyPr wrap="square"/>
                    <a:lstStyle/>
                    <a:p>
                      <a:r>
                        <a:rPr sz="1100" b="0">
                          <a:solidFill>
                            <a:srgbClr val="000000"/>
                          </a:solidFill>
                          <a:latin typeface="Calibri"/>
                        </a:rPr>
                        <a:t>t</a:t>
                      </a:r>
                    </a:p>
                  </a:txBody>
                  <a:tcPr marL="45720" marR="45720" marT="9144" marB="9144">
                    <a:solidFill>
                      <a:srgbClr val="FFFFFF"/>
                    </a:solidFill>
                  </a:tcPr>
                </a:tc>
                <a:tc>
                  <a:txBody>
                    <a:bodyPr wrap="square"/>
                    <a:lstStyle/>
                    <a:p>
                      <a:r>
                        <a:rPr sz="1100" b="0">
                          <a:solidFill>
                            <a:srgbClr val="000000"/>
                          </a:solidFill>
                          <a:latin typeface="Calibri"/>
                        </a:rPr>
                        <a:t>time</a:t>
                      </a:r>
                    </a:p>
                  </a:txBody>
                  <a:tcPr marL="45720" marR="45720" marT="9144" marB="9144">
                    <a:solidFill>
                      <a:srgbClr val="FFFFFF"/>
                    </a:solidFill>
                  </a:tcPr>
                </a:tc>
                <a:tc>
                  <a:txBody>
                    <a:bodyPr wrap="square"/>
                    <a:lstStyle/>
                    <a:p>
                      <a:r>
                        <a:rPr sz="1100" b="0">
                          <a:solidFill>
                            <a:srgbClr val="000000"/>
                          </a:solidFill>
                          <a:latin typeface="Calibri"/>
                        </a:rPr>
                        <a:t>how long since release</a:t>
                      </a:r>
                    </a:p>
                  </a:txBody>
                  <a:tcPr marL="45720" marR="45720" marT="9144" marB="9144">
                    <a:solidFill>
                      <a:srgbClr val="FFFFFF"/>
                    </a:solidFill>
                  </a:tcPr>
                </a:tc>
                <a:tc>
                  <a:txBody>
                    <a:bodyPr wrap="square"/>
                    <a:lstStyle/>
                    <a:p>
                      <a:r>
                        <a:rPr sz="1100" b="0">
                          <a:solidFill>
                            <a:srgbClr val="000000"/>
                          </a:solidFill>
                          <a:latin typeface="Calibri"/>
                        </a:rPr>
                        <a:t>0 to 1</a:t>
                      </a:r>
                    </a:p>
                  </a:txBody>
                  <a:tcPr marL="45720" marR="45720" marT="9144" marB="9144">
                    <a:solidFill>
                      <a:srgbClr val="FFFFFF"/>
                    </a:solidFill>
                  </a:tcPr>
                </a:tc>
              </a:tr>
              <a:tr h="237744">
                <a:tc>
                  <a:txBody>
                    <a:bodyPr wrap="square"/>
                    <a:lstStyle/>
                    <a:p>
                      <a:r>
                        <a:rPr sz="1100" b="0">
                          <a:solidFill>
                            <a:srgbClr val="000000"/>
                          </a:solidFill>
                          <a:latin typeface="Calibri"/>
                        </a:rPr>
                        <a:t>u(x,t)</a:t>
                      </a:r>
                    </a:p>
                  </a:txBody>
                  <a:tcPr marL="45720" marR="45720" marT="9144" marB="9144">
                    <a:solidFill>
                      <a:srgbClr val="FFFFFF"/>
                    </a:solidFill>
                  </a:tcPr>
                </a:tc>
                <a:tc>
                  <a:txBody>
                    <a:bodyPr wrap="square"/>
                    <a:lstStyle/>
                    <a:p>
                      <a:r>
                        <a:rPr sz="1100" b="0">
                          <a:solidFill>
                            <a:srgbClr val="000000"/>
                          </a:solidFill>
                          <a:latin typeface="Calibri"/>
                        </a:rPr>
                        <a:t>displacement</a:t>
                      </a:r>
                    </a:p>
                  </a:txBody>
                  <a:tcPr marL="45720" marR="45720" marT="9144" marB="9144">
                    <a:solidFill>
                      <a:srgbClr val="FFFFFF"/>
                    </a:solidFill>
                  </a:tcPr>
                </a:tc>
                <a:tc>
                  <a:txBody>
                    <a:bodyPr wrap="square"/>
                    <a:lstStyle/>
                    <a:p>
                      <a:r>
                        <a:rPr sz="1100" b="0">
                          <a:solidFill>
                            <a:srgbClr val="000000"/>
                          </a:solidFill>
                          <a:latin typeface="Calibri"/>
                        </a:rPr>
                        <a:t>how far the rod is displaced there and then</a:t>
                      </a:r>
                    </a:p>
                  </a:txBody>
                  <a:tcPr marL="45720" marR="45720" marT="9144" marB="9144">
                    <a:solidFill>
                      <a:srgbClr val="FFFFFF"/>
                    </a:solidFill>
                  </a:tcPr>
                </a:tc>
                <a:tc>
                  <a:txBody>
                    <a:bodyPr wrap="square"/>
                    <a:lstStyle/>
                    <a:p>
                      <a:r>
                        <a:rPr sz="1100" b="0">
                          <a:solidFill>
                            <a:srgbClr val="000000"/>
                          </a:solidFill>
                          <a:latin typeface="Calibri"/>
                        </a:rPr>
                        <a:t>about -1 to +1</a:t>
                      </a:r>
                    </a:p>
                  </a:txBody>
                  <a:tcPr marL="45720" marR="45720" marT="9144" marB="9144">
                    <a:solidFill>
                      <a:srgbClr val="FFFFFF"/>
                    </a:solidFill>
                  </a:tcPr>
                </a:tc>
              </a:tr>
              <a:tr h="237744">
                <a:tc>
                  <a:txBody>
                    <a:bodyPr wrap="square"/>
                    <a:lstStyle/>
                    <a:p>
                      <a:r>
                        <a:rPr sz="1100" b="0">
                          <a:solidFill>
                            <a:srgbClr val="000000"/>
                          </a:solidFill>
                          <a:latin typeface="Calibri"/>
                        </a:rPr>
                        <a:t>u_t</a:t>
                      </a:r>
                    </a:p>
                  </a:txBody>
                  <a:tcPr marL="45720" marR="45720" marT="9144" marB="9144">
                    <a:solidFill>
                      <a:srgbClr val="FFFFFF"/>
                    </a:solidFill>
                  </a:tcPr>
                </a:tc>
                <a:tc>
                  <a:txBody>
                    <a:bodyPr wrap="square"/>
                    <a:lstStyle/>
                    <a:p>
                      <a:r>
                        <a:rPr sz="1100" b="0">
                          <a:solidFill>
                            <a:srgbClr val="000000"/>
                          </a:solidFill>
                          <a:latin typeface="Calibri"/>
                        </a:rPr>
                        <a:t>velocity</a:t>
                      </a:r>
                    </a:p>
                  </a:txBody>
                  <a:tcPr marL="45720" marR="45720" marT="9144" marB="9144">
                    <a:solidFill>
                      <a:srgbClr val="FFFFFF"/>
                    </a:solidFill>
                  </a:tcPr>
                </a:tc>
                <a:tc>
                  <a:txBody>
                    <a:bodyPr wrap="square"/>
                    <a:lstStyle/>
                    <a:p>
                      <a:r>
                        <a:rPr sz="1100" b="0">
                          <a:solidFill>
                            <a:srgbClr val="000000"/>
                          </a:solidFill>
                          <a:latin typeface="Calibri"/>
                        </a:rPr>
                        <a:t>rate of change of displacement</a:t>
                      </a:r>
                    </a:p>
                  </a:txBody>
                  <a:tcPr marL="45720" marR="45720" marT="9144" marB="9144">
                    <a:solidFill>
                      <a:srgbClr val="FFFFFF"/>
                    </a:solidFill>
                  </a:tcPr>
                </a:tc>
                <a:tc>
                  <a:txBody>
                    <a:bodyPr wrap="square"/>
                    <a:lstStyle/>
                    <a:p>
                      <a:r>
                        <a:rPr sz="1100" b="0">
                          <a:solidFill>
                            <a:srgbClr val="000000"/>
                          </a:solidFill>
                          <a:latin typeface="Calibri"/>
                        </a:rPr>
                        <a:t>—</a:t>
                      </a:r>
                    </a:p>
                  </a:txBody>
                  <a:tcPr marL="45720" marR="45720" marT="9144" marB="9144">
                    <a:solidFill>
                      <a:srgbClr val="FFFFFF"/>
                    </a:solidFill>
                  </a:tcPr>
                </a:tc>
              </a:tr>
              <a:tr h="237744">
                <a:tc>
                  <a:txBody>
                    <a:bodyPr wrap="square"/>
                    <a:lstStyle/>
                    <a:p>
                      <a:r>
                        <a:rPr sz="1100" b="0">
                          <a:solidFill>
                            <a:srgbClr val="000000"/>
                          </a:solidFill>
                          <a:latin typeface="Calibri"/>
                        </a:rPr>
                        <a:t>u_tt</a:t>
                      </a:r>
                    </a:p>
                  </a:txBody>
                  <a:tcPr marL="45720" marR="45720" marT="9144" marB="9144">
                    <a:solidFill>
                      <a:srgbClr val="FFFFFF"/>
                    </a:solidFill>
                  </a:tcPr>
                </a:tc>
                <a:tc>
                  <a:txBody>
                    <a:bodyPr wrap="square"/>
                    <a:lstStyle/>
                    <a:p>
                      <a:r>
                        <a:rPr sz="1100" b="0">
                          <a:solidFill>
                            <a:srgbClr val="000000"/>
                          </a:solidFill>
                          <a:latin typeface="Calibri"/>
                        </a:rPr>
                        <a:t>acceleration</a:t>
                      </a:r>
                    </a:p>
                  </a:txBody>
                  <a:tcPr marL="45720" marR="45720" marT="9144" marB="9144">
                    <a:solidFill>
                      <a:srgbClr val="FFFFFF"/>
                    </a:solidFill>
                  </a:tcPr>
                </a:tc>
                <a:tc>
                  <a:txBody>
                    <a:bodyPr wrap="square"/>
                    <a:lstStyle/>
                    <a:p>
                      <a:r>
                        <a:rPr sz="1100" b="0">
                          <a:solidFill>
                            <a:srgbClr val="000000"/>
                          </a:solidFill>
                          <a:latin typeface="Calibri"/>
                        </a:rPr>
                        <a:t>rate of change of velocity</a:t>
                      </a:r>
                    </a:p>
                  </a:txBody>
                  <a:tcPr marL="45720" marR="45720" marT="9144" marB="9144">
                    <a:solidFill>
                      <a:srgbClr val="FFFFFF"/>
                    </a:solidFill>
                  </a:tcPr>
                </a:tc>
                <a:tc>
                  <a:txBody>
                    <a:bodyPr wrap="square"/>
                    <a:lstStyle/>
                    <a:p>
                      <a:r>
                        <a:rPr sz="1100" b="0">
                          <a:solidFill>
                            <a:srgbClr val="000000"/>
                          </a:solidFill>
                          <a:latin typeface="Calibri"/>
                        </a:rPr>
                        <a:t>—</a:t>
                      </a:r>
                    </a:p>
                  </a:txBody>
                  <a:tcPr marL="45720" marR="45720" marT="9144" marB="9144">
                    <a:solidFill>
                      <a:srgbClr val="FFFFFF"/>
                    </a:solidFill>
                  </a:tcPr>
                </a:tc>
              </a:tr>
              <a:tr h="237744">
                <a:tc>
                  <a:txBody>
                    <a:bodyPr wrap="square"/>
                    <a:lstStyle/>
                    <a:p>
                      <a:r>
                        <a:rPr sz="1100" b="0">
                          <a:solidFill>
                            <a:srgbClr val="000000"/>
                          </a:solidFill>
                          <a:latin typeface="Calibri"/>
                        </a:rPr>
                        <a:t>u_x</a:t>
                      </a:r>
                    </a:p>
                  </a:txBody>
                  <a:tcPr marL="45720" marR="45720" marT="9144" marB="9144">
                    <a:solidFill>
                      <a:srgbClr val="FFFFFF"/>
                    </a:solidFill>
                  </a:tcPr>
                </a:tc>
                <a:tc>
                  <a:txBody>
                    <a:bodyPr wrap="square"/>
                    <a:lstStyle/>
                    <a:p>
                      <a:r>
                        <a:rPr sz="1100" b="0">
                          <a:solidFill>
                            <a:srgbClr val="000000"/>
                          </a:solidFill>
                          <a:latin typeface="Calibri"/>
                        </a:rPr>
                        <a:t>strain</a:t>
                      </a:r>
                    </a:p>
                  </a:txBody>
                  <a:tcPr marL="45720" marR="45720" marT="9144" marB="9144">
                    <a:solidFill>
                      <a:srgbClr val="FFFFFF"/>
                    </a:solidFill>
                  </a:tcPr>
                </a:tc>
                <a:tc>
                  <a:txBody>
                    <a:bodyPr wrap="square"/>
                    <a:lstStyle/>
                    <a:p>
                      <a:r>
                        <a:rPr sz="1100" b="0">
                          <a:solidFill>
                            <a:srgbClr val="000000"/>
                          </a:solidFill>
                          <a:latin typeface="Calibri"/>
                        </a:rPr>
                        <a:t>local stretch of the rod</a:t>
                      </a:r>
                    </a:p>
                  </a:txBody>
                  <a:tcPr marL="45720" marR="45720" marT="9144" marB="9144">
                    <a:solidFill>
                      <a:srgbClr val="FFFFFF"/>
                    </a:solidFill>
                  </a:tcPr>
                </a:tc>
                <a:tc>
                  <a:txBody>
                    <a:bodyPr wrap="square"/>
                    <a:lstStyle/>
                    <a:p>
                      <a:r>
                        <a:rPr sz="1100" b="0">
                          <a:solidFill>
                            <a:srgbClr val="000000"/>
                          </a:solidFill>
                          <a:latin typeface="Calibri"/>
                        </a:rPr>
                        <a:t>—</a:t>
                      </a:r>
                    </a:p>
                  </a:txBody>
                  <a:tcPr marL="45720" marR="45720" marT="9144" marB="9144">
                    <a:solidFill>
                      <a:srgbClr val="FFFFFF"/>
                    </a:solidFill>
                  </a:tcPr>
                </a:tc>
              </a:tr>
              <a:tr h="237744">
                <a:tc>
                  <a:txBody>
                    <a:bodyPr wrap="square"/>
                    <a:lstStyle/>
                    <a:p>
                      <a:r>
                        <a:rPr sz="1100" b="0">
                          <a:solidFill>
                            <a:srgbClr val="000000"/>
                          </a:solidFill>
                          <a:latin typeface="Calibri"/>
                        </a:rPr>
                        <a:t>E(x)</a:t>
                      </a:r>
                    </a:p>
                  </a:txBody>
                  <a:tcPr marL="45720" marR="45720" marT="9144" marB="9144">
                    <a:solidFill>
                      <a:srgbClr val="FFFFFF"/>
                    </a:solidFill>
                  </a:tcPr>
                </a:tc>
                <a:tc>
                  <a:txBody>
                    <a:bodyPr wrap="square"/>
                    <a:lstStyle/>
                    <a:p>
                      <a:r>
                        <a:rPr sz="1100" b="0">
                          <a:solidFill>
                            <a:srgbClr val="000000"/>
                          </a:solidFill>
                          <a:latin typeface="Calibri"/>
                        </a:rPr>
                        <a:t>stiffness</a:t>
                      </a:r>
                    </a:p>
                  </a:txBody>
                  <a:tcPr marL="45720" marR="45720" marT="9144" marB="9144">
                    <a:solidFill>
                      <a:srgbClr val="FFFFFF"/>
                    </a:solidFill>
                  </a:tcPr>
                </a:tc>
                <a:tc>
                  <a:txBody>
                    <a:bodyPr wrap="square"/>
                    <a:lstStyle/>
                    <a:p>
                      <a:r>
                        <a:rPr sz="1100" b="0">
                          <a:solidFill>
                            <a:srgbClr val="000000"/>
                          </a:solidFill>
                          <a:latin typeface="Calibri"/>
                        </a:rPr>
                        <a:t>harder material = faster waves</a:t>
                      </a:r>
                    </a:p>
                  </a:txBody>
                  <a:tcPr marL="45720" marR="45720" marT="9144" marB="9144">
                    <a:solidFill>
                      <a:srgbClr val="FFFFFF"/>
                    </a:solidFill>
                  </a:tcPr>
                </a:tc>
                <a:tc>
                  <a:txBody>
                    <a:bodyPr wrap="square"/>
                    <a:lstStyle/>
                    <a:p>
                      <a:r>
                        <a:rPr sz="1100" b="0">
                          <a:solidFill>
                            <a:srgbClr val="000000"/>
                          </a:solidFill>
                          <a:latin typeface="Calibri"/>
                        </a:rPr>
                        <a:t>1.0 to 2.5</a:t>
                      </a:r>
                    </a:p>
                  </a:txBody>
                  <a:tcPr marL="45720" marR="45720" marT="9144" marB="9144">
                    <a:solidFill>
                      <a:srgbClr val="FFFFFF"/>
                    </a:solidFill>
                  </a:tcPr>
                </a:tc>
              </a:tr>
              <a:tr h="237744">
                <a:tc>
                  <a:txBody>
                    <a:bodyPr wrap="square"/>
                    <a:lstStyle/>
                    <a:p>
                      <a:r>
                        <a:rPr sz="1100" b="0">
                          <a:solidFill>
                            <a:srgbClr val="000000"/>
                          </a:solidFill>
                          <a:latin typeface="Calibri"/>
                        </a:rPr>
                        <a:t>rho(x)</a:t>
                      </a:r>
                    </a:p>
                  </a:txBody>
                  <a:tcPr marL="45720" marR="45720" marT="9144" marB="9144">
                    <a:solidFill>
                      <a:srgbClr val="FFFFFF"/>
                    </a:solidFill>
                  </a:tcPr>
                </a:tc>
                <a:tc>
                  <a:txBody>
                    <a:bodyPr wrap="square"/>
                    <a:lstStyle/>
                    <a:p>
                      <a:r>
                        <a:rPr sz="1100" b="0">
                          <a:solidFill>
                            <a:srgbClr val="000000"/>
                          </a:solidFill>
                          <a:latin typeface="Calibri"/>
                        </a:rPr>
                        <a:t>density</a:t>
                      </a:r>
                    </a:p>
                  </a:txBody>
                  <a:tcPr marL="45720" marR="45720" marT="9144" marB="9144">
                    <a:solidFill>
                      <a:srgbClr val="FFFFFF"/>
                    </a:solidFill>
                  </a:tcPr>
                </a:tc>
                <a:tc>
                  <a:txBody>
                    <a:bodyPr wrap="square"/>
                    <a:lstStyle/>
                    <a:p>
                      <a:r>
                        <a:rPr sz="1100" b="0">
                          <a:solidFill>
                            <a:srgbClr val="000000"/>
                          </a:solidFill>
                          <a:latin typeface="Calibri"/>
                        </a:rPr>
                        <a:t>heavier material = slower waves</a:t>
                      </a:r>
                    </a:p>
                  </a:txBody>
                  <a:tcPr marL="45720" marR="45720" marT="9144" marB="9144">
                    <a:solidFill>
                      <a:srgbClr val="FFFFFF"/>
                    </a:solidFill>
                  </a:tcPr>
                </a:tc>
                <a:tc>
                  <a:txBody>
                    <a:bodyPr wrap="square"/>
                    <a:lstStyle/>
                    <a:p>
                      <a:r>
                        <a:rPr sz="1100" b="0">
                          <a:solidFill>
                            <a:srgbClr val="000000"/>
                          </a:solidFill>
                          <a:latin typeface="Calibri"/>
                        </a:rPr>
                        <a:t>1.0</a:t>
                      </a:r>
                    </a:p>
                  </a:txBody>
                  <a:tcPr marL="45720" marR="45720" marT="9144" marB="9144">
                    <a:solidFill>
                      <a:srgbClr val="FFFFFF"/>
                    </a:solidFill>
                  </a:tcPr>
                </a:tc>
              </a:tr>
            </a:tbl>
          </a:graphicData>
        </a:graphic>
      </p:graphicFrame>
      <p:sp>
        <p:nvSpPr>
          <p:cNvPr id="7" name="TextBox 6"/>
          <p:cNvSpPr txBox="1"/>
          <p:nvPr/>
        </p:nvSpPr>
        <p:spPr>
          <a:xfrm>
            <a:off x="502920" y="6263640"/>
            <a:ext cx="11155680" cy="411480"/>
          </a:xfrm>
          <a:prstGeom prst="rect">
            <a:avLst/>
          </a:prstGeom>
          <a:noFill/>
        </p:spPr>
        <p:txBody>
          <a:bodyPr wrap="square">
            <a:spAutoFit/>
          </a:bodyPr>
          <a:lstStyle/>
          <a:p>
            <a:r>
              <a:rPr sz="1050">
                <a:solidFill>
                  <a:srgbClr val="606060"/>
                </a:solidFill>
                <a:latin typeface="Calibri"/>
              </a:rPr>
              <a:t>Non-dimensional units (DECISIONS.md D1): wave speed is 1, so a wave crosses the domain in 2 time units.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equation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Newton's second law, written for every point of a continuum</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400" b="1">
                <a:solidFill>
                  <a:srgbClr val="000000"/>
                </a:solidFill>
                <a:latin typeface="Calibri"/>
              </a:rPr>
              <a:t>• rho(x) · u_tt  =  d/dx ( E(x) · u_x )</a:t>
            </a:r>
          </a:p>
          <a:p>
            <a:pPr>
              <a:spcAft>
                <a:spcPts val="800"/>
              </a:spcAft>
            </a:pPr>
            <a:r>
              <a:rPr sz="1400" b="0">
                <a:solidFill>
                  <a:srgbClr val="000000"/>
                </a:solidFill>
                <a:latin typeface="Calibri"/>
              </a:rPr>
              <a:t>• Left side: mass × acceleration.   Right side: the net internal force.</a:t>
            </a:r>
          </a:p>
          <a:p>
            <a:pPr>
              <a:spcAft>
                <a:spcPts val="800"/>
              </a:spcAft>
            </a:pPr>
            <a:r>
              <a:rPr sz="1400" b="0">
                <a:solidFill>
                  <a:srgbClr val="000000"/>
                </a:solidFill>
                <a:latin typeface="Calibri"/>
              </a:rPr>
              <a:t>• E(x)·u_x is the stress. If the stress is equal on both sides of a point, forces cancel and it does not accelerate. Only a CHANGE in stress along the rod produces motion — hence d/dx.</a:t>
            </a:r>
          </a:p>
          <a:p>
            <a:pPr>
              <a:spcAft>
                <a:spcPts val="800"/>
              </a:spcAft>
            </a:pPr>
            <a:r>
              <a:rPr sz="1400" b="1">
                <a:solidFill>
                  <a:srgbClr val="000000"/>
                </a:solidFill>
                <a:latin typeface="Calibri"/>
              </a:rPr>
              <a:t>• Why the conservative form, and not u_tt = c²·u_xx</a:t>
            </a:r>
          </a:p>
          <a:p>
            <a:pPr lvl="1">
              <a:spcAft>
                <a:spcPts val="500"/>
              </a:spcAft>
            </a:pPr>
            <a:r>
              <a:rPr sz="1250" b="0">
                <a:solidFill>
                  <a:srgbClr val="606060"/>
                </a:solidFill>
                <a:latin typeface="Calibri"/>
              </a:rPr>
              <a:t>– Expanding by the product rule:  d/dx(E·u_x) = E·u_xx + E'(x)·u_x</a:t>
            </a:r>
          </a:p>
          <a:p>
            <a:pPr lvl="1">
              <a:spcAft>
                <a:spcPts val="500"/>
              </a:spcAft>
            </a:pPr>
            <a:r>
              <a:rPr sz="1250" b="0">
                <a:solidFill>
                  <a:srgbClr val="606060"/>
                </a:solidFill>
                <a:latin typeface="Calibri"/>
              </a:rPr>
              <a:t>– The second term vanishes only when E is constant</a:t>
            </a:r>
          </a:p>
          <a:p>
            <a:pPr lvl="1">
              <a:spcAft>
                <a:spcPts val="500"/>
              </a:spcAft>
            </a:pPr>
            <a:r>
              <a:rPr sz="1250" b="0">
                <a:solidFill>
                  <a:srgbClr val="606060"/>
                </a:solidFill>
                <a:latin typeface="Calibri"/>
              </a:rPr>
              <a:t>– That term is exactly what makes waves reflect and transmit correctly at a material boundary</a:t>
            </a:r>
          </a:p>
          <a:p>
            <a:pPr lvl="1">
              <a:spcAft>
                <a:spcPts val="500"/>
              </a:spcAft>
            </a:pPr>
            <a:r>
              <a:rPr sz="1250" b="0">
                <a:solidFill>
                  <a:srgbClr val="606060"/>
                </a:solidFill>
                <a:latin typeface="Calibri"/>
              </a:rPr>
              <a:t>– The inherited repository dropped it — defect A1, slide 15</a:t>
            </a:r>
          </a:p>
          <a:p>
            <a:pPr lvl="1">
              <a:spcAft>
                <a:spcPts val="500"/>
              </a:spcAft>
            </a:pPr>
            <a:r>
              <a:rPr sz="1250" b="0">
                <a:solidFill>
                  <a:srgbClr val="606060"/>
                </a:solidFill>
                <a:latin typeface="Calibri"/>
              </a:rPr>
              <a:t>– Our test suite deletes it deliberately as a mutation, to prove the tests notice</a:t>
            </a:r>
          </a:p>
          <a:p>
            <a:pPr>
              <a:spcAft>
                <a:spcPts val="800"/>
              </a:spcAft>
            </a:pPr>
            <a:r>
              <a:rPr sz="1400" b="0">
                <a:solidFill>
                  <a:srgbClr val="000000"/>
                </a:solidFill>
                <a:latin typeface="Calibri"/>
              </a:rPr>
              <a:t>• Wave speed follows: c(x) = sqrt( E(x) / rho(x)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three materials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Same equation, three rods — only E(x) changes</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950976"/>
        </p:xfrm>
        <a:graphic>
          <a:graphicData uri="http://schemas.openxmlformats.org/drawingml/2006/table">
            <a:tbl>
              <a:tblPr firstRow="1">
                <a:tableStyleId>{5C22544A-7EE6-4342-B048-85BDC9FD1C3A}</a:tableStyleId>
              </a:tblPr>
              <a:tblGrid>
                <a:gridCol w="1554480"/>
                <a:gridCol w="3840480"/>
                <a:gridCol w="1828800"/>
                <a:gridCol w="1554480"/>
                <a:gridCol w="2468880"/>
              </a:tblGrid>
              <a:tr h="237744">
                <a:tc>
                  <a:txBody>
                    <a:bodyPr wrap="square"/>
                    <a:lstStyle/>
                    <a:p>
                      <a:r>
                        <a:rPr sz="1100" b="1">
                          <a:solidFill>
                            <a:srgbClr val="000000"/>
                          </a:solidFill>
                          <a:latin typeface="Calibri"/>
                        </a:rPr>
                        <a:t>Material</a:t>
                      </a:r>
                    </a:p>
                  </a:txBody>
                  <a:tcPr marL="45720" marR="45720" marT="9144" marB="9144">
                    <a:solidFill>
                      <a:srgbClr val="FFFFFF"/>
                    </a:solidFill>
                  </a:tcPr>
                </a:tc>
                <a:tc>
                  <a:txBody>
                    <a:bodyPr wrap="square"/>
                    <a:lstStyle/>
                    <a:p>
                      <a:r>
                        <a:rPr sz="1100" b="1">
                          <a:solidFill>
                            <a:srgbClr val="000000"/>
                          </a:solidFill>
                          <a:latin typeface="Calibri"/>
                        </a:rPr>
                        <a:t>E(x) at x = -1, -0.5, 0, +0.5, +1</a:t>
                      </a:r>
                    </a:p>
                  </a:txBody>
                  <a:tcPr marL="45720" marR="45720" marT="9144" marB="9144">
                    <a:solidFill>
                      <a:srgbClr val="FFFFFF"/>
                    </a:solidFill>
                  </a:tcPr>
                </a:tc>
                <a:tc>
                  <a:txBody>
                    <a:bodyPr wrap="square"/>
                    <a:lstStyle/>
                    <a:p>
                      <a:r>
                        <a:rPr sz="1100" b="1">
                          <a:solidFill>
                            <a:srgbClr val="000000"/>
                          </a:solidFill>
                          <a:latin typeface="Calibri"/>
                        </a:rPr>
                        <a:t>wave speed c(x)</a:t>
                      </a:r>
                    </a:p>
                  </a:txBody>
                  <a:tcPr marL="45720" marR="45720" marT="9144" marB="9144">
                    <a:solidFill>
                      <a:srgbClr val="FFFFFF"/>
                    </a:solidFill>
                  </a:tcPr>
                </a:tc>
                <a:tc>
                  <a:txBody>
                    <a:bodyPr wrap="square"/>
                    <a:lstStyle/>
                    <a:p>
                      <a:r>
                        <a:rPr sz="1100" b="1">
                          <a:solidFill>
                            <a:srgbClr val="000000"/>
                          </a:solidFill>
                          <a:latin typeface="Calibri"/>
                        </a:rPr>
                        <a:t>transition width w</a:t>
                      </a:r>
                    </a:p>
                  </a:txBody>
                  <a:tcPr marL="45720" marR="45720" marT="9144" marB="9144">
                    <a:solidFill>
                      <a:srgbClr val="FFFFFF"/>
                    </a:solidFill>
                  </a:tcPr>
                </a:tc>
                <a:tc>
                  <a:txBody>
                    <a:bodyPr wrap="square"/>
                    <a:lstStyle/>
                    <a:p>
                      <a:r>
                        <a:rPr sz="1100" b="1">
                          <a:solidFill>
                            <a:srgbClr val="000000"/>
                          </a:solidFill>
                          <a:latin typeface="Calibri"/>
                        </a:rPr>
                        <a:t>character</a:t>
                      </a:r>
                    </a:p>
                  </a:txBody>
                  <a:tcPr marL="45720" marR="45720" marT="9144" marB="9144">
                    <a:solidFill>
                      <a:srgbClr val="FFFFFF"/>
                    </a:solidFill>
                  </a:tcPr>
                </a:tc>
              </a:tr>
              <a:tr h="237744">
                <a:tc>
                  <a:txBody>
                    <a:bodyPr wrap="square"/>
                    <a:lstStyle/>
                    <a:p>
                      <a:r>
                        <a:rPr sz="1100" b="0">
                          <a:solidFill>
                            <a:srgbClr val="000000"/>
                          </a:solidFill>
                          <a:latin typeface="Calibri"/>
                        </a:rPr>
                        <a:t>homogeneous</a:t>
                      </a:r>
                    </a:p>
                  </a:txBody>
                  <a:tcPr marL="45720" marR="45720" marT="9144" marB="9144">
                    <a:solidFill>
                      <a:srgbClr val="FFFFFF"/>
                    </a:solidFill>
                  </a:tcPr>
                </a:tc>
                <a:tc>
                  <a:txBody>
                    <a:bodyPr wrap="square"/>
                    <a:lstStyle/>
                    <a:p>
                      <a:r>
                        <a:rPr sz="1100" b="0">
                          <a:solidFill>
                            <a:srgbClr val="000000"/>
                          </a:solidFill>
                          <a:latin typeface="Calibri"/>
                        </a:rPr>
                        <a:t>1.0, 1.0, 1.0, 1.0, 1.0</a:t>
                      </a:r>
                    </a:p>
                  </a:txBody>
                  <a:tcPr marL="45720" marR="45720" marT="9144" marB="9144">
                    <a:solidFill>
                      <a:srgbClr val="FFFFFF"/>
                    </a:solidFill>
                  </a:tcPr>
                </a:tc>
                <a:tc>
                  <a:txBody>
                    <a:bodyPr wrap="square"/>
                    <a:lstStyle/>
                    <a:p>
                      <a:r>
                        <a:rPr sz="1100" b="0">
                          <a:solidFill>
                            <a:srgbClr val="000000"/>
                          </a:solidFill>
                          <a:latin typeface="Calibri"/>
                        </a:rPr>
                        <a:t>1.0 everywhere</a:t>
                      </a:r>
                    </a:p>
                  </a:txBody>
                  <a:tcPr marL="45720" marR="45720" marT="9144" marB="9144">
                    <a:solidFill>
                      <a:srgbClr val="FFFFFF"/>
                    </a:solidFill>
                  </a:tcPr>
                </a:tc>
                <a:tc>
                  <a:txBody>
                    <a:bodyPr wrap="square"/>
                    <a:lstStyle/>
                    <a:p>
                      <a:r>
                        <a:rPr sz="1100" b="0">
                          <a:solidFill>
                            <a:srgbClr val="000000"/>
                          </a:solidFill>
                          <a:latin typeface="Calibri"/>
                        </a:rPr>
                        <a:t>—</a:t>
                      </a:r>
                    </a:p>
                  </a:txBody>
                  <a:tcPr marL="45720" marR="45720" marT="9144" marB="9144">
                    <a:solidFill>
                      <a:srgbClr val="FFFFFF"/>
                    </a:solidFill>
                  </a:tcPr>
                </a:tc>
                <a:tc>
                  <a:txBody>
                    <a:bodyPr wrap="square"/>
                    <a:lstStyle/>
                    <a:p>
                      <a:r>
                        <a:rPr sz="1100" b="0">
                          <a:solidFill>
                            <a:srgbClr val="000000"/>
                          </a:solidFill>
                          <a:latin typeface="Calibri"/>
                        </a:rPr>
                        <a:t>uniform rod; exact solution known</a:t>
                      </a:r>
                    </a:p>
                  </a:txBody>
                  <a:tcPr marL="45720" marR="45720" marT="9144" marB="9144">
                    <a:solidFill>
                      <a:srgbClr val="FFFFFF"/>
                    </a:solidFill>
                  </a:tcPr>
                </a:tc>
              </a:tr>
              <a:tr h="237744">
                <a:tc>
                  <a:txBody>
                    <a:bodyPr wrap="square"/>
                    <a:lstStyle/>
                    <a:p>
                      <a:r>
                        <a:rPr sz="1100" b="0">
                          <a:solidFill>
                            <a:srgbClr val="000000"/>
                          </a:solidFill>
                          <a:latin typeface="Calibri"/>
                        </a:rPr>
                        <a:t>twolayer</a:t>
                      </a:r>
                    </a:p>
                  </a:txBody>
                  <a:tcPr marL="45720" marR="45720" marT="9144" marB="9144">
                    <a:solidFill>
                      <a:srgbClr val="FFFFFF"/>
                    </a:solidFill>
                  </a:tcPr>
                </a:tc>
                <a:tc>
                  <a:txBody>
                    <a:bodyPr wrap="square"/>
                    <a:lstStyle/>
                    <a:p>
                      <a:r>
                        <a:rPr sz="1100" b="0">
                          <a:solidFill>
                            <a:srgbClr val="000000"/>
                          </a:solidFill>
                          <a:latin typeface="Calibri"/>
                        </a:rPr>
                        <a:t>1.0, 1.0, 1.25, 1.5, 1.5</a:t>
                      </a:r>
                    </a:p>
                  </a:txBody>
                  <a:tcPr marL="45720" marR="45720" marT="9144" marB="9144">
                    <a:solidFill>
                      <a:srgbClr val="FFFFFF"/>
                    </a:solidFill>
                  </a:tcPr>
                </a:tc>
                <a:tc>
                  <a:txBody>
                    <a:bodyPr wrap="square"/>
                    <a:lstStyle/>
                    <a:p>
                      <a:r>
                        <a:rPr sz="1100" b="0">
                          <a:solidFill>
                            <a:srgbClr val="000000"/>
                          </a:solidFill>
                          <a:latin typeface="Calibri"/>
                        </a:rPr>
                        <a:t>1.0 → 1.225</a:t>
                      </a:r>
                    </a:p>
                  </a:txBody>
                  <a:tcPr marL="45720" marR="45720" marT="9144" marB="9144">
                    <a:solidFill>
                      <a:srgbClr val="FFFFFF"/>
                    </a:solidFill>
                  </a:tcPr>
                </a:tc>
                <a:tc>
                  <a:txBody>
                    <a:bodyPr wrap="square"/>
                    <a:lstStyle/>
                    <a:p>
                      <a:r>
                        <a:rPr sz="1100" b="0">
                          <a:solidFill>
                            <a:srgbClr val="000000"/>
                          </a:solidFill>
                          <a:latin typeface="Calibri"/>
                        </a:rPr>
                        <a:t>0.02</a:t>
                      </a:r>
                    </a:p>
                  </a:txBody>
                  <a:tcPr marL="45720" marR="45720" marT="9144" marB="9144">
                    <a:solidFill>
                      <a:srgbClr val="FFFFFF"/>
                    </a:solidFill>
                  </a:tcPr>
                </a:tc>
                <a:tc>
                  <a:txBody>
                    <a:bodyPr wrap="square"/>
                    <a:lstStyle/>
                    <a:p>
                      <a:r>
                        <a:rPr sz="1100" b="0">
                          <a:solidFill>
                            <a:srgbClr val="000000"/>
                          </a:solidFill>
                          <a:latin typeface="Calibri"/>
                        </a:rPr>
                        <a:t>ONE sharp interface</a:t>
                      </a:r>
                    </a:p>
                  </a:txBody>
                  <a:tcPr marL="45720" marR="45720" marT="9144" marB="9144">
                    <a:solidFill>
                      <a:srgbClr val="FFFFFF"/>
                    </a:solidFill>
                  </a:tcPr>
                </a:tc>
              </a:tr>
              <a:tr h="237744">
                <a:tc>
                  <a:txBody>
                    <a:bodyPr wrap="square"/>
                    <a:lstStyle/>
                    <a:p>
                      <a:r>
                        <a:rPr sz="1100" b="0">
                          <a:solidFill>
                            <a:srgbClr val="000000"/>
                          </a:solidFill>
                          <a:latin typeface="Calibri"/>
                        </a:rPr>
                        <a:t>multilayer</a:t>
                      </a:r>
                    </a:p>
                  </a:txBody>
                  <a:tcPr marL="45720" marR="45720" marT="9144" marB="9144">
                    <a:solidFill>
                      <a:srgbClr val="FFFFFF"/>
                    </a:solidFill>
                  </a:tcPr>
                </a:tc>
                <a:tc>
                  <a:txBody>
                    <a:bodyPr wrap="square"/>
                    <a:lstStyle/>
                    <a:p>
                      <a:r>
                        <a:rPr sz="1100" b="0">
                          <a:solidFill>
                            <a:srgbClr val="000000"/>
                          </a:solidFill>
                          <a:latin typeface="Calibri"/>
                        </a:rPr>
                        <a:t>1.0, 1.3, 1.75, 2.2, 2.5</a:t>
                      </a:r>
                    </a:p>
                  </a:txBody>
                  <a:tcPr marL="45720" marR="45720" marT="9144" marB="9144">
                    <a:solidFill>
                      <a:srgbClr val="FFFFFF"/>
                    </a:solidFill>
                  </a:tcPr>
                </a:tc>
                <a:tc>
                  <a:txBody>
                    <a:bodyPr wrap="square"/>
                    <a:lstStyle/>
                    <a:p>
                      <a:r>
                        <a:rPr sz="1100" b="0">
                          <a:solidFill>
                            <a:srgbClr val="000000"/>
                          </a:solidFill>
                          <a:latin typeface="Calibri"/>
                        </a:rPr>
                        <a:t>1.0 → 1.581</a:t>
                      </a:r>
                    </a:p>
                  </a:txBody>
                  <a:tcPr marL="45720" marR="45720" marT="9144" marB="9144">
                    <a:solidFill>
                      <a:srgbClr val="FFFFFF"/>
                    </a:solidFill>
                  </a:tcPr>
                </a:tc>
                <a:tc>
                  <a:txBody>
                    <a:bodyPr wrap="square"/>
                    <a:lstStyle/>
                    <a:p>
                      <a:r>
                        <a:rPr sz="1100" b="0">
                          <a:solidFill>
                            <a:srgbClr val="000000"/>
                          </a:solidFill>
                          <a:latin typeface="Calibri"/>
                        </a:rPr>
                        <a:t>0.05</a:t>
                      </a:r>
                    </a:p>
                  </a:txBody>
                  <a:tcPr marL="45720" marR="45720" marT="9144" marB="9144">
                    <a:solidFill>
                      <a:srgbClr val="FFFFFF"/>
                    </a:solidFill>
                  </a:tcPr>
                </a:tc>
                <a:tc>
                  <a:txBody>
                    <a:bodyPr wrap="square"/>
                    <a:lstStyle/>
                    <a:p>
                      <a:r>
                        <a:rPr sz="1100" b="0">
                          <a:solidFill>
                            <a:srgbClr val="000000"/>
                          </a:solidFill>
                          <a:latin typeface="Calibri"/>
                        </a:rPr>
                        <a:t>SIX gradual interfaces</a:t>
                      </a:r>
                    </a:p>
                  </a:txBody>
                  <a:tcPr marL="45720" marR="45720" marT="9144" marB="9144">
                    <a:solidFill>
                      <a:srgbClr val="FFFFFF"/>
                    </a:solidFill>
                  </a:tcPr>
                </a:tc>
              </a:tr>
            </a:tbl>
          </a:graphicData>
        </a:graphic>
      </p:graphicFrame>
      <p:sp>
        <p:nvSpPr>
          <p:cNvPr id="6" name="TextBox 5"/>
          <p:cNvSpPr txBox="1"/>
          <p:nvPr/>
        </p:nvSpPr>
        <p:spPr>
          <a:xfrm>
            <a:off x="502920" y="2926080"/>
            <a:ext cx="11247120" cy="3657600"/>
          </a:xfrm>
          <a:prstGeom prst="rect">
            <a:avLst/>
          </a:prstGeom>
          <a:noFill/>
        </p:spPr>
        <p:txBody>
          <a:bodyPr wrap="square">
            <a:spAutoFit/>
          </a:bodyPr>
          <a:lstStyle/>
          <a:p>
            <a:pPr>
              <a:spcAft>
                <a:spcPts val="800"/>
              </a:spcAft>
            </a:pPr>
            <a:r>
              <a:rPr sz="1400" b="1">
                <a:solidFill>
                  <a:srgbClr val="000000"/>
                </a:solidFill>
                <a:latin typeface="Calibri"/>
              </a:rPr>
              <a:t>• The central counter-intuitive fact of this study: twolayer (one interface) is ~20× harder than multilayer (six).</a:t>
            </a:r>
          </a:p>
          <a:p>
            <a:pPr lvl="1">
              <a:spcAft>
                <a:spcPts val="500"/>
              </a:spcAft>
            </a:pPr>
            <a:r>
              <a:rPr sz="1250" b="0">
                <a:solidFill>
                  <a:srgbClr val="606060"/>
                </a:solidFill>
                <a:latin typeface="Calibri"/>
              </a:rPr>
              <a:t>– twolayer's interface is 2.5× narrower, so its E'(x) is 4.2× larger</a:t>
            </a:r>
          </a:p>
          <a:p>
            <a:pPr lvl="1">
              <a:spcAft>
                <a:spcPts val="500"/>
              </a:spcAft>
            </a:pPr>
            <a:r>
              <a:rPr sz="1250" b="0">
                <a:solidFill>
                  <a:srgbClr val="606060"/>
                </a:solidFill>
                <a:latin typeface="Calibri"/>
              </a:rPr>
              <a:t>– Sharpness costs, not the number of interfaces</a:t>
            </a:r>
          </a:p>
          <a:p>
            <a:pPr lvl="1">
              <a:spcAft>
                <a:spcPts val="500"/>
              </a:spcAft>
            </a:pPr>
            <a:r>
              <a:rPr sz="1250" b="0">
                <a:solidFill>
                  <a:srgbClr val="606060"/>
                </a:solidFill>
                <a:latin typeface="Calibri"/>
              </a:rPr>
              <a:t>– We predicted the opposite early on and were wrong — see slide 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What we start with, and what physics does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initial condition and the exact solution</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400" b="0">
                <a:solidFill>
                  <a:srgbClr val="000000"/>
                </a:solidFill>
                <a:latin typeface="Calibri"/>
              </a:rPr>
              <a:t>• At t = 0 the rod is given a fixed shape g(x) — a derivative-of-Gaussian, peak-normalised to 1, width sigma_g = 0.1 — and released from rest, so u_t(x,0) = 0.</a:t>
            </a:r>
          </a:p>
        </p:txBody>
      </p:sp>
      <p:graphicFrame>
        <p:nvGraphicFramePr>
          <p:cNvPr id="6" name="Table 5"/>
          <p:cNvGraphicFramePr>
            <a:graphicFrameLocks noGrp="1"/>
          </p:cNvGraphicFramePr>
          <p:nvPr/>
        </p:nvGraphicFramePr>
        <p:xfrm>
          <a:off x="502920" y="2148840"/>
          <a:ext cx="10771632" cy="475488"/>
        </p:xfrm>
        <a:graphic>
          <a:graphicData uri="http://schemas.openxmlformats.org/drawingml/2006/table">
            <a:tbl>
              <a:tblPr firstRow="1">
                <a:tableStyleId>{5C22544A-7EE6-4342-B048-85BDC9FD1C3A}</a:tableStyleId>
              </a:tblPr>
              <a:tblGrid>
                <a:gridCol w="731520"/>
                <a:gridCol w="1115568"/>
                <a:gridCol w="1115568"/>
                <a:gridCol w="1115568"/>
                <a:gridCol w="1115568"/>
                <a:gridCol w="1115568"/>
                <a:gridCol w="1115568"/>
                <a:gridCol w="1115568"/>
                <a:gridCol w="1115568"/>
                <a:gridCol w="1115568"/>
              </a:tblGrid>
              <a:tr h="237744">
                <a:tc>
                  <a:txBody>
                    <a:bodyPr wrap="square"/>
                    <a:lstStyle/>
                    <a:p>
                      <a:r>
                        <a:rPr sz="1100" b="1">
                          <a:solidFill>
                            <a:srgbClr val="000000"/>
                          </a:solidFill>
                          <a:latin typeface="Calibri"/>
                        </a:rPr>
                        <a:t>x</a:t>
                      </a:r>
                    </a:p>
                  </a:txBody>
                  <a:tcPr marL="45720" marR="45720" marT="9144" marB="9144">
                    <a:solidFill>
                      <a:srgbClr val="FFFFFF"/>
                    </a:solidFill>
                  </a:tcPr>
                </a:tc>
                <a:tc>
                  <a:txBody>
                    <a:bodyPr wrap="square"/>
                    <a:lstStyle/>
                    <a:p>
                      <a:r>
                        <a:rPr sz="1100" b="1">
                          <a:solidFill>
                            <a:srgbClr val="000000"/>
                          </a:solidFill>
                          <a:latin typeface="Calibri"/>
                        </a:rPr>
                        <a:t>-0.30</a:t>
                      </a:r>
                    </a:p>
                  </a:txBody>
                  <a:tcPr marL="45720" marR="45720" marT="9144" marB="9144">
                    <a:solidFill>
                      <a:srgbClr val="FFFFFF"/>
                    </a:solidFill>
                  </a:tcPr>
                </a:tc>
                <a:tc>
                  <a:txBody>
                    <a:bodyPr wrap="square"/>
                    <a:lstStyle/>
                    <a:p>
                      <a:r>
                        <a:rPr sz="1100" b="1">
                          <a:solidFill>
                            <a:srgbClr val="000000"/>
                          </a:solidFill>
                          <a:latin typeface="Calibri"/>
                        </a:rPr>
                        <a:t>-0.20</a:t>
                      </a:r>
                    </a:p>
                  </a:txBody>
                  <a:tcPr marL="45720" marR="45720" marT="9144" marB="9144">
                    <a:solidFill>
                      <a:srgbClr val="FFFFFF"/>
                    </a:solidFill>
                  </a:tcPr>
                </a:tc>
                <a:tc>
                  <a:txBody>
                    <a:bodyPr wrap="square"/>
                    <a:lstStyle/>
                    <a:p>
                      <a:r>
                        <a:rPr sz="1100" b="1">
                          <a:solidFill>
                            <a:srgbClr val="000000"/>
                          </a:solidFill>
                          <a:latin typeface="Calibri"/>
                        </a:rPr>
                        <a:t>-0.10</a:t>
                      </a:r>
                    </a:p>
                  </a:txBody>
                  <a:tcPr marL="45720" marR="45720" marT="9144" marB="9144">
                    <a:solidFill>
                      <a:srgbClr val="FFFFFF"/>
                    </a:solidFill>
                  </a:tcPr>
                </a:tc>
                <a:tc>
                  <a:txBody>
                    <a:bodyPr wrap="square"/>
                    <a:lstStyle/>
                    <a:p>
                      <a:r>
                        <a:rPr sz="1100" b="1">
                          <a:solidFill>
                            <a:srgbClr val="000000"/>
                          </a:solidFill>
                          <a:latin typeface="Calibri"/>
                        </a:rPr>
                        <a:t>-0.05</a:t>
                      </a:r>
                    </a:p>
                  </a:txBody>
                  <a:tcPr marL="45720" marR="45720" marT="9144" marB="9144">
                    <a:solidFill>
                      <a:srgbClr val="FFFFFF"/>
                    </a:solidFill>
                  </a:tcPr>
                </a:tc>
                <a:tc>
                  <a:txBody>
                    <a:bodyPr wrap="square"/>
                    <a:lstStyle/>
                    <a:p>
                      <a:r>
                        <a:rPr sz="1100" b="1">
                          <a:solidFill>
                            <a:srgbClr val="000000"/>
                          </a:solidFill>
                          <a:latin typeface="Calibri"/>
                        </a:rPr>
                        <a:t>0.00</a:t>
                      </a:r>
                    </a:p>
                  </a:txBody>
                  <a:tcPr marL="45720" marR="45720" marT="9144" marB="9144">
                    <a:solidFill>
                      <a:srgbClr val="FFFFFF"/>
                    </a:solidFill>
                  </a:tcPr>
                </a:tc>
                <a:tc>
                  <a:txBody>
                    <a:bodyPr wrap="square"/>
                    <a:lstStyle/>
                    <a:p>
                      <a:r>
                        <a:rPr sz="1100" b="1">
                          <a:solidFill>
                            <a:srgbClr val="000000"/>
                          </a:solidFill>
                          <a:latin typeface="Calibri"/>
                        </a:rPr>
                        <a:t>+0.05</a:t>
                      </a:r>
                    </a:p>
                  </a:txBody>
                  <a:tcPr marL="45720" marR="45720" marT="9144" marB="9144">
                    <a:solidFill>
                      <a:srgbClr val="FFFFFF"/>
                    </a:solidFill>
                  </a:tcPr>
                </a:tc>
                <a:tc>
                  <a:txBody>
                    <a:bodyPr wrap="square"/>
                    <a:lstStyle/>
                    <a:p>
                      <a:r>
                        <a:rPr sz="1100" b="1">
                          <a:solidFill>
                            <a:srgbClr val="000000"/>
                          </a:solidFill>
                          <a:latin typeface="Calibri"/>
                        </a:rPr>
                        <a:t>+0.10</a:t>
                      </a:r>
                    </a:p>
                  </a:txBody>
                  <a:tcPr marL="45720" marR="45720" marT="9144" marB="9144">
                    <a:solidFill>
                      <a:srgbClr val="FFFFFF"/>
                    </a:solidFill>
                  </a:tcPr>
                </a:tc>
                <a:tc>
                  <a:txBody>
                    <a:bodyPr wrap="square"/>
                    <a:lstStyle/>
                    <a:p>
                      <a:r>
                        <a:rPr sz="1100" b="1">
                          <a:solidFill>
                            <a:srgbClr val="000000"/>
                          </a:solidFill>
                          <a:latin typeface="Calibri"/>
                        </a:rPr>
                        <a:t>+0.20</a:t>
                      </a:r>
                    </a:p>
                  </a:txBody>
                  <a:tcPr marL="45720" marR="45720" marT="9144" marB="9144">
                    <a:solidFill>
                      <a:srgbClr val="FFFFFF"/>
                    </a:solidFill>
                  </a:tcPr>
                </a:tc>
                <a:tc>
                  <a:txBody>
                    <a:bodyPr wrap="square"/>
                    <a:lstStyle/>
                    <a:p>
                      <a:r>
                        <a:rPr sz="1100" b="1">
                          <a:solidFill>
                            <a:srgbClr val="000000"/>
                          </a:solidFill>
                          <a:latin typeface="Calibri"/>
                        </a:rPr>
                        <a:t>+0.30</a:t>
                      </a:r>
                    </a:p>
                  </a:txBody>
                  <a:tcPr marL="45720" marR="45720" marT="9144" marB="9144">
                    <a:solidFill>
                      <a:srgbClr val="FFFFFF"/>
                    </a:solidFill>
                  </a:tcPr>
                </a:tc>
              </a:tr>
              <a:tr h="237744">
                <a:tc>
                  <a:txBody>
                    <a:bodyPr wrap="square"/>
                    <a:lstStyle/>
                    <a:p>
                      <a:r>
                        <a:rPr sz="1100" b="0">
                          <a:solidFill>
                            <a:srgbClr val="000000"/>
                          </a:solidFill>
                          <a:latin typeface="Calibri"/>
                        </a:rPr>
                        <a:t>g(x)</a:t>
                      </a:r>
                    </a:p>
                  </a:txBody>
                  <a:tcPr marL="45720" marR="45720" marT="9144" marB="9144">
                    <a:solidFill>
                      <a:srgbClr val="FFFFFF"/>
                    </a:solidFill>
                  </a:tcPr>
                </a:tc>
                <a:tc>
                  <a:txBody>
                    <a:bodyPr wrap="square"/>
                    <a:lstStyle/>
                    <a:p>
                      <a:r>
                        <a:rPr sz="1100" b="0">
                          <a:solidFill>
                            <a:srgbClr val="000000"/>
                          </a:solidFill>
                          <a:latin typeface="Calibri"/>
                        </a:rPr>
                        <a:t>+0.055</a:t>
                      </a:r>
                    </a:p>
                  </a:txBody>
                  <a:tcPr marL="45720" marR="45720" marT="9144" marB="9144">
                    <a:solidFill>
                      <a:srgbClr val="FFFFFF"/>
                    </a:solidFill>
                  </a:tcPr>
                </a:tc>
                <a:tc>
                  <a:txBody>
                    <a:bodyPr wrap="square"/>
                    <a:lstStyle/>
                    <a:p>
                      <a:r>
                        <a:rPr sz="1100" b="0">
                          <a:solidFill>
                            <a:srgbClr val="000000"/>
                          </a:solidFill>
                          <a:latin typeface="Calibri"/>
                        </a:rPr>
                        <a:t>+0.446</a:t>
                      </a:r>
                    </a:p>
                  </a:txBody>
                  <a:tcPr marL="45720" marR="45720" marT="9144" marB="9144">
                    <a:solidFill>
                      <a:srgbClr val="FFFFFF"/>
                    </a:solidFill>
                  </a:tcPr>
                </a:tc>
                <a:tc>
                  <a:txBody>
                    <a:bodyPr wrap="square"/>
                    <a:lstStyle/>
                    <a:p>
                      <a:r>
                        <a:rPr sz="1100" b="0">
                          <a:solidFill>
                            <a:srgbClr val="000000"/>
                          </a:solidFill>
                          <a:latin typeface="Calibri"/>
                        </a:rPr>
                        <a:t>+1.000</a:t>
                      </a:r>
                    </a:p>
                  </a:txBody>
                  <a:tcPr marL="45720" marR="45720" marT="9144" marB="9144">
                    <a:solidFill>
                      <a:srgbClr val="FFFFFF"/>
                    </a:solidFill>
                  </a:tcPr>
                </a:tc>
                <a:tc>
                  <a:txBody>
                    <a:bodyPr wrap="square"/>
                    <a:lstStyle/>
                    <a:p>
                      <a:r>
                        <a:rPr sz="1100" b="0">
                          <a:solidFill>
                            <a:srgbClr val="000000"/>
                          </a:solidFill>
                          <a:latin typeface="Calibri"/>
                        </a:rPr>
                        <a:t>+0.727</a:t>
                      </a:r>
                    </a:p>
                  </a:txBody>
                  <a:tcPr marL="45720" marR="45720" marT="9144" marB="9144">
                    <a:solidFill>
                      <a:srgbClr val="FFFFFF"/>
                    </a:solidFill>
                  </a:tcPr>
                </a:tc>
                <a:tc>
                  <a:txBody>
                    <a:bodyPr wrap="square"/>
                    <a:lstStyle/>
                    <a:p>
                      <a:r>
                        <a:rPr sz="1100" b="0">
                          <a:solidFill>
                            <a:srgbClr val="000000"/>
                          </a:solidFill>
                          <a:latin typeface="Calibri"/>
                        </a:rPr>
                        <a:t>0.000</a:t>
                      </a:r>
                    </a:p>
                  </a:txBody>
                  <a:tcPr marL="45720" marR="45720" marT="9144" marB="9144">
                    <a:solidFill>
                      <a:srgbClr val="FFFFFF"/>
                    </a:solidFill>
                  </a:tcPr>
                </a:tc>
                <a:tc>
                  <a:txBody>
                    <a:bodyPr wrap="square"/>
                    <a:lstStyle/>
                    <a:p>
                      <a:r>
                        <a:rPr sz="1100" b="0">
                          <a:solidFill>
                            <a:srgbClr val="000000"/>
                          </a:solidFill>
                          <a:latin typeface="Calibri"/>
                        </a:rPr>
                        <a:t>-0.727</a:t>
                      </a:r>
                    </a:p>
                  </a:txBody>
                  <a:tcPr marL="45720" marR="45720" marT="9144" marB="9144">
                    <a:solidFill>
                      <a:srgbClr val="FFFFFF"/>
                    </a:solidFill>
                  </a:tcPr>
                </a:tc>
                <a:tc>
                  <a:txBody>
                    <a:bodyPr wrap="square"/>
                    <a:lstStyle/>
                    <a:p>
                      <a:r>
                        <a:rPr sz="1100" b="0">
                          <a:solidFill>
                            <a:srgbClr val="000000"/>
                          </a:solidFill>
                          <a:latin typeface="Calibri"/>
                        </a:rPr>
                        <a:t>-1.000</a:t>
                      </a:r>
                    </a:p>
                  </a:txBody>
                  <a:tcPr marL="45720" marR="45720" marT="9144" marB="9144">
                    <a:solidFill>
                      <a:srgbClr val="FFFFFF"/>
                    </a:solidFill>
                  </a:tcPr>
                </a:tc>
                <a:tc>
                  <a:txBody>
                    <a:bodyPr wrap="square"/>
                    <a:lstStyle/>
                    <a:p>
                      <a:r>
                        <a:rPr sz="1100" b="0">
                          <a:solidFill>
                            <a:srgbClr val="000000"/>
                          </a:solidFill>
                          <a:latin typeface="Calibri"/>
                        </a:rPr>
                        <a:t>-0.446</a:t>
                      </a:r>
                    </a:p>
                  </a:txBody>
                  <a:tcPr marL="45720" marR="45720" marT="9144" marB="9144">
                    <a:solidFill>
                      <a:srgbClr val="FFFFFF"/>
                    </a:solidFill>
                  </a:tcPr>
                </a:tc>
                <a:tc>
                  <a:txBody>
                    <a:bodyPr wrap="square"/>
                    <a:lstStyle/>
                    <a:p>
                      <a:r>
                        <a:rPr sz="1100" b="0">
                          <a:solidFill>
                            <a:srgbClr val="000000"/>
                          </a:solidFill>
                          <a:latin typeface="Calibri"/>
                        </a:rPr>
                        <a:t>-0.055</a:t>
                      </a:r>
                    </a:p>
                  </a:txBody>
                  <a:tcPr marL="45720" marR="45720" marT="9144" marB="9144">
                    <a:solidFill>
                      <a:srgbClr val="FFFFFF"/>
                    </a:solidFill>
                  </a:tcPr>
                </a:tc>
              </a:tr>
            </a:tbl>
          </a:graphicData>
        </a:graphic>
      </p:graphicFrame>
      <p:sp>
        <p:nvSpPr>
          <p:cNvPr id="7" name="TextBox 6"/>
          <p:cNvSpPr txBox="1"/>
          <p:nvPr/>
        </p:nvSpPr>
        <p:spPr>
          <a:xfrm>
            <a:off x="502920" y="2788920"/>
            <a:ext cx="11247120" cy="3794760"/>
          </a:xfrm>
          <a:prstGeom prst="rect">
            <a:avLst/>
          </a:prstGeom>
          <a:noFill/>
        </p:spPr>
        <p:txBody>
          <a:bodyPr wrap="square">
            <a:spAutoFit/>
          </a:bodyPr>
          <a:lstStyle/>
          <a:p>
            <a:pPr>
              <a:spcAft>
                <a:spcPts val="800"/>
              </a:spcAft>
            </a:pPr>
            <a:r>
              <a:rPr sz="1400" b="1">
                <a:solidFill>
                  <a:srgbClr val="000000"/>
                </a:solidFill>
                <a:latin typeface="Calibri"/>
              </a:rPr>
              <a:t>• For the homogeneous rod the exact solution is known — d'Alembert:   u(x,t) = ½[ g(x-t) + g(x+t) ]</a:t>
            </a:r>
          </a:p>
          <a:p>
            <a:pPr lvl="1">
              <a:spcAft>
                <a:spcPts val="500"/>
              </a:spcAft>
            </a:pPr>
            <a:r>
              <a:rPr sz="1250" b="0">
                <a:solidFill>
                  <a:srgbClr val="606060"/>
                </a:solidFill>
                <a:latin typeface="Calibri"/>
              </a:rPr>
              <a:t>– The initial bump splits into two half-height copies, one moving left, one moving right, each at speed 1</a:t>
            </a:r>
          </a:p>
          <a:p>
            <a:pPr lvl="1">
              <a:spcAft>
                <a:spcPts val="500"/>
              </a:spcAft>
            </a:pPr>
            <a:r>
              <a:rPr sz="1250" b="0">
                <a:solidFill>
                  <a:srgbClr val="606060"/>
                </a:solidFill>
                <a:latin typeface="Calibri"/>
              </a:rPr>
              <a:t>– u(+0.10, 0.00) = ½[g(+0.10) + g(+0.10)] = -1.000000</a:t>
            </a:r>
          </a:p>
          <a:p>
            <a:pPr lvl="1">
              <a:spcAft>
                <a:spcPts val="500"/>
              </a:spcAft>
            </a:pPr>
            <a:r>
              <a:rPr sz="1250" b="0">
                <a:solidFill>
                  <a:srgbClr val="606060"/>
                </a:solidFill>
                <a:latin typeface="Calibri"/>
              </a:rPr>
              <a:t>– u(+0.40, 0.30) = ½[g(+0.10) + g(+0.70)] = -0.500000   (right-moving peak has travelled 0.3)</a:t>
            </a:r>
          </a:p>
          <a:p>
            <a:pPr lvl="1">
              <a:spcAft>
                <a:spcPts val="500"/>
              </a:spcAft>
            </a:pPr>
            <a:r>
              <a:rPr sz="1250" b="0">
                <a:solidFill>
                  <a:srgbClr val="606060"/>
                </a:solidFill>
                <a:latin typeface="Calibri"/>
              </a:rPr>
              <a:t>– u(-0.60, 0.50) = ½[g(-1.10) + g(-0.10)] = +0.500000</a:t>
            </a:r>
          </a:p>
          <a:p>
            <a:pPr>
              <a:spcAft>
                <a:spcPts val="800"/>
              </a:spcAft>
            </a:pPr>
            <a:r>
              <a:rPr sz="1400" b="1">
                <a:solidFill>
                  <a:srgbClr val="000000"/>
                </a:solidFill>
                <a:latin typeface="Calibri"/>
              </a:rPr>
              <a:t>• This closed form lets us score homogeneous against exact truth, with zero discretisation error. For twolayer and multilayer no closed form exists; we use a fine finite-difference solution.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0"/>
            <a:ext cx="11338560" cy="1280160"/>
          </a:xfrm>
          <a:prstGeom prst="rect">
            <a:avLst/>
          </a:prstGeom>
          <a:noFill/>
        </p:spPr>
        <p:txBody>
          <a:bodyPr wrap="none">
            <a:spAutoFit/>
          </a:bodyPr>
          <a:lstStyle/>
          <a:p>
            <a:r>
              <a:rPr sz="1400">
                <a:solidFill>
                  <a:srgbClr val="606060"/>
                </a:solidFill>
                <a:latin typeface="Calibri"/>
              </a:rPr>
              <a:t>PART B</a:t>
            </a:r>
          </a:p>
          <a:p>
            <a:r>
              <a:rPr sz="3200" b="1">
                <a:solidFill>
                  <a:srgbClr val="000000"/>
                </a:solidFill>
                <a:latin typeface="Calibri"/>
              </a:rPr>
              <a:t>The Constraints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Physical constraints on the solution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What u(x,t) must satisfy</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155680" cy="1188720"/>
        </p:xfrm>
        <a:graphic>
          <a:graphicData uri="http://schemas.openxmlformats.org/drawingml/2006/table">
            <a:tbl>
              <a:tblPr firstRow="1">
                <a:tableStyleId>{5C22544A-7EE6-4342-B048-85BDC9FD1C3A}</a:tableStyleId>
              </a:tblPr>
              <a:tblGrid>
                <a:gridCol w="457200"/>
                <a:gridCol w="4023360"/>
                <a:gridCol w="3108960"/>
                <a:gridCol w="3566160"/>
              </a:tblGrid>
              <a:tr h="237744">
                <a:tc>
                  <a:txBody>
                    <a:bodyPr wrap="square"/>
                    <a:lstStyle/>
                    <a:p>
                      <a:r>
                        <a:rPr sz="1100" b="1">
                          <a:solidFill>
                            <a:srgbClr val="000000"/>
                          </a:solidFill>
                          <a:latin typeface="Calibri"/>
                        </a:rPr>
                        <a:t>#</a:t>
                      </a:r>
                    </a:p>
                  </a:txBody>
                  <a:tcPr marL="45720" marR="45720" marT="9144" marB="9144">
                    <a:solidFill>
                      <a:srgbClr val="FFFFFF"/>
                    </a:solidFill>
                  </a:tcPr>
                </a:tc>
                <a:tc>
                  <a:txBody>
                    <a:bodyPr wrap="square"/>
                    <a:lstStyle/>
                    <a:p>
                      <a:r>
                        <a:rPr sz="1100" b="1">
                          <a:solidFill>
                            <a:srgbClr val="000000"/>
                          </a:solidFill>
                          <a:latin typeface="Calibri"/>
                        </a:rPr>
                        <a:t>Constraint</a:t>
                      </a:r>
                    </a:p>
                  </a:txBody>
                  <a:tcPr marL="45720" marR="45720" marT="9144" marB="9144">
                    <a:solidFill>
                      <a:srgbClr val="FFFFFF"/>
                    </a:solidFill>
                  </a:tcPr>
                </a:tc>
                <a:tc>
                  <a:txBody>
                    <a:bodyPr wrap="square"/>
                    <a:lstStyle/>
                    <a:p>
                      <a:r>
                        <a:rPr sz="1100" b="1">
                          <a:solidFill>
                            <a:srgbClr val="000000"/>
                          </a:solidFill>
                          <a:latin typeface="Calibri"/>
                        </a:rPr>
                        <a:t>Form</a:t>
                      </a:r>
                    </a:p>
                  </a:txBody>
                  <a:tcPr marL="45720" marR="45720" marT="9144" marB="9144">
                    <a:solidFill>
                      <a:srgbClr val="FFFFFF"/>
                    </a:solidFill>
                  </a:tcPr>
                </a:tc>
                <a:tc>
                  <a:txBody>
                    <a:bodyPr wrap="square"/>
                    <a:lstStyle/>
                    <a:p>
                      <a:r>
                        <a:rPr sz="1100" b="1">
                          <a:solidFill>
                            <a:srgbClr val="000000"/>
                          </a:solidFill>
                          <a:latin typeface="Calibri"/>
                        </a:rPr>
                        <a:t>How we enforce it</a:t>
                      </a:r>
                    </a:p>
                  </a:txBody>
                  <a:tcPr marL="45720" marR="45720" marT="9144" marB="9144">
                    <a:solidFill>
                      <a:srgbClr val="FFFFFF"/>
                    </a:solidFill>
                  </a:tcPr>
                </a:tc>
              </a:tr>
              <a:tr h="237744">
                <a:tc>
                  <a:txBody>
                    <a:bodyPr wrap="square"/>
                    <a:lstStyle/>
                    <a:p>
                      <a:r>
                        <a:rPr sz="1100" b="0">
                          <a:solidFill>
                            <a:srgbClr val="000000"/>
                          </a:solidFill>
                          <a:latin typeface="Calibri"/>
                        </a:rPr>
                        <a:t>1</a:t>
                      </a:r>
                    </a:p>
                  </a:txBody>
                  <a:tcPr marL="45720" marR="45720" marT="9144" marB="9144">
                    <a:solidFill>
                      <a:srgbClr val="FFFFFF"/>
                    </a:solidFill>
                  </a:tcPr>
                </a:tc>
                <a:tc>
                  <a:txBody>
                    <a:bodyPr wrap="square"/>
                    <a:lstStyle/>
                    <a:p>
                      <a:r>
                        <a:rPr sz="1100" b="0">
                          <a:solidFill>
                            <a:srgbClr val="000000"/>
                          </a:solidFill>
                          <a:latin typeface="Calibri"/>
                        </a:rPr>
                        <a:t>The PDE, everywhere inside the domain</a:t>
                      </a:r>
                    </a:p>
                  </a:txBody>
                  <a:tcPr marL="45720" marR="45720" marT="9144" marB="9144">
                    <a:solidFill>
                      <a:srgbClr val="FFFFFF"/>
                    </a:solidFill>
                  </a:tcPr>
                </a:tc>
                <a:tc>
                  <a:txBody>
                    <a:bodyPr wrap="square"/>
                    <a:lstStyle/>
                    <a:p>
                      <a:r>
                        <a:rPr sz="1100" b="0">
                          <a:solidFill>
                            <a:srgbClr val="000000"/>
                          </a:solidFill>
                          <a:latin typeface="Calibri"/>
                        </a:rPr>
                        <a:t>rho·u_tt - d/dx(E·u_x) = 0</a:t>
                      </a:r>
                    </a:p>
                  </a:txBody>
                  <a:tcPr marL="45720" marR="45720" marT="9144" marB="9144">
                    <a:solidFill>
                      <a:srgbClr val="FFFFFF"/>
                    </a:solidFill>
                  </a:tcPr>
                </a:tc>
                <a:tc>
                  <a:txBody>
                    <a:bodyPr wrap="square"/>
                    <a:lstStyle/>
                    <a:p>
                      <a:r>
                        <a:rPr sz="1100" b="0">
                          <a:solidFill>
                            <a:srgbClr val="000000"/>
                          </a:solidFill>
                          <a:latin typeface="Calibri"/>
                        </a:rPr>
                        <a:t>loss term on 10,000 sampled points</a:t>
                      </a:r>
                    </a:p>
                  </a:txBody>
                  <a:tcPr marL="45720" marR="45720" marT="9144" marB="9144">
                    <a:solidFill>
                      <a:srgbClr val="FFFFFF"/>
                    </a:solidFill>
                  </a:tcPr>
                </a:tc>
              </a:tr>
              <a:tr h="237744">
                <a:tc>
                  <a:txBody>
                    <a:bodyPr wrap="square"/>
                    <a:lstStyle/>
                    <a:p>
                      <a:r>
                        <a:rPr sz="1100" b="0">
                          <a:solidFill>
                            <a:srgbClr val="000000"/>
                          </a:solidFill>
                          <a:latin typeface="Calibri"/>
                        </a:rPr>
                        <a:t>2</a:t>
                      </a:r>
                    </a:p>
                  </a:txBody>
                  <a:tcPr marL="45720" marR="45720" marT="9144" marB="9144">
                    <a:solidFill>
                      <a:srgbClr val="FFFFFF"/>
                    </a:solidFill>
                  </a:tcPr>
                </a:tc>
                <a:tc>
                  <a:txBody>
                    <a:bodyPr wrap="square"/>
                    <a:lstStyle/>
                    <a:p>
                      <a:r>
                        <a:rPr sz="1100" b="0">
                          <a:solidFill>
                            <a:srgbClr val="000000"/>
                          </a:solidFill>
                          <a:latin typeface="Calibri"/>
                        </a:rPr>
                        <a:t>Initial shape</a:t>
                      </a:r>
                    </a:p>
                  </a:txBody>
                  <a:tcPr marL="45720" marR="45720" marT="9144" marB="9144">
                    <a:solidFill>
                      <a:srgbClr val="FFFFFF"/>
                    </a:solidFill>
                  </a:tcPr>
                </a:tc>
                <a:tc>
                  <a:txBody>
                    <a:bodyPr wrap="square"/>
                    <a:lstStyle/>
                    <a:p>
                      <a:r>
                        <a:rPr sz="1100" b="0">
                          <a:solidFill>
                            <a:srgbClr val="000000"/>
                          </a:solidFill>
                          <a:latin typeface="Calibri"/>
                        </a:rPr>
                        <a:t>u(x, 0) = g(x)</a:t>
                      </a:r>
                    </a:p>
                  </a:txBody>
                  <a:tcPr marL="45720" marR="45720" marT="9144" marB="9144">
                    <a:solidFill>
                      <a:srgbClr val="FFFFFF"/>
                    </a:solidFill>
                  </a:tcPr>
                </a:tc>
                <a:tc>
                  <a:txBody>
                    <a:bodyPr wrap="square"/>
                    <a:lstStyle/>
                    <a:p>
                      <a:r>
                        <a:rPr sz="1100" b="0">
                          <a:solidFill>
                            <a:srgbClr val="000000"/>
                          </a:solidFill>
                          <a:latin typeface="Calibri"/>
                        </a:rPr>
                        <a:t>HARD — built into the function form</a:t>
                      </a:r>
                    </a:p>
                  </a:txBody>
                  <a:tcPr marL="45720" marR="45720" marT="9144" marB="9144">
                    <a:solidFill>
                      <a:srgbClr val="FFFFFF"/>
                    </a:solidFill>
                  </a:tcPr>
                </a:tc>
              </a:tr>
              <a:tr h="237744">
                <a:tc>
                  <a:txBody>
                    <a:bodyPr wrap="square"/>
                    <a:lstStyle/>
                    <a:p>
                      <a:r>
                        <a:rPr sz="1100" b="0">
                          <a:solidFill>
                            <a:srgbClr val="000000"/>
                          </a:solidFill>
                          <a:latin typeface="Calibri"/>
                        </a:rPr>
                        <a:t>3</a:t>
                      </a:r>
                    </a:p>
                  </a:txBody>
                  <a:tcPr marL="45720" marR="45720" marT="9144" marB="9144">
                    <a:solidFill>
                      <a:srgbClr val="FFFFFF"/>
                    </a:solidFill>
                  </a:tcPr>
                </a:tc>
                <a:tc>
                  <a:txBody>
                    <a:bodyPr wrap="square"/>
                    <a:lstStyle/>
                    <a:p>
                      <a:r>
                        <a:rPr sz="1100" b="0">
                          <a:solidFill>
                            <a:srgbClr val="000000"/>
                          </a:solidFill>
                          <a:latin typeface="Calibri"/>
                        </a:rPr>
                        <a:t>Initial stillness</a:t>
                      </a:r>
                    </a:p>
                  </a:txBody>
                  <a:tcPr marL="45720" marR="45720" marT="9144" marB="9144">
                    <a:solidFill>
                      <a:srgbClr val="FFFFFF"/>
                    </a:solidFill>
                  </a:tcPr>
                </a:tc>
                <a:tc>
                  <a:txBody>
                    <a:bodyPr wrap="square"/>
                    <a:lstStyle/>
                    <a:p>
                      <a:r>
                        <a:rPr sz="1100" b="0">
                          <a:solidFill>
                            <a:srgbClr val="000000"/>
                          </a:solidFill>
                          <a:latin typeface="Calibri"/>
                        </a:rPr>
                        <a:t>u_t(x, 0) = 0</a:t>
                      </a:r>
                    </a:p>
                  </a:txBody>
                  <a:tcPr marL="45720" marR="45720" marT="9144" marB="9144">
                    <a:solidFill>
                      <a:srgbClr val="FFFFFF"/>
                    </a:solidFill>
                  </a:tcPr>
                </a:tc>
                <a:tc>
                  <a:txBody>
                    <a:bodyPr wrap="square"/>
                    <a:lstStyle/>
                    <a:p>
                      <a:r>
                        <a:rPr sz="1100" b="0">
                          <a:solidFill>
                            <a:srgbClr val="000000"/>
                          </a:solidFill>
                          <a:latin typeface="Calibri"/>
                        </a:rPr>
                        <a:t>HARD — built into the function form</a:t>
                      </a:r>
                    </a:p>
                  </a:txBody>
                  <a:tcPr marL="45720" marR="45720" marT="9144" marB="9144">
                    <a:solidFill>
                      <a:srgbClr val="FFFFFF"/>
                    </a:solidFill>
                  </a:tcPr>
                </a:tc>
              </a:tr>
              <a:tr h="237744">
                <a:tc>
                  <a:txBody>
                    <a:bodyPr wrap="square"/>
                    <a:lstStyle/>
                    <a:p>
                      <a:r>
                        <a:rPr sz="1100" b="0">
                          <a:solidFill>
                            <a:srgbClr val="000000"/>
                          </a:solidFill>
                          <a:latin typeface="Calibri"/>
                        </a:rPr>
                        <a:t>4</a:t>
                      </a:r>
                    </a:p>
                  </a:txBody>
                  <a:tcPr marL="45720" marR="45720" marT="9144" marB="9144">
                    <a:solidFill>
                      <a:srgbClr val="FFFFFF"/>
                    </a:solidFill>
                  </a:tcPr>
                </a:tc>
                <a:tc>
                  <a:txBody>
                    <a:bodyPr wrap="square"/>
                    <a:lstStyle/>
                    <a:p>
                      <a:r>
                        <a:rPr sz="1100" b="0">
                          <a:solidFill>
                            <a:srgbClr val="000000"/>
                          </a:solidFill>
                          <a:latin typeface="Calibri"/>
                        </a:rPr>
                        <a:t>Absorbing boundaries (rod behaves as if infinite)</a:t>
                      </a:r>
                    </a:p>
                  </a:txBody>
                  <a:tcPr marL="45720" marR="45720" marT="9144" marB="9144">
                    <a:solidFill>
                      <a:srgbClr val="FFFFFF"/>
                    </a:solidFill>
                  </a:tcPr>
                </a:tc>
                <a:tc>
                  <a:txBody>
                    <a:bodyPr wrap="square"/>
                    <a:lstStyle/>
                    <a:p>
                      <a:r>
                        <a:rPr sz="1100" b="0">
                          <a:solidFill>
                            <a:srgbClr val="000000"/>
                          </a:solidFill>
                          <a:latin typeface="Calibri"/>
                        </a:rPr>
                        <a:t>u_t ∓ c·u_x = 0 at x = ±1</a:t>
                      </a:r>
                    </a:p>
                  </a:txBody>
                  <a:tcPr marL="45720" marR="45720" marT="9144" marB="9144">
                    <a:solidFill>
                      <a:srgbClr val="FFFFFF"/>
                    </a:solidFill>
                  </a:tcPr>
                </a:tc>
                <a:tc>
                  <a:txBody>
                    <a:bodyPr wrap="square"/>
                    <a:lstStyle/>
                    <a:p>
                      <a:r>
                        <a:rPr sz="1100" b="0">
                          <a:solidFill>
                            <a:srgbClr val="000000"/>
                          </a:solidFill>
                          <a:latin typeface="Calibri"/>
                        </a:rPr>
                        <a:t>loss term on 512 points per edge</a:t>
                      </a:r>
                    </a:p>
                  </a:txBody>
                  <a:tcPr marL="45720" marR="45720" marT="9144" marB="9144">
                    <a:solidFill>
                      <a:srgbClr val="FFFFFF"/>
                    </a:solidFill>
                  </a:tcPr>
                </a:tc>
              </a:tr>
            </a:tbl>
          </a:graphicData>
        </a:graphic>
      </p:graphicFrame>
      <p:sp>
        <p:nvSpPr>
          <p:cNvPr id="6" name="TextBox 5"/>
          <p:cNvSpPr txBox="1"/>
          <p:nvPr/>
        </p:nvSpPr>
        <p:spPr>
          <a:xfrm>
            <a:off x="502920" y="3017520"/>
            <a:ext cx="11247120" cy="3566160"/>
          </a:xfrm>
          <a:prstGeom prst="rect">
            <a:avLst/>
          </a:prstGeom>
          <a:noFill/>
        </p:spPr>
        <p:txBody>
          <a:bodyPr wrap="square">
            <a:spAutoFit/>
          </a:bodyPr>
          <a:lstStyle/>
          <a:p>
            <a:pPr>
              <a:spcAft>
                <a:spcPts val="800"/>
              </a:spcAft>
            </a:pPr>
            <a:r>
              <a:rPr sz="1300" b="1">
                <a:solidFill>
                  <a:srgbClr val="000000"/>
                </a:solidFill>
                <a:latin typeface="Calibri"/>
              </a:rPr>
              <a:t>• Constraints 2 and 3 are made impossible to violate, rather than penalised:</a:t>
            </a:r>
          </a:p>
          <a:p>
            <a:pPr lvl="1">
              <a:spcAft>
                <a:spcPts val="500"/>
              </a:spcAft>
            </a:pPr>
            <a:r>
              <a:rPr sz="1150" b="0">
                <a:solidFill>
                  <a:srgbClr val="606060"/>
                </a:solidFill>
                <a:latin typeface="Calibri"/>
              </a:rPr>
              <a:t>– u(x,t) = g(x)·decay(t) + growth(t)·N(x,t)   where N is the network's raw output</a:t>
            </a:r>
          </a:p>
          <a:p>
            <a:pPr lvl="1">
              <a:spcAft>
                <a:spcPts val="500"/>
              </a:spcAft>
            </a:pPr>
            <a:r>
              <a:rPr sz="1150" b="0">
                <a:solidFill>
                  <a:srgbClr val="606060"/>
                </a:solidFill>
                <a:latin typeface="Calibri"/>
              </a:rPr>
              <a:t>– decay(t) = exp(-½(15t)²) starts at 1;  growth(t) = tanh²(25t) starts at 0</a:t>
            </a:r>
          </a:p>
          <a:p>
            <a:pPr lvl="1">
              <a:spcAft>
                <a:spcPts val="500"/>
              </a:spcAft>
            </a:pPr>
            <a:r>
              <a:rPr sz="1150" b="0">
                <a:solidFill>
                  <a:srgbClr val="606060"/>
                </a:solidFill>
                <a:latin typeface="Calibri"/>
              </a:rPr>
              <a:t>– At t = 0:  u = g(x)·1 + 0·N = g(x) exactly, whatever the network does</a:t>
            </a:r>
          </a:p>
          <a:p>
            <a:pPr lvl="1">
              <a:spcAft>
                <a:spcPts val="500"/>
              </a:spcAft>
            </a:pPr>
            <a:r>
              <a:rPr sz="1150" b="0">
                <a:solidFill>
                  <a:srgbClr val="606060"/>
                </a:solidFill>
                <a:latin typeface="Calibri"/>
              </a:rPr>
              <a:t>– Both helpers have zero slope at t = 0, so u_t(x,0) = 0 exactly</a:t>
            </a:r>
          </a:p>
          <a:p>
            <a:pPr>
              <a:spcAft>
                <a:spcPts val="800"/>
              </a:spcAft>
            </a:pPr>
            <a:r>
              <a:rPr sz="1300" b="1">
                <a:solidFill>
                  <a:srgbClr val="000000"/>
                </a:solidFill>
                <a:latin typeface="Calibri"/>
              </a:rPr>
              <a:t>• Consequence that matters later: decay is 0.011 by t = 0.2 and growth saturates at ~1 by t = 0.1, so across almost the whole scoring window u ≈ N. The network alone is the answer — and u ≡ 0 becomes reachable (slides 28,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Experimental constraints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What is held fixed so the architecture is the only variable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901952"/>
        </p:xfrm>
        <a:graphic>
          <a:graphicData uri="http://schemas.openxmlformats.org/drawingml/2006/table">
            <a:tbl>
              <a:tblPr firstRow="1">
                <a:tableStyleId>{5C22544A-7EE6-4342-B048-85BDC9FD1C3A}</a:tableStyleId>
              </a:tblPr>
              <a:tblGrid>
                <a:gridCol w="6400800"/>
                <a:gridCol w="4846320"/>
              </a:tblGrid>
              <a:tr h="237744">
                <a:tc>
                  <a:txBody>
                    <a:bodyPr wrap="square"/>
                    <a:lstStyle/>
                    <a:p>
                      <a:r>
                        <a:rPr sz="1100" b="1">
                          <a:solidFill>
                            <a:srgbClr val="000000"/>
                          </a:solidFill>
                          <a:latin typeface="Calibri"/>
                        </a:rPr>
                        <a:t>Held identical across every architecture</a:t>
                      </a:r>
                    </a:p>
                  </a:txBody>
                  <a:tcPr marL="45720" marR="45720" marT="9144" marB="9144">
                    <a:solidFill>
                      <a:srgbClr val="FFFFFF"/>
                    </a:solidFill>
                  </a:tcPr>
                </a:tc>
                <a:tc>
                  <a:txBody>
                    <a:bodyPr wrap="square"/>
                    <a:lstStyle/>
                    <a:p>
                      <a:r>
                        <a:rPr sz="1100" b="1">
                          <a:solidFill>
                            <a:srgbClr val="000000"/>
                          </a:solidFill>
                          <a:latin typeface="Calibri"/>
                        </a:rPr>
                        <a:t>Value</a:t>
                      </a:r>
                    </a:p>
                  </a:txBody>
                  <a:tcPr marL="45720" marR="45720" marT="9144" marB="9144">
                    <a:solidFill>
                      <a:srgbClr val="FFFFFF"/>
                    </a:solidFill>
                  </a:tcPr>
                </a:tc>
              </a:tr>
              <a:tr h="237744">
                <a:tc>
                  <a:txBody>
                    <a:bodyPr wrap="square"/>
                    <a:lstStyle/>
                    <a:p>
                      <a:r>
                        <a:rPr sz="1100" b="0">
                          <a:solidFill>
                            <a:srgbClr val="000000"/>
                          </a:solidFill>
                          <a:latin typeface="Calibri"/>
                        </a:rPr>
                        <a:t>Residual, ansatz, boundary loss, error metric</a:t>
                      </a:r>
                    </a:p>
                  </a:txBody>
                  <a:tcPr marL="45720" marR="45720" marT="9144" marB="9144">
                    <a:solidFill>
                      <a:srgbClr val="FFFFFF"/>
                    </a:solidFill>
                  </a:tcPr>
                </a:tc>
                <a:tc>
                  <a:txBody>
                    <a:bodyPr wrap="square"/>
                    <a:lstStyle/>
                    <a:p>
                      <a:r>
                        <a:rPr sz="1100" b="0">
                          <a:solidFill>
                            <a:srgbClr val="000000"/>
                          </a:solidFill>
                          <a:latin typeface="Calibri"/>
                        </a:rPr>
                        <a:t>shared code in core/</a:t>
                      </a:r>
                    </a:p>
                  </a:txBody>
                  <a:tcPr marL="45720" marR="45720" marT="9144" marB="9144">
                    <a:solidFill>
                      <a:srgbClr val="FFFFFF"/>
                    </a:solidFill>
                  </a:tcPr>
                </a:tc>
              </a:tr>
              <a:tr h="237744">
                <a:tc>
                  <a:txBody>
                    <a:bodyPr wrap="square"/>
                    <a:lstStyle/>
                    <a:p>
                      <a:r>
                        <a:rPr sz="1100" b="0">
                          <a:solidFill>
                            <a:srgbClr val="000000"/>
                          </a:solidFill>
                          <a:latin typeface="Calibri"/>
                        </a:rPr>
                        <a:t>Interior collocation points</a:t>
                      </a:r>
                    </a:p>
                  </a:txBody>
                  <a:tcPr marL="45720" marR="45720" marT="9144" marB="9144">
                    <a:solidFill>
                      <a:srgbClr val="FFFFFF"/>
                    </a:solidFill>
                  </a:tcPr>
                </a:tc>
                <a:tc>
                  <a:txBody>
                    <a:bodyPr wrap="square"/>
                    <a:lstStyle/>
                    <a:p>
                      <a:r>
                        <a:rPr sz="1100" b="0">
                          <a:solidFill>
                            <a:srgbClr val="000000"/>
                          </a:solidFill>
                          <a:latin typeface="Calibri"/>
                        </a:rPr>
                        <a:t>10,000, scrambled Sobol, byte-identical per seed (verified)</a:t>
                      </a:r>
                    </a:p>
                  </a:txBody>
                  <a:tcPr marL="45720" marR="45720" marT="9144" marB="9144">
                    <a:solidFill>
                      <a:srgbClr val="FFFFFF"/>
                    </a:solidFill>
                  </a:tcPr>
                </a:tc>
              </a:tr>
              <a:tr h="237744">
                <a:tc>
                  <a:txBody>
                    <a:bodyPr wrap="square"/>
                    <a:lstStyle/>
                    <a:p>
                      <a:r>
                        <a:rPr sz="1100" b="0">
                          <a:solidFill>
                            <a:srgbClr val="000000"/>
                          </a:solidFill>
                          <a:latin typeface="Calibri"/>
                        </a:rPr>
                        <a:t>Boundary points</a:t>
                      </a:r>
                    </a:p>
                  </a:txBody>
                  <a:tcPr marL="45720" marR="45720" marT="9144" marB="9144">
                    <a:solidFill>
                      <a:srgbClr val="FFFFFF"/>
                    </a:solidFill>
                  </a:tcPr>
                </a:tc>
                <a:tc>
                  <a:txBody>
                    <a:bodyPr wrap="square"/>
                    <a:lstStyle/>
                    <a:p>
                      <a:r>
                        <a:rPr sz="1100" b="0">
                          <a:solidFill>
                            <a:srgbClr val="000000"/>
                          </a:solidFill>
                          <a:latin typeface="Calibri"/>
                        </a:rPr>
                        <a:t>512 per edge, fixed</a:t>
                      </a:r>
                    </a:p>
                  </a:txBody>
                  <a:tcPr marL="45720" marR="45720" marT="9144" marB="9144">
                    <a:solidFill>
                      <a:srgbClr val="FFFFFF"/>
                    </a:solidFill>
                  </a:tcPr>
                </a:tc>
              </a:tr>
              <a:tr h="237744">
                <a:tc>
                  <a:txBody>
                    <a:bodyPr wrap="square"/>
                    <a:lstStyle/>
                    <a:p>
                      <a:r>
                        <a:rPr sz="1100" b="0">
                          <a:solidFill>
                            <a:srgbClr val="000000"/>
                          </a:solidFill>
                          <a:latin typeface="Calibri"/>
                        </a:rPr>
                        <a:t>Collocation set during training</a:t>
                      </a:r>
                    </a:p>
                  </a:txBody>
                  <a:tcPr marL="45720" marR="45720" marT="9144" marB="9144">
                    <a:solidFill>
                      <a:srgbClr val="FFFFFF"/>
                    </a:solidFill>
                  </a:tcPr>
                </a:tc>
                <a:tc>
                  <a:txBody>
                    <a:bodyPr wrap="square"/>
                    <a:lstStyle/>
                    <a:p>
                      <a:r>
                        <a:rPr sz="1100" b="0">
                          <a:solidFill>
                            <a:srgbClr val="000000"/>
                          </a:solidFill>
                          <a:latin typeface="Calibri"/>
                        </a:rPr>
                        <a:t>drawn ONCE and frozen — never resampled</a:t>
                      </a:r>
                    </a:p>
                  </a:txBody>
                  <a:tcPr marL="45720" marR="45720" marT="9144" marB="9144">
                    <a:solidFill>
                      <a:srgbClr val="FFFFFF"/>
                    </a:solidFill>
                  </a:tcPr>
                </a:tc>
              </a:tr>
              <a:tr h="237744">
                <a:tc>
                  <a:txBody>
                    <a:bodyPr wrap="square"/>
                    <a:lstStyle/>
                    <a:p>
                      <a:r>
                        <a:rPr sz="1100" b="0">
                          <a:solidFill>
                            <a:srgbClr val="000000"/>
                          </a:solidFill>
                          <a:latin typeface="Calibri"/>
                        </a:rPr>
                        <a:t>Optimiser settings, step budget, early stopping</a:t>
                      </a:r>
                    </a:p>
                  </a:txBody>
                  <a:tcPr marL="45720" marR="45720" marT="9144" marB="9144">
                    <a:solidFill>
                      <a:srgbClr val="FFFFFF"/>
                    </a:solidFill>
                  </a:tcPr>
                </a:tc>
                <a:tc>
                  <a:txBody>
                    <a:bodyPr wrap="square"/>
                    <a:lstStyle/>
                    <a:p>
                      <a:r>
                        <a:rPr sz="1100" b="0">
                          <a:solidFill>
                            <a:srgbClr val="000000"/>
                          </a:solidFill>
                          <a:latin typeface="Calibri"/>
                        </a:rPr>
                        <a:t>identical</a:t>
                      </a:r>
                    </a:p>
                  </a:txBody>
                  <a:tcPr marL="45720" marR="45720" marT="9144" marB="9144">
                    <a:solidFill>
                      <a:srgbClr val="FFFFFF"/>
                    </a:solidFill>
                  </a:tcPr>
                </a:tc>
              </a:tr>
              <a:tr h="237744">
                <a:tc>
                  <a:txBody>
                    <a:bodyPr wrap="square"/>
                    <a:lstStyle/>
                    <a:p>
                      <a:r>
                        <a:rPr sz="1100" b="0">
                          <a:solidFill>
                            <a:srgbClr val="000000"/>
                          </a:solidFill>
                          <a:latin typeface="Calibri"/>
                        </a:rPr>
                        <a:t>Seeds</a:t>
                      </a:r>
                    </a:p>
                  </a:txBody>
                  <a:tcPr marL="45720" marR="45720" marT="9144" marB="9144">
                    <a:solidFill>
                      <a:srgbClr val="FFFFFF"/>
                    </a:solidFill>
                  </a:tcPr>
                </a:tc>
                <a:tc>
                  <a:txBody>
                    <a:bodyPr wrap="square"/>
                    <a:lstStyle/>
                    <a:p>
                      <a:r>
                        <a:rPr sz="1100" b="0">
                          <a:solidFill>
                            <a:srgbClr val="000000"/>
                          </a:solidFill>
                          <a:latin typeface="Calibri"/>
                        </a:rPr>
                        <a:t>the same seed list for every arm</a:t>
                      </a:r>
                    </a:p>
                  </a:txBody>
                  <a:tcPr marL="45720" marR="45720" marT="9144" marB="9144">
                    <a:solidFill>
                      <a:srgbClr val="FFFFFF"/>
                    </a:solidFill>
                  </a:tcPr>
                </a:tc>
              </a:tr>
              <a:tr h="237744">
                <a:tc>
                  <a:txBody>
                    <a:bodyPr wrap="square"/>
                    <a:lstStyle/>
                    <a:p>
                      <a:r>
                        <a:rPr sz="1100" b="0">
                          <a:solidFill>
                            <a:srgbClr val="000000"/>
                          </a:solidFill>
                          <a:latin typeface="Calibri"/>
                        </a:rPr>
                        <a:t>Scoring grid</a:t>
                      </a:r>
                    </a:p>
                  </a:txBody>
                  <a:tcPr marL="45720" marR="45720" marT="9144" marB="9144">
                    <a:solidFill>
                      <a:srgbClr val="FFFFFF"/>
                    </a:solidFill>
                  </a:tcPr>
                </a:tc>
                <a:tc>
                  <a:txBody>
                    <a:bodyPr wrap="square"/>
                    <a:lstStyle/>
                    <a:p>
                      <a:r>
                        <a:rPr sz="1100" b="0">
                          <a:solidFill>
                            <a:srgbClr val="000000"/>
                          </a:solidFill>
                          <a:latin typeface="Calibri"/>
                        </a:rPr>
                        <a:t>4096 positions × 20 time snapshots = 81,920 points</a:t>
                      </a:r>
                    </a:p>
                  </a:txBody>
                  <a:tcPr marL="45720" marR="45720" marT="9144" marB="9144">
                    <a:solidFill>
                      <a:srgbClr val="FFFFFF"/>
                    </a:solidFill>
                  </a:tcPr>
                </a:tc>
              </a:tr>
            </a:tbl>
          </a:graphicData>
        </a:graphic>
      </p:graphicFrame>
      <p:sp>
        <p:nvSpPr>
          <p:cNvPr id="6" name="TextBox 5"/>
          <p:cNvSpPr txBox="1"/>
          <p:nvPr/>
        </p:nvSpPr>
        <p:spPr>
          <a:xfrm>
            <a:off x="502920" y="3703320"/>
            <a:ext cx="11247120" cy="2880360"/>
          </a:xfrm>
          <a:prstGeom prst="rect">
            <a:avLst/>
          </a:prstGeom>
          <a:noFill/>
        </p:spPr>
        <p:txBody>
          <a:bodyPr wrap="square">
            <a:spAutoFit/>
          </a:bodyPr>
          <a:lstStyle/>
          <a:p>
            <a:pPr>
              <a:spcAft>
                <a:spcPts val="800"/>
              </a:spcAft>
            </a:pPr>
            <a:r>
              <a:rPr sz="1300" b="1">
                <a:solidFill>
                  <a:srgbClr val="000000"/>
                </a:solidFill>
                <a:latin typeface="Calibri"/>
              </a:rPr>
              <a:t>• Why the collocation set must be frozen: L-BFGS builds a curvature model from how the gradient changed over ~100 steps. That model assumes a fixed loss surface. Resampling each step destroys it — this error made every PINN in an earlier phase look 10–70× worse than it is.</a:t>
            </a:r>
          </a:p>
          <a:p>
            <a:pPr>
              <a:spcAft>
                <a:spcPts val="800"/>
              </a:spcAft>
            </a:pPr>
            <a:r>
              <a:rPr sz="1300" b="1">
                <a:solidFill>
                  <a:srgbClr val="000000"/>
                </a:solidFill>
                <a:latin typeface="Calibri"/>
              </a:rPr>
              <a:t>• Why 10,000: matches the field benchmark (arXiv:2602.15068). Mean point spacing 0.014, about 7× finer than the pulse width.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Measurement constraints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reference must be finer than what it measures</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400" b="0">
                <a:solidFill>
                  <a:srgbClr val="000000"/>
                </a:solidFill>
                <a:latin typeface="Calibri"/>
              </a:rPr>
              <a:t>• Error metric: relative L2, the standard in the PINN literature.</a:t>
            </a:r>
          </a:p>
          <a:p>
            <a:pPr lvl="1">
              <a:spcAft>
                <a:spcPts val="500"/>
              </a:spcAft>
            </a:pPr>
            <a:r>
              <a:rPr sz="1250" b="0">
                <a:solidFill>
                  <a:srgbClr val="606060"/>
                </a:solidFill>
                <a:latin typeface="Calibri"/>
              </a:rPr>
              <a:t>– rel-L2 % = 100 · ||u_model − u_reference|| / ||u_reference||  over all 81,920 points</a:t>
            </a:r>
          </a:p>
          <a:p>
            <a:pPr lvl="1">
              <a:spcAft>
                <a:spcPts val="500"/>
              </a:spcAft>
            </a:pPr>
            <a:r>
              <a:rPr sz="1250" b="0">
                <a:solidFill>
                  <a:srgbClr val="606060"/>
                </a:solidFill>
                <a:latin typeface="Calibri"/>
              </a:rPr>
              <a:t>– 0.02 % = the error is one five-thousandth of the solution's size.  95 % = the model produces essentially nothing.</a:t>
            </a:r>
          </a:p>
          <a:p>
            <a:pPr>
              <a:spcAft>
                <a:spcPts val="800"/>
              </a:spcAft>
            </a:pPr>
            <a:r>
              <a:rPr sz="1400" b="1">
                <a:solidFill>
                  <a:srgbClr val="000000"/>
                </a:solidFill>
                <a:latin typeface="Calibri"/>
              </a:rPr>
              <a:t>• The reference has its own error, and it must sit far below the model errors — or differences are compressed.</a:t>
            </a:r>
          </a:p>
        </p:txBody>
      </p:sp>
      <p:graphicFrame>
        <p:nvGraphicFramePr>
          <p:cNvPr id="6" name="Table 5"/>
          <p:cNvGraphicFramePr>
            <a:graphicFrameLocks noGrp="1"/>
          </p:cNvGraphicFramePr>
          <p:nvPr/>
        </p:nvGraphicFramePr>
        <p:xfrm>
          <a:off x="502920" y="2606039"/>
          <a:ext cx="11247120" cy="1426464"/>
        </p:xfrm>
        <a:graphic>
          <a:graphicData uri="http://schemas.openxmlformats.org/drawingml/2006/table">
            <a:tbl>
              <a:tblPr firstRow="1">
                <a:tableStyleId>{5C22544A-7EE6-4342-B048-85BDC9FD1C3A}</a:tableStyleId>
              </a:tblPr>
              <a:tblGrid>
                <a:gridCol w="2377440"/>
                <a:gridCol w="2011680"/>
                <a:gridCol w="3657600"/>
                <a:gridCol w="3200400"/>
              </a:tblGrid>
              <a:tr h="237744">
                <a:tc>
                  <a:txBody>
                    <a:bodyPr wrap="square"/>
                    <a:lstStyle/>
                    <a:p>
                      <a:r>
                        <a:rPr sz="1100" b="1">
                          <a:solidFill>
                            <a:srgbClr val="000000"/>
                          </a:solidFill>
                          <a:latin typeface="Calibri"/>
                        </a:rPr>
                        <a:t>Reference</a:t>
                      </a:r>
                    </a:p>
                  </a:txBody>
                  <a:tcPr marL="45720" marR="45720" marT="9144" marB="9144">
                    <a:solidFill>
                      <a:srgbClr val="FFFFFF"/>
                    </a:solidFill>
                  </a:tcPr>
                </a:tc>
                <a:tc>
                  <a:txBody>
                    <a:bodyPr wrap="square"/>
                    <a:lstStyle/>
                    <a:p>
                      <a:r>
                        <a:rPr sz="1100" b="1">
                          <a:solidFill>
                            <a:srgbClr val="000000"/>
                          </a:solidFill>
                          <a:latin typeface="Calibri"/>
                        </a:rPr>
                        <a:t>Its own error</a:t>
                      </a:r>
                    </a:p>
                  </a:txBody>
                  <a:tcPr marL="45720" marR="45720" marT="9144" marB="9144">
                    <a:solidFill>
                      <a:srgbClr val="FFFFFF"/>
                    </a:solidFill>
                  </a:tcPr>
                </a:tc>
                <a:tc>
                  <a:txBody>
                    <a:bodyPr wrap="square"/>
                    <a:lstStyle/>
                    <a:p>
                      <a:r>
                        <a:rPr sz="1100" b="1">
                          <a:solidFill>
                            <a:srgbClr val="000000"/>
                          </a:solidFill>
                          <a:latin typeface="Calibri"/>
                        </a:rPr>
                        <a:t>Margin vs best KAN (0.0222 %)</a:t>
                      </a:r>
                    </a:p>
                  </a:txBody>
                  <a:tcPr marL="45720" marR="45720" marT="9144" marB="9144">
                    <a:solidFill>
                      <a:srgbClr val="FFFFFF"/>
                    </a:solidFill>
                  </a:tcPr>
                </a:tc>
                <a:tc>
                  <a:txBody>
                    <a:bodyPr wrap="square"/>
                    <a:lstStyle/>
                    <a:p>
                      <a:r>
                        <a:rPr sz="1100" b="1">
                          <a:solidFill>
                            <a:srgbClr val="000000"/>
                          </a:solidFill>
                          <a:latin typeface="Calibri"/>
                        </a:rPr>
                        <a:t>Status</a:t>
                      </a:r>
                    </a:p>
                  </a:txBody>
                  <a:tcPr marL="45720" marR="45720" marT="9144" marB="9144">
                    <a:solidFill>
                      <a:srgbClr val="FFFFFF"/>
                    </a:solidFill>
                  </a:tcPr>
                </a:tc>
              </a:tr>
              <a:tr h="237744">
                <a:tc>
                  <a:txBody>
                    <a:bodyPr wrap="square"/>
                    <a:lstStyle/>
                    <a:p>
                      <a:r>
                        <a:rPr sz="1100" b="0">
                          <a:solidFill>
                            <a:srgbClr val="000000"/>
                          </a:solidFill>
                          <a:latin typeface="Calibri"/>
                        </a:rPr>
                        <a:t>FD nx = 512</a:t>
                      </a:r>
                    </a:p>
                  </a:txBody>
                  <a:tcPr marL="45720" marR="45720" marT="9144" marB="9144">
                    <a:solidFill>
                      <a:srgbClr val="FFFFFF"/>
                    </a:solidFill>
                  </a:tcPr>
                </a:tc>
                <a:tc>
                  <a:txBody>
                    <a:bodyPr wrap="square"/>
                    <a:lstStyle/>
                    <a:p>
                      <a:r>
                        <a:rPr sz="1100" b="0">
                          <a:solidFill>
                            <a:srgbClr val="000000"/>
                          </a:solidFill>
                          <a:latin typeface="Calibri"/>
                        </a:rPr>
                        <a:t>0.1122 %</a:t>
                      </a:r>
                    </a:p>
                  </a:txBody>
                  <a:tcPr marL="45720" marR="45720" marT="9144" marB="9144">
                    <a:solidFill>
                      <a:srgbClr val="FFFFFF"/>
                    </a:solidFill>
                  </a:tcPr>
                </a:tc>
                <a:tc>
                  <a:txBody>
                    <a:bodyPr wrap="square"/>
                    <a:lstStyle/>
                    <a:p>
                      <a:r>
                        <a:rPr sz="1100" b="0">
                          <a:solidFill>
                            <a:srgbClr val="000000"/>
                          </a:solidFill>
                          <a:latin typeface="Calibri"/>
                        </a:rPr>
                        <a:t>0.2×</a:t>
                      </a:r>
                    </a:p>
                  </a:txBody>
                  <a:tcPr marL="45720" marR="45720" marT="9144" marB="9144">
                    <a:solidFill>
                      <a:srgbClr val="FFFFFF"/>
                    </a:solidFill>
                  </a:tcPr>
                </a:tc>
                <a:tc>
                  <a:txBody>
                    <a:bodyPr wrap="square"/>
                    <a:lstStyle/>
                    <a:p>
                      <a:r>
                        <a:rPr sz="1100" b="0">
                          <a:solidFill>
                            <a:srgbClr val="000000"/>
                          </a:solidFill>
                          <a:latin typeface="Calibri"/>
                        </a:rPr>
                        <a:t>unusable — used in phases 3–7</a:t>
                      </a:r>
                    </a:p>
                  </a:txBody>
                  <a:tcPr marL="45720" marR="45720" marT="9144" marB="9144">
                    <a:solidFill>
                      <a:srgbClr val="FFFFFF"/>
                    </a:solidFill>
                  </a:tcPr>
                </a:tc>
              </a:tr>
              <a:tr h="237744">
                <a:tc>
                  <a:txBody>
                    <a:bodyPr wrap="square"/>
                    <a:lstStyle/>
                    <a:p>
                      <a:r>
                        <a:rPr sz="1100" b="0">
                          <a:solidFill>
                            <a:srgbClr val="000000"/>
                          </a:solidFill>
                          <a:latin typeface="Calibri"/>
                        </a:rPr>
                        <a:t>FD nx = 1024</a:t>
                      </a:r>
                    </a:p>
                  </a:txBody>
                  <a:tcPr marL="45720" marR="45720" marT="9144" marB="9144">
                    <a:solidFill>
                      <a:srgbClr val="FFFFFF"/>
                    </a:solidFill>
                  </a:tcPr>
                </a:tc>
                <a:tc>
                  <a:txBody>
                    <a:bodyPr wrap="square"/>
                    <a:lstStyle/>
                    <a:p>
                      <a:r>
                        <a:rPr sz="1100" b="0">
                          <a:solidFill>
                            <a:srgbClr val="000000"/>
                          </a:solidFill>
                          <a:latin typeface="Calibri"/>
                        </a:rPr>
                        <a:t>0.0277 %</a:t>
                      </a:r>
                    </a:p>
                  </a:txBody>
                  <a:tcPr marL="45720" marR="45720" marT="9144" marB="9144">
                    <a:solidFill>
                      <a:srgbClr val="FFFFFF"/>
                    </a:solidFill>
                  </a:tcPr>
                </a:tc>
                <a:tc>
                  <a:txBody>
                    <a:bodyPr wrap="square"/>
                    <a:lstStyle/>
                    <a:p>
                      <a:r>
                        <a:rPr sz="1100" b="0">
                          <a:solidFill>
                            <a:srgbClr val="000000"/>
                          </a:solidFill>
                          <a:latin typeface="Calibri"/>
                        </a:rPr>
                        <a:t>0.9×</a:t>
                      </a:r>
                    </a:p>
                  </a:txBody>
                  <a:tcPr marL="45720" marR="45720" marT="9144" marB="9144">
                    <a:solidFill>
                      <a:srgbClr val="FFFFFF"/>
                    </a:solidFill>
                  </a:tcPr>
                </a:tc>
                <a:tc>
                  <a:txBody>
                    <a:bodyPr wrap="square"/>
                    <a:lstStyle/>
                    <a:p>
                      <a:r>
                        <a:rPr sz="1100" b="0">
                          <a:solidFill>
                            <a:srgbClr val="000000"/>
                          </a:solidFill>
                          <a:latin typeface="Calibri"/>
                        </a:rPr>
                        <a:t>unusable</a:t>
                      </a:r>
                    </a:p>
                  </a:txBody>
                  <a:tcPr marL="45720" marR="45720" marT="9144" marB="9144">
                    <a:solidFill>
                      <a:srgbClr val="FFFFFF"/>
                    </a:solidFill>
                  </a:tcPr>
                </a:tc>
              </a:tr>
              <a:tr h="237744">
                <a:tc>
                  <a:txBody>
                    <a:bodyPr wrap="square"/>
                    <a:lstStyle/>
                    <a:p>
                      <a:r>
                        <a:rPr sz="1100" b="0">
                          <a:solidFill>
                            <a:srgbClr val="000000"/>
                          </a:solidFill>
                          <a:latin typeface="Calibri"/>
                        </a:rPr>
                        <a:t>FD nx = 2048</a:t>
                      </a:r>
                    </a:p>
                  </a:txBody>
                  <a:tcPr marL="45720" marR="45720" marT="9144" marB="9144">
                    <a:solidFill>
                      <a:srgbClr val="FFFFFF"/>
                    </a:solidFill>
                  </a:tcPr>
                </a:tc>
                <a:tc>
                  <a:txBody>
                    <a:bodyPr wrap="square"/>
                    <a:lstStyle/>
                    <a:p>
                      <a:r>
                        <a:rPr sz="1100" b="0">
                          <a:solidFill>
                            <a:srgbClr val="000000"/>
                          </a:solidFill>
                          <a:latin typeface="Calibri"/>
                        </a:rPr>
                        <a:t>0.0066 %</a:t>
                      </a:r>
                    </a:p>
                  </a:txBody>
                  <a:tcPr marL="45720" marR="45720" marT="9144" marB="9144">
                    <a:solidFill>
                      <a:srgbClr val="FFFFFF"/>
                    </a:solidFill>
                  </a:tcPr>
                </a:tc>
                <a:tc>
                  <a:txBody>
                    <a:bodyPr wrap="square"/>
                    <a:lstStyle/>
                    <a:p>
                      <a:r>
                        <a:rPr sz="1100" b="0">
                          <a:solidFill>
                            <a:srgbClr val="000000"/>
                          </a:solidFill>
                          <a:latin typeface="Calibri"/>
                        </a:rPr>
                        <a:t>3.6×</a:t>
                      </a:r>
                    </a:p>
                  </a:txBody>
                  <a:tcPr marL="45720" marR="45720" marT="9144" marB="9144">
                    <a:solidFill>
                      <a:srgbClr val="FFFFFF"/>
                    </a:solidFill>
                  </a:tcPr>
                </a:tc>
                <a:tc>
                  <a:txBody>
                    <a:bodyPr wrap="square"/>
                    <a:lstStyle/>
                    <a:p>
                      <a:r>
                        <a:rPr sz="1100" b="0">
                          <a:solidFill>
                            <a:srgbClr val="000000"/>
                          </a:solidFill>
                          <a:latin typeface="Calibri"/>
                        </a:rPr>
                        <a:t>marginal — used in phases 8–10</a:t>
                      </a:r>
                    </a:p>
                  </a:txBody>
                  <a:tcPr marL="45720" marR="45720" marT="9144" marB="9144">
                    <a:solidFill>
                      <a:srgbClr val="FFFFFF"/>
                    </a:solidFill>
                  </a:tcPr>
                </a:tc>
              </a:tr>
              <a:tr h="237744">
                <a:tc>
                  <a:txBody>
                    <a:bodyPr wrap="square"/>
                    <a:lstStyle/>
                    <a:p>
                      <a:r>
                        <a:rPr sz="1100" b="0">
                          <a:solidFill>
                            <a:srgbClr val="000000"/>
                          </a:solidFill>
                          <a:latin typeface="Calibri"/>
                        </a:rPr>
                        <a:t>FD nx = 4096</a:t>
                      </a:r>
                    </a:p>
                  </a:txBody>
                  <a:tcPr marL="45720" marR="45720" marT="9144" marB="9144">
                    <a:solidFill>
                      <a:srgbClr val="FFFFFF"/>
                    </a:solidFill>
                  </a:tcPr>
                </a:tc>
                <a:tc>
                  <a:txBody>
                    <a:bodyPr wrap="square"/>
                    <a:lstStyle/>
                    <a:p>
                      <a:r>
                        <a:rPr sz="1100" b="0">
                          <a:solidFill>
                            <a:srgbClr val="000000"/>
                          </a:solidFill>
                          <a:latin typeface="Calibri"/>
                        </a:rPr>
                        <a:t>0.0013 %</a:t>
                      </a:r>
                    </a:p>
                  </a:txBody>
                  <a:tcPr marL="45720" marR="45720" marT="9144" marB="9144">
                    <a:solidFill>
                      <a:srgbClr val="FFFFFF"/>
                    </a:solidFill>
                  </a:tcPr>
                </a:tc>
                <a:tc>
                  <a:txBody>
                    <a:bodyPr wrap="square"/>
                    <a:lstStyle/>
                    <a:p>
                      <a:r>
                        <a:rPr sz="1100" b="0">
                          <a:solidFill>
                            <a:srgbClr val="000000"/>
                          </a:solidFill>
                          <a:latin typeface="Calibri"/>
                        </a:rPr>
                        <a:t>17.5×</a:t>
                      </a:r>
                    </a:p>
                  </a:txBody>
                  <a:tcPr marL="45720" marR="45720" marT="9144" marB="9144">
                    <a:solidFill>
                      <a:srgbClr val="FFFFFF"/>
                    </a:solidFill>
                  </a:tcPr>
                </a:tc>
                <a:tc>
                  <a:txBody>
                    <a:bodyPr wrap="square"/>
                    <a:lstStyle/>
                    <a:p>
                      <a:r>
                        <a:rPr sz="1100" b="0">
                          <a:solidFill>
                            <a:srgbClr val="000000"/>
                          </a:solidFill>
                          <a:latin typeface="Calibri"/>
                        </a:rPr>
                        <a:t>adequate</a:t>
                      </a:r>
                    </a:p>
                  </a:txBody>
                  <a:tcPr marL="45720" marR="45720" marT="9144" marB="9144">
                    <a:solidFill>
                      <a:srgbClr val="FFFFFF"/>
                    </a:solidFill>
                  </a:tcPr>
                </a:tc>
              </a:tr>
              <a:tr h="237744">
                <a:tc>
                  <a:txBody>
                    <a:bodyPr wrap="square"/>
                    <a:lstStyle/>
                    <a:p>
                      <a:r>
                        <a:rPr sz="1100" b="0">
                          <a:solidFill>
                            <a:srgbClr val="000000"/>
                          </a:solidFill>
                          <a:latin typeface="Calibri"/>
                        </a:rPr>
                        <a:t>exact d'Alembert</a:t>
                      </a:r>
                    </a:p>
                  </a:txBody>
                  <a:tcPr marL="45720" marR="45720" marT="9144" marB="9144">
                    <a:solidFill>
                      <a:srgbClr val="FFFFFF"/>
                    </a:solidFill>
                  </a:tcPr>
                </a:tc>
                <a:tc>
                  <a:txBody>
                    <a:bodyPr wrap="square"/>
                    <a:lstStyle/>
                    <a:p>
                      <a:r>
                        <a:rPr sz="1100" b="0">
                          <a:solidFill>
                            <a:srgbClr val="000000"/>
                          </a:solidFill>
                          <a:latin typeface="Calibri"/>
                        </a:rPr>
                        <a:t>0 (closed form)</a:t>
                      </a:r>
                    </a:p>
                  </a:txBody>
                  <a:tcPr marL="45720" marR="45720" marT="9144" marB="9144">
                    <a:solidFill>
                      <a:srgbClr val="FFFFFF"/>
                    </a:solidFill>
                  </a:tcPr>
                </a:tc>
                <a:tc>
                  <a:txBody>
                    <a:bodyPr wrap="square"/>
                    <a:lstStyle/>
                    <a:p>
                      <a:r>
                        <a:rPr sz="1100" b="0">
                          <a:solidFill>
                            <a:srgbClr val="000000"/>
                          </a:solidFill>
                          <a:latin typeface="Calibri"/>
                        </a:rPr>
                        <a:t>infinite</a:t>
                      </a:r>
                    </a:p>
                  </a:txBody>
                  <a:tcPr marL="45720" marR="45720" marT="9144" marB="9144">
                    <a:solidFill>
                      <a:srgbClr val="FFFFFF"/>
                    </a:solidFill>
                  </a:tcPr>
                </a:tc>
                <a:tc>
                  <a:txBody>
                    <a:bodyPr wrap="square"/>
                    <a:lstStyle/>
                    <a:p>
                      <a:r>
                        <a:rPr sz="1100" b="0">
                          <a:solidFill>
                            <a:srgbClr val="000000"/>
                          </a:solidFill>
                          <a:latin typeface="Calibri"/>
                        </a:rPr>
                        <a:t>used for the headline result</a:t>
                      </a:r>
                    </a:p>
                  </a:txBody>
                  <a:tcPr marL="45720" marR="45720" marT="9144" marB="9144">
                    <a:solidFill>
                      <a:srgbClr val="FFFFFF"/>
                    </a:solidFill>
                  </a:tcPr>
                </a:tc>
              </a:tr>
            </a:tbl>
          </a:graphicData>
        </a:graphic>
      </p:graphicFrame>
      <p:sp>
        <p:nvSpPr>
          <p:cNvPr id="7" name="TextBox 6"/>
          <p:cNvSpPr txBox="1"/>
          <p:nvPr/>
        </p:nvSpPr>
        <p:spPr>
          <a:xfrm>
            <a:off x="502920" y="4160520"/>
            <a:ext cx="11247120" cy="2423160"/>
          </a:xfrm>
          <a:prstGeom prst="rect">
            <a:avLst/>
          </a:prstGeom>
          <a:noFill/>
        </p:spPr>
        <p:txBody>
          <a:bodyPr wrap="square">
            <a:spAutoFit/>
          </a:bodyPr>
          <a:lstStyle/>
          <a:p>
            <a:pPr>
              <a:spcAft>
                <a:spcPts val="800"/>
              </a:spcAft>
            </a:pPr>
            <a:r>
              <a:rPr sz="1300" b="1">
                <a:solidFill>
                  <a:srgbClr val="000000"/>
                </a:solidFill>
                <a:latin typeface="Calibri"/>
              </a:rPr>
              <a:t>• This bit us twice. At nx = 512 the reference error EQUALLED the model error, compressing a true 1.424× gap into a displayed 1.018×.</a:t>
            </a:r>
          </a:p>
          <a:p>
            <a:pPr>
              <a:spcAft>
                <a:spcPts val="800"/>
              </a:spcAft>
            </a:pPr>
            <a:r>
              <a:rPr sz="1300" b="0">
                <a:solidFill>
                  <a:srgbClr val="000000"/>
                </a:solidFill>
                <a:latin typeface="Calibri"/>
              </a:rPr>
              <a:t>• At nx = 2048 the margin was ~20× when chosen — and silently decayed to 3.6× because the models improved 5×. Nothing broke; no test caught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Statistical constraints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Why one training run tells you nothing</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400" b="0">
                <a:solidFill>
                  <a:srgbClr val="000000"/>
                </a:solidFill>
                <a:latin typeface="Calibri"/>
              </a:rPr>
              <a:t>• A seed = one full training run; different random initialisation and Sobol scramble. Same architecture, same data, same optimiser — only luck differs.</a:t>
            </a:r>
          </a:p>
          <a:p>
            <a:pPr>
              <a:spcAft>
                <a:spcPts val="800"/>
              </a:spcAft>
            </a:pPr>
            <a:r>
              <a:rPr sz="1400" b="1">
                <a:solidFill>
                  <a:srgbClr val="000000"/>
                </a:solidFill>
                <a:latin typeface="Calibri"/>
              </a:rPr>
              <a:t>• Five separate findings in this project dissolved when the seed count was raised. Nothing at n &lt; 11 is quoted without its n.</a:t>
            </a:r>
          </a:p>
        </p:txBody>
      </p:sp>
      <p:graphicFrame>
        <p:nvGraphicFramePr>
          <p:cNvPr id="6" name="Table 5"/>
          <p:cNvGraphicFramePr>
            <a:graphicFrameLocks noGrp="1"/>
          </p:cNvGraphicFramePr>
          <p:nvPr/>
        </p:nvGraphicFramePr>
        <p:xfrm>
          <a:off x="502920" y="2743200"/>
          <a:ext cx="11247120" cy="1188720"/>
        </p:xfrm>
        <a:graphic>
          <a:graphicData uri="http://schemas.openxmlformats.org/drawingml/2006/table">
            <a:tbl>
              <a:tblPr firstRow="1">
                <a:tableStyleId>{5C22544A-7EE6-4342-B048-85BDC9FD1C3A}</a:tableStyleId>
              </a:tblPr>
              <a:tblGrid>
                <a:gridCol w="2011680"/>
                <a:gridCol w="4206240"/>
                <a:gridCol w="5029200"/>
              </a:tblGrid>
              <a:tr h="237744">
                <a:tc>
                  <a:txBody>
                    <a:bodyPr wrap="square"/>
                    <a:lstStyle/>
                    <a:p>
                      <a:r>
                        <a:rPr sz="1100" b="1">
                          <a:solidFill>
                            <a:srgbClr val="000000"/>
                          </a:solidFill>
                          <a:latin typeface="Calibri"/>
                        </a:rPr>
                        <a:t>Test</a:t>
                      </a:r>
                    </a:p>
                  </a:txBody>
                  <a:tcPr marL="45720" marR="45720" marT="9144" marB="9144">
                    <a:solidFill>
                      <a:srgbClr val="FFFFFF"/>
                    </a:solidFill>
                  </a:tcPr>
                </a:tc>
                <a:tc>
                  <a:txBody>
                    <a:bodyPr wrap="square"/>
                    <a:lstStyle/>
                    <a:p>
                      <a:r>
                        <a:rPr sz="1100" b="1">
                          <a:solidFill>
                            <a:srgbClr val="000000"/>
                          </a:solidFill>
                          <a:latin typeface="Calibri"/>
                        </a:rPr>
                        <a:t>Question it answers</a:t>
                      </a:r>
                    </a:p>
                  </a:txBody>
                  <a:tcPr marL="45720" marR="45720" marT="9144" marB="9144">
                    <a:solidFill>
                      <a:srgbClr val="FFFFFF"/>
                    </a:solidFill>
                  </a:tcPr>
                </a:tc>
                <a:tc>
                  <a:txBody>
                    <a:bodyPr wrap="square"/>
                    <a:lstStyle/>
                    <a:p>
                      <a:r>
                        <a:rPr sz="1100" b="1">
                          <a:solidFill>
                            <a:srgbClr val="000000"/>
                          </a:solidFill>
                          <a:latin typeface="Calibri"/>
                        </a:rPr>
                        <a:t>Why used here</a:t>
                      </a:r>
                    </a:p>
                  </a:txBody>
                  <a:tcPr marL="45720" marR="45720" marT="9144" marB="9144">
                    <a:solidFill>
                      <a:srgbClr val="FFFFFF"/>
                    </a:solidFill>
                  </a:tcPr>
                </a:tc>
              </a:tr>
              <a:tr h="237744">
                <a:tc>
                  <a:txBody>
                    <a:bodyPr wrap="square"/>
                    <a:lstStyle/>
                    <a:p>
                      <a:r>
                        <a:rPr sz="1100" b="0">
                          <a:solidFill>
                            <a:srgbClr val="000000"/>
                          </a:solidFill>
                          <a:latin typeface="Calibri"/>
                        </a:rPr>
                        <a:t>Welch t-test</a:t>
                      </a:r>
                    </a:p>
                  </a:txBody>
                  <a:tcPr marL="45720" marR="45720" marT="9144" marB="9144">
                    <a:solidFill>
                      <a:srgbClr val="FFFFFF"/>
                    </a:solidFill>
                  </a:tcPr>
                </a:tc>
                <a:tc>
                  <a:txBody>
                    <a:bodyPr wrap="square"/>
                    <a:lstStyle/>
                    <a:p>
                      <a:r>
                        <a:rPr sz="1100" b="0">
                          <a:solidFill>
                            <a:srgbClr val="000000"/>
                          </a:solidFill>
                          <a:latin typeface="Calibri"/>
                        </a:rPr>
                        <a:t>are the two averages different?</a:t>
                      </a:r>
                    </a:p>
                  </a:txBody>
                  <a:tcPr marL="45720" marR="45720" marT="9144" marB="9144">
                    <a:solidFill>
                      <a:srgbClr val="FFFFFF"/>
                    </a:solidFill>
                  </a:tcPr>
                </a:tc>
                <a:tc>
                  <a:txBody>
                    <a:bodyPr wrap="square"/>
                    <a:lstStyle/>
                    <a:p>
                      <a:r>
                        <a:rPr sz="1100" b="0">
                          <a:solidFill>
                            <a:srgbClr val="000000"/>
                          </a:solidFill>
                          <a:latin typeface="Calibri"/>
                        </a:rPr>
                        <a:t>does not assume equal spread — ours differ</a:t>
                      </a:r>
                    </a:p>
                  </a:txBody>
                  <a:tcPr marL="45720" marR="45720" marT="9144" marB="9144">
                    <a:solidFill>
                      <a:srgbClr val="FFFFFF"/>
                    </a:solidFill>
                  </a:tcPr>
                </a:tc>
              </a:tr>
              <a:tr h="237744">
                <a:tc>
                  <a:txBody>
                    <a:bodyPr wrap="square"/>
                    <a:lstStyle/>
                    <a:p>
                      <a:r>
                        <a:rPr sz="1100" b="0">
                          <a:solidFill>
                            <a:srgbClr val="000000"/>
                          </a:solidFill>
                          <a:latin typeface="Calibri"/>
                        </a:rPr>
                        <a:t>Mann-Whitney U</a:t>
                      </a:r>
                    </a:p>
                  </a:txBody>
                  <a:tcPr marL="45720" marR="45720" marT="9144" marB="9144">
                    <a:solidFill>
                      <a:srgbClr val="FFFFFF"/>
                    </a:solidFill>
                  </a:tcPr>
                </a:tc>
                <a:tc>
                  <a:txBody>
                    <a:bodyPr wrap="square"/>
                    <a:lstStyle/>
                    <a:p>
                      <a:r>
                        <a:rPr sz="1100" b="0">
                          <a:solidFill>
                            <a:srgbClr val="000000"/>
                          </a:solidFill>
                          <a:latin typeface="Calibri"/>
                        </a:rPr>
                        <a:t>is one group systematically ranked higher?</a:t>
                      </a:r>
                    </a:p>
                  </a:txBody>
                  <a:tcPr marL="45720" marR="45720" marT="9144" marB="9144">
                    <a:solidFill>
                      <a:srgbClr val="FFFFFF"/>
                    </a:solidFill>
                  </a:tcPr>
                </a:tc>
                <a:tc>
                  <a:txBody>
                    <a:bodyPr wrap="square"/>
                    <a:lstStyle/>
                    <a:p>
                      <a:r>
                        <a:rPr sz="1100" b="0">
                          <a:solidFill>
                            <a:srgbClr val="000000"/>
                          </a:solidFill>
                          <a:latin typeface="Calibri"/>
                        </a:rPr>
                        <a:t>no assumption the data is bell-shaped</a:t>
                      </a:r>
                    </a:p>
                  </a:txBody>
                  <a:tcPr marL="45720" marR="45720" marT="9144" marB="9144">
                    <a:solidFill>
                      <a:srgbClr val="FFFFFF"/>
                    </a:solidFill>
                  </a:tcPr>
                </a:tc>
              </a:tr>
              <a:tr h="237744">
                <a:tc>
                  <a:txBody>
                    <a:bodyPr wrap="square"/>
                    <a:lstStyle/>
                    <a:p>
                      <a:r>
                        <a:rPr sz="1100" b="0">
                          <a:solidFill>
                            <a:srgbClr val="000000"/>
                          </a:solidFill>
                          <a:latin typeface="Calibri"/>
                        </a:rPr>
                        <a:t>paired Wilcoxon</a:t>
                      </a:r>
                    </a:p>
                  </a:txBody>
                  <a:tcPr marL="45720" marR="45720" marT="9144" marB="9144">
                    <a:solidFill>
                      <a:srgbClr val="FFFFFF"/>
                    </a:solidFill>
                  </a:tcPr>
                </a:tc>
                <a:tc>
                  <a:txBody>
                    <a:bodyPr wrap="square"/>
                    <a:lstStyle/>
                    <a:p>
                      <a:r>
                        <a:rPr sz="1100" b="0">
                          <a:solidFill>
                            <a:srgbClr val="000000"/>
                          </a:solidFill>
                          <a:latin typeface="Calibri"/>
                        </a:rPr>
                        <a:t>seed by seed, does one win more often and by more?</a:t>
                      </a:r>
                    </a:p>
                  </a:txBody>
                  <a:tcPr marL="45720" marR="45720" marT="9144" marB="9144">
                    <a:solidFill>
                      <a:srgbClr val="FFFFFF"/>
                    </a:solidFill>
                  </a:tcPr>
                </a:tc>
                <a:tc>
                  <a:txBody>
                    <a:bodyPr wrap="square"/>
                    <a:lstStyle/>
                    <a:p>
                      <a:r>
                        <a:rPr sz="1100" b="0">
                          <a:solidFill>
                            <a:srgbClr val="000000"/>
                          </a:solidFill>
                          <a:latin typeface="Calibri"/>
                        </a:rPr>
                        <a:t>our arms share seeds AND collocation sets, so pairing removes shared noise</a:t>
                      </a:r>
                    </a:p>
                  </a:txBody>
                  <a:tcPr marL="45720" marR="45720" marT="9144" marB="9144">
                    <a:solidFill>
                      <a:srgbClr val="FFFFFF"/>
                    </a:solidFill>
                  </a:tcPr>
                </a:tc>
              </a:tr>
              <a:tr h="237744">
                <a:tc>
                  <a:txBody>
                    <a:bodyPr wrap="square"/>
                    <a:lstStyle/>
                    <a:p>
                      <a:r>
                        <a:rPr sz="1100" b="0">
                          <a:solidFill>
                            <a:srgbClr val="000000"/>
                          </a:solidFill>
                          <a:latin typeface="Calibri"/>
                        </a:rPr>
                        <a:t>Levene</a:t>
                      </a:r>
                    </a:p>
                  </a:txBody>
                  <a:tcPr marL="45720" marR="45720" marT="9144" marB="9144">
                    <a:solidFill>
                      <a:srgbClr val="FFFFFF"/>
                    </a:solidFill>
                  </a:tcPr>
                </a:tc>
                <a:tc>
                  <a:txBody>
                    <a:bodyPr wrap="square"/>
                    <a:lstStyle/>
                    <a:p>
                      <a:r>
                        <a:rPr sz="1100" b="0">
                          <a:solidFill>
                            <a:srgbClr val="000000"/>
                          </a:solidFill>
                          <a:latin typeface="Calibri"/>
                        </a:rPr>
                        <a:t>are the two spreads different?</a:t>
                      </a:r>
                    </a:p>
                  </a:txBody>
                  <a:tcPr marL="45720" marR="45720" marT="9144" marB="9144">
                    <a:solidFill>
                      <a:srgbClr val="FFFFFF"/>
                    </a:solidFill>
                  </a:tcPr>
                </a:tc>
                <a:tc>
                  <a:txBody>
                    <a:bodyPr wrap="square"/>
                    <a:lstStyle/>
                    <a:p>
                      <a:r>
                        <a:rPr sz="1100" b="0">
                          <a:solidFill>
                            <a:srgbClr val="000000"/>
                          </a:solidFill>
                          <a:latin typeface="Calibri"/>
                        </a:rPr>
                        <a:t>the KAN's inconsistency was the main argument against it</a:t>
                      </a:r>
                    </a:p>
                  </a:txBody>
                  <a:tcPr marL="45720" marR="45720" marT="9144" marB="9144">
                    <a:solidFill>
                      <a:srgbClr val="FFFFFF"/>
                    </a:solidFill>
                  </a:tcPr>
                </a:tc>
              </a:tr>
            </a:tbl>
          </a:graphicData>
        </a:graphic>
      </p:graphicFrame>
      <p:sp>
        <p:nvSpPr>
          <p:cNvPr id="7" name="TextBox 6"/>
          <p:cNvSpPr txBox="1"/>
          <p:nvPr/>
        </p:nvSpPr>
        <p:spPr>
          <a:xfrm>
            <a:off x="502920" y="4251960"/>
            <a:ext cx="11247120" cy="2331720"/>
          </a:xfrm>
          <a:prstGeom prst="rect">
            <a:avLst/>
          </a:prstGeom>
          <a:noFill/>
        </p:spPr>
        <p:txBody>
          <a:bodyPr wrap="square">
            <a:spAutoFit/>
          </a:bodyPr>
          <a:lstStyle/>
          <a:p>
            <a:pPr>
              <a:spcAft>
                <a:spcPts val="800"/>
              </a:spcAft>
            </a:pPr>
            <a:r>
              <a:rPr sz="1300" b="0">
                <a:solidFill>
                  <a:srgbClr val="000000"/>
                </a:solidFill>
                <a:latin typeface="Calibri"/>
              </a:rPr>
              <a:t>• p = probability of seeing a difference this large if there were truly none. p &lt; 0.05 is convention, not law; 0.049 and 0.051 mean nearly the same thing.</a:t>
            </a:r>
          </a:p>
          <a:p>
            <a:pPr>
              <a:spcAft>
                <a:spcPts val="800"/>
              </a:spcAft>
            </a:pPr>
            <a:r>
              <a:rPr sz="1300" b="1">
                <a:solidFill>
                  <a:srgbClr val="000000"/>
                </a:solidFill>
                <a:latin typeface="Calibri"/>
              </a:rPr>
              <a:t>• Comparison arms are named before the data is examined. One earlier test picked the three lowest KAN values then asked whether they were low (p = 0.0000, meaningless). It is retracted.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0"/>
            <a:ext cx="11338560" cy="1280160"/>
          </a:xfrm>
          <a:prstGeom prst="rect">
            <a:avLst/>
          </a:prstGeom>
          <a:noFill/>
        </p:spPr>
        <p:txBody>
          <a:bodyPr wrap="none">
            <a:spAutoFit/>
          </a:bodyPr>
          <a:lstStyle/>
          <a:p>
            <a:r>
              <a:rPr sz="1400">
                <a:solidFill>
                  <a:srgbClr val="606060"/>
                </a:solidFill>
                <a:latin typeface="Calibri"/>
              </a:rPr>
              <a:t>PART C</a:t>
            </a:r>
          </a:p>
          <a:p>
            <a:r>
              <a:rPr sz="3200" b="1">
                <a:solidFill>
                  <a:srgbClr val="000000"/>
                </a:solidFill>
                <a:latin typeface="Calibri"/>
              </a:rPr>
              <a:t>Previous Work — The Inherited Repository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What existed before</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repository this study was asked to draw conclusions from</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19" cy="1188720"/>
        </p:xfrm>
        <a:graphic>
          <a:graphicData uri="http://schemas.openxmlformats.org/drawingml/2006/table">
            <a:tbl>
              <a:tblPr firstRow="1">
                <a:tableStyleId>{5C22544A-7EE6-4342-B048-85BDC9FD1C3A}</a:tableStyleId>
              </a:tblPr>
              <a:tblGrid>
                <a:gridCol w="2377440"/>
                <a:gridCol w="5120640"/>
                <a:gridCol w="3749039"/>
              </a:tblGrid>
              <a:tr h="237744">
                <a:tc>
                  <a:txBody>
                    <a:bodyPr wrap="square"/>
                    <a:lstStyle/>
                    <a:p>
                      <a:r>
                        <a:rPr sz="1100" b="1">
                          <a:solidFill>
                            <a:srgbClr val="000000"/>
                          </a:solidFill>
                          <a:latin typeface="Calibri"/>
                        </a:rPr>
                        <a:t>Component</a:t>
                      </a:r>
                    </a:p>
                  </a:txBody>
                  <a:tcPr marL="45720" marR="45720" marT="9144" marB="9144">
                    <a:solidFill>
                      <a:srgbClr val="FFFFFF"/>
                    </a:solidFill>
                  </a:tcPr>
                </a:tc>
                <a:tc>
                  <a:txBody>
                    <a:bodyPr wrap="square"/>
                    <a:lstStyle/>
                    <a:p>
                      <a:r>
                        <a:rPr sz="1100" b="1">
                          <a:solidFill>
                            <a:srgbClr val="000000"/>
                          </a:solidFill>
                          <a:latin typeface="Calibri"/>
                        </a:rPr>
                        <a:t>Contents</a:t>
                      </a:r>
                    </a:p>
                  </a:txBody>
                  <a:tcPr marL="45720" marR="45720" marT="9144" marB="9144">
                    <a:solidFill>
                      <a:srgbClr val="FFFFFF"/>
                    </a:solidFill>
                  </a:tcPr>
                </a:tc>
                <a:tc>
                  <a:txBody>
                    <a:bodyPr wrap="square"/>
                    <a:lstStyle/>
                    <a:p>
                      <a:r>
                        <a:rPr sz="1100" b="1">
                          <a:solidFill>
                            <a:srgbClr val="000000"/>
                          </a:solidFill>
                          <a:latin typeface="Calibri"/>
                        </a:rPr>
                        <a:t>Purpose</a:t>
                      </a:r>
                    </a:p>
                  </a:txBody>
                  <a:tcPr marL="45720" marR="45720" marT="9144" marB="9144">
                    <a:solidFill>
                      <a:srgbClr val="FFFFFF"/>
                    </a:solidFill>
                  </a:tcPr>
                </a:tc>
              </a:tr>
              <a:tr h="237744">
                <a:tc>
                  <a:txBody>
                    <a:bodyPr wrap="square"/>
                    <a:lstStyle/>
                    <a:p>
                      <a:r>
                        <a:rPr sz="1100" b="0">
                          <a:solidFill>
                            <a:srgbClr val="000000"/>
                          </a:solidFill>
                          <a:latin typeface="Calibri"/>
                        </a:rPr>
                        <a:t>Numerical methods/</a:t>
                      </a:r>
                    </a:p>
                  </a:txBody>
                  <a:tcPr marL="45720" marR="45720" marT="9144" marB="9144">
                    <a:solidFill>
                      <a:srgbClr val="FFFFFF"/>
                    </a:solidFill>
                  </a:tcPr>
                </a:tc>
                <a:tc>
                  <a:txBody>
                    <a:bodyPr wrap="square"/>
                    <a:lstStyle/>
                    <a:p>
                      <a:r>
                        <a:rPr sz="1100" b="0">
                          <a:solidFill>
                            <a:srgbClr val="000000"/>
                          </a:solidFill>
                          <a:latin typeface="Calibri"/>
                        </a:rPr>
                        <a:t>6 solvers: FD, pseudo-spectral, SEM, FVM, FEM, DG</a:t>
                      </a:r>
                    </a:p>
                  </a:txBody>
                  <a:tcPr marL="45720" marR="45720" marT="9144" marB="9144">
                    <a:solidFill>
                      <a:srgbClr val="FFFFFF"/>
                    </a:solidFill>
                  </a:tcPr>
                </a:tc>
                <a:tc>
                  <a:txBody>
                    <a:bodyPr wrap="square"/>
                    <a:lstStyle/>
                    <a:p>
                      <a:r>
                        <a:rPr sz="1100" b="0">
                          <a:solidFill>
                            <a:srgbClr val="000000"/>
                          </a:solidFill>
                          <a:latin typeface="Calibri"/>
                        </a:rPr>
                        <a:t>reference solutions and cross-validation</a:t>
                      </a:r>
                    </a:p>
                  </a:txBody>
                  <a:tcPr marL="45720" marR="45720" marT="9144" marB="9144">
                    <a:solidFill>
                      <a:srgbClr val="FFFFFF"/>
                    </a:solidFill>
                  </a:tcPr>
                </a:tc>
              </a:tr>
              <a:tr h="237744">
                <a:tc>
                  <a:txBody>
                    <a:bodyPr wrap="square"/>
                    <a:lstStyle/>
                    <a:p>
                      <a:r>
                        <a:rPr sz="1100" b="0">
                          <a:solidFill>
                            <a:srgbClr val="000000"/>
                          </a:solidFill>
                          <a:latin typeface="Calibri"/>
                        </a:rPr>
                        <a:t>ML/src/</a:t>
                      </a:r>
                    </a:p>
                  </a:txBody>
                  <a:tcPr marL="45720" marR="45720" marT="9144" marB="9144">
                    <a:solidFill>
                      <a:srgbClr val="FFFFFF"/>
                    </a:solidFill>
                  </a:tcPr>
                </a:tc>
                <a:tc>
                  <a:txBody>
                    <a:bodyPr wrap="square"/>
                    <a:lstStyle/>
                    <a:p>
                      <a:r>
                        <a:rPr sz="1100" b="0">
                          <a:solidFill>
                            <a:srgbClr val="000000"/>
                          </a:solidFill>
                          <a:latin typeface="Calibri"/>
                        </a:rPr>
                        <a:t>PINN training stack — losses, ansatz, training loop, benchmark</a:t>
                      </a:r>
                    </a:p>
                  </a:txBody>
                  <a:tcPr marL="45720" marR="45720" marT="9144" marB="9144">
                    <a:solidFill>
                      <a:srgbClr val="FFFFFF"/>
                    </a:solidFill>
                  </a:tcPr>
                </a:tc>
                <a:tc>
                  <a:txBody>
                    <a:bodyPr wrap="square"/>
                    <a:lstStyle/>
                    <a:p>
                      <a:r>
                        <a:rPr sz="1100" b="0">
                          <a:solidFill>
                            <a:srgbClr val="000000"/>
                          </a:solidFill>
                          <a:latin typeface="Calibri"/>
                        </a:rPr>
                        <a:t>the PINN arm</a:t>
                      </a:r>
                    </a:p>
                  </a:txBody>
                  <a:tcPr marL="45720" marR="45720" marT="9144" marB="9144">
                    <a:solidFill>
                      <a:srgbClr val="FFFFFF"/>
                    </a:solidFill>
                  </a:tcPr>
                </a:tc>
              </a:tr>
              <a:tr h="237744">
                <a:tc>
                  <a:txBody>
                    <a:bodyPr wrap="square"/>
                    <a:lstStyle/>
                    <a:p>
                      <a:r>
                        <a:rPr sz="1100" b="0">
                          <a:solidFill>
                            <a:srgbClr val="000000"/>
                          </a:solidFill>
                          <a:latin typeface="Calibri"/>
                        </a:rPr>
                        <a:t>ML/PIKAN.py</a:t>
                      </a:r>
                    </a:p>
                  </a:txBody>
                  <a:tcPr marL="45720" marR="45720" marT="9144" marB="9144">
                    <a:solidFill>
                      <a:srgbClr val="FFFFFF"/>
                    </a:solidFill>
                  </a:tcPr>
                </a:tc>
                <a:tc>
                  <a:txBody>
                    <a:bodyPr wrap="square"/>
                    <a:lstStyle/>
                    <a:p>
                      <a:r>
                        <a:rPr sz="1100" b="0">
                          <a:solidFill>
                            <a:srgbClr val="000000"/>
                          </a:solidFill>
                          <a:latin typeface="Calibri"/>
                        </a:rPr>
                        <a:t>a separate, parallel KAN training stack</a:t>
                      </a:r>
                    </a:p>
                  </a:txBody>
                  <a:tcPr marL="45720" marR="45720" marT="9144" marB="9144">
                    <a:solidFill>
                      <a:srgbClr val="FFFFFF"/>
                    </a:solidFill>
                  </a:tcPr>
                </a:tc>
                <a:tc>
                  <a:txBody>
                    <a:bodyPr wrap="square"/>
                    <a:lstStyle/>
                    <a:p>
                      <a:r>
                        <a:rPr sz="1100" b="0">
                          <a:solidFill>
                            <a:srgbClr val="000000"/>
                          </a:solidFill>
                          <a:latin typeface="Calibri"/>
                        </a:rPr>
                        <a:t>the KAN arm</a:t>
                      </a:r>
                    </a:p>
                  </a:txBody>
                  <a:tcPr marL="45720" marR="45720" marT="9144" marB="9144">
                    <a:solidFill>
                      <a:srgbClr val="FFFFFF"/>
                    </a:solidFill>
                  </a:tcPr>
                </a:tc>
              </a:tr>
              <a:tr h="237744">
                <a:tc>
                  <a:txBody>
                    <a:bodyPr wrap="square"/>
                    <a:lstStyle/>
                    <a:p>
                      <a:r>
                        <a:rPr sz="1100" b="0">
                          <a:solidFill>
                            <a:srgbClr val="000000"/>
                          </a:solidFill>
                          <a:latin typeface="Calibri"/>
                        </a:rPr>
                        <a:t>ML/training_code*.py</a:t>
                      </a:r>
                    </a:p>
                  </a:txBody>
                  <a:tcPr marL="45720" marR="45720" marT="9144" marB="9144">
                    <a:solidFill>
                      <a:srgbClr val="FFFFFF"/>
                    </a:solidFill>
                  </a:tcPr>
                </a:tc>
                <a:tc>
                  <a:txBody>
                    <a:bodyPr wrap="square"/>
                    <a:lstStyle/>
                    <a:p>
                      <a:r>
                        <a:rPr sz="1100" b="0">
                          <a:solidFill>
                            <a:srgbClr val="000000"/>
                          </a:solidFill>
                          <a:latin typeface="Calibri"/>
                        </a:rPr>
                        <a:t>head-to-head comparison drivers</a:t>
                      </a:r>
                    </a:p>
                  </a:txBody>
                  <a:tcPr marL="45720" marR="45720" marT="9144" marB="9144">
                    <a:solidFill>
                      <a:srgbClr val="FFFFFF"/>
                    </a:solidFill>
                  </a:tcPr>
                </a:tc>
                <a:tc>
                  <a:txBody>
                    <a:bodyPr wrap="square"/>
                    <a:lstStyle/>
                    <a:p>
                      <a:r>
                        <a:rPr sz="1100" b="0">
                          <a:solidFill>
                            <a:srgbClr val="000000"/>
                          </a:solidFill>
                          <a:latin typeface="Calibri"/>
                        </a:rPr>
                        <a:t>the actual PINN-vs-KAN experiment</a:t>
                      </a:r>
                    </a:p>
                  </a:txBody>
                  <a:tcPr marL="45720" marR="45720" marT="9144" marB="9144">
                    <a:solidFill>
                      <a:srgbClr val="FFFFFF"/>
                    </a:solidFill>
                  </a:tcPr>
                </a:tc>
              </a:tr>
            </a:tbl>
          </a:graphicData>
        </a:graphic>
      </p:graphicFrame>
      <p:sp>
        <p:nvSpPr>
          <p:cNvPr id="6" name="TextBox 5"/>
          <p:cNvSpPr txBox="1"/>
          <p:nvPr/>
        </p:nvSpPr>
        <p:spPr>
          <a:xfrm>
            <a:off x="502920" y="2971800"/>
            <a:ext cx="11247120" cy="3611880"/>
          </a:xfrm>
          <a:prstGeom prst="rect">
            <a:avLst/>
          </a:prstGeom>
          <a:noFill/>
        </p:spPr>
        <p:txBody>
          <a:bodyPr wrap="square">
            <a:spAutoFit/>
          </a:bodyPr>
          <a:lstStyle/>
          <a:p>
            <a:pPr>
              <a:spcAft>
                <a:spcPts val="800"/>
              </a:spcAft>
            </a:pPr>
            <a:r>
              <a:rPr sz="1400" b="1">
                <a:solidFill>
                  <a:srgbClr val="000000"/>
                </a:solidFill>
                <a:latin typeface="Calibri"/>
              </a:rPr>
              <a:t>• Two parallel, incompatible training stacks. The PINN path and the KAN path did not share the residual, the loss balancing, the optimiser schedule, or the reference solution.</a:t>
            </a:r>
          </a:p>
          <a:p>
            <a:pPr>
              <a:spcAft>
                <a:spcPts val="800"/>
              </a:spcAft>
            </a:pPr>
            <a:r>
              <a:rPr sz="1400" b="1">
                <a:solidFill>
                  <a:srgbClr val="000000"/>
                </a:solidFill>
                <a:latin typeface="Calibri"/>
              </a:rPr>
              <a:t>• 18 defects were found and reproduced by execution (recorded in AUDIT.md, summarised over the next three slides).</a:t>
            </a:r>
          </a:p>
          <a:p>
            <a:pPr>
              <a:spcAft>
                <a:spcPts val="800"/>
              </a:spcAft>
            </a:pPr>
            <a:r>
              <a:rPr sz="1400" b="1">
                <a:solidFill>
                  <a:srgbClr val="000000"/>
                </a:solidFill>
                <a:latin typeface="Calibri"/>
              </a:rPr>
              <a:t>• Conclusion of the audit: the repository had never run a valid PINN-vs-KAN comparison. Not that the answer was wrong — that no answer had been produced.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Previous work — ML defects (1 of 2)</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Each reproduced by execution; see AUDIT.md §4</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664208"/>
        </p:xfrm>
        <a:graphic>
          <a:graphicData uri="http://schemas.openxmlformats.org/drawingml/2006/table">
            <a:tbl>
              <a:tblPr firstRow="1">
                <a:tableStyleId>{5C22544A-7EE6-4342-B048-85BDC9FD1C3A}</a:tableStyleId>
              </a:tblPr>
              <a:tblGrid>
                <a:gridCol w="457200"/>
                <a:gridCol w="3657600"/>
                <a:gridCol w="2194560"/>
                <a:gridCol w="4937760"/>
              </a:tblGrid>
              <a:tr h="237744">
                <a:tc>
                  <a:txBody>
                    <a:bodyPr wrap="square"/>
                    <a:lstStyle/>
                    <a:p>
                      <a:r>
                        <a:rPr sz="950" b="1">
                          <a:solidFill>
                            <a:srgbClr val="000000"/>
                          </a:solidFill>
                          <a:latin typeface="Calibri"/>
                        </a:rPr>
                        <a:t>#</a:t>
                      </a:r>
                    </a:p>
                  </a:txBody>
                  <a:tcPr marL="45720" marR="45720" marT="9144" marB="9144">
                    <a:solidFill>
                      <a:srgbClr val="FFFFFF"/>
                    </a:solidFill>
                  </a:tcPr>
                </a:tc>
                <a:tc>
                  <a:txBody>
                    <a:bodyPr wrap="square"/>
                    <a:lstStyle/>
                    <a:p>
                      <a:r>
                        <a:rPr sz="950" b="1">
                          <a:solidFill>
                            <a:srgbClr val="000000"/>
                          </a:solidFill>
                          <a:latin typeface="Calibri"/>
                        </a:rPr>
                        <a:t>Defect</a:t>
                      </a:r>
                    </a:p>
                  </a:txBody>
                  <a:tcPr marL="45720" marR="45720" marT="9144" marB="9144">
                    <a:solidFill>
                      <a:srgbClr val="FFFFFF"/>
                    </a:solidFill>
                  </a:tcPr>
                </a:tc>
                <a:tc>
                  <a:txBody>
                    <a:bodyPr wrap="square"/>
                    <a:lstStyle/>
                    <a:p>
                      <a:r>
                        <a:rPr sz="950" b="1">
                          <a:solidFill>
                            <a:srgbClr val="000000"/>
                          </a:solidFill>
                          <a:latin typeface="Calibri"/>
                        </a:rPr>
                        <a:t>Location</a:t>
                      </a:r>
                    </a:p>
                  </a:txBody>
                  <a:tcPr marL="45720" marR="45720" marT="9144" marB="9144">
                    <a:solidFill>
                      <a:srgbClr val="FFFFFF"/>
                    </a:solidFill>
                  </a:tcPr>
                </a:tc>
                <a:tc>
                  <a:txBody>
                    <a:bodyPr wrap="square"/>
                    <a:lstStyle/>
                    <a:p>
                      <a:r>
                        <a:rPr sz="950" b="1">
                          <a:solidFill>
                            <a:srgbClr val="000000"/>
                          </a:solidFill>
                          <a:latin typeface="Calibri"/>
                        </a:rPr>
                        <a:t>Consequence</a:t>
                      </a:r>
                    </a:p>
                  </a:txBody>
                  <a:tcPr marL="45720" marR="45720" marT="9144" marB="9144">
                    <a:solidFill>
                      <a:srgbClr val="FFFFFF"/>
                    </a:solidFill>
                  </a:tcPr>
                </a:tc>
              </a:tr>
              <a:tr h="237744">
                <a:tc>
                  <a:txBody>
                    <a:bodyPr wrap="square"/>
                    <a:lstStyle/>
                    <a:p>
                      <a:r>
                        <a:rPr sz="950" b="0">
                          <a:solidFill>
                            <a:srgbClr val="000000"/>
                          </a:solidFill>
                          <a:latin typeface="Calibri"/>
                        </a:rPr>
                        <a:t>A1</a:t>
                      </a:r>
                    </a:p>
                  </a:txBody>
                  <a:tcPr marL="45720" marR="45720" marT="9144" marB="9144">
                    <a:solidFill>
                      <a:srgbClr val="FFFFFF"/>
                    </a:solidFill>
                  </a:tcPr>
                </a:tc>
                <a:tc>
                  <a:txBody>
                    <a:bodyPr wrap="square"/>
                    <a:lstStyle/>
                    <a:p>
                      <a:r>
                        <a:rPr sz="950" b="0">
                          <a:solidFill>
                            <a:srgbClr val="000000"/>
                          </a:solidFill>
                          <a:latin typeface="Calibri"/>
                        </a:rPr>
                        <a:t>The KAN loss solves the WRONG PDE: physics_residual = u_tt − u_xx, with E(x) and rho(x) never referenced</a:t>
                      </a:r>
                    </a:p>
                  </a:txBody>
                  <a:tcPr marL="45720" marR="45720" marT="9144" marB="9144">
                    <a:solidFill>
                      <a:srgbClr val="FFFFFF"/>
                    </a:solidFill>
                  </a:tcPr>
                </a:tc>
                <a:tc>
                  <a:txBody>
                    <a:bodyPr wrap="square"/>
                    <a:lstStyle/>
                    <a:p>
                      <a:r>
                        <a:rPr sz="950" b="0">
                          <a:solidFill>
                            <a:srgbClr val="000000"/>
                          </a:solidFill>
                          <a:latin typeface="Calibri"/>
                        </a:rPr>
                        <a:t>src/ansatz_losses.py:144, PIKAN.py:186</a:t>
                      </a:r>
                    </a:p>
                  </a:txBody>
                  <a:tcPr marL="45720" marR="45720" marT="9144" marB="9144">
                    <a:solidFill>
                      <a:srgbClr val="FFFFFF"/>
                    </a:solidFill>
                  </a:tcPr>
                </a:tc>
                <a:tc>
                  <a:txBody>
                    <a:bodyPr wrap="square"/>
                    <a:lstStyle/>
                    <a:p>
                      <a:r>
                        <a:rPr sz="950" b="0">
                          <a:solidFill>
                            <a:srgbClr val="000000"/>
                          </a:solidFill>
                          <a:latin typeface="Calibri"/>
                        </a:rPr>
                        <a:t>correct only for homogeneous. Assumed-wave-speed error 22.5 % on twolayer, 58.1 % on multilayer. Blocks every heterogeneous KAN run.</a:t>
                      </a:r>
                    </a:p>
                  </a:txBody>
                  <a:tcPr marL="45720" marR="45720" marT="9144" marB="9144">
                    <a:solidFill>
                      <a:srgbClr val="FFFFFF"/>
                    </a:solidFill>
                  </a:tcPr>
                </a:tc>
              </a:tr>
              <a:tr h="237744">
                <a:tc>
                  <a:txBody>
                    <a:bodyPr wrap="square"/>
                    <a:lstStyle/>
                    <a:p>
                      <a:r>
                        <a:rPr sz="950" b="0">
                          <a:solidFill>
                            <a:srgbClr val="000000"/>
                          </a:solidFill>
                          <a:latin typeface="Calibri"/>
                        </a:rPr>
                        <a:t>A2</a:t>
                      </a:r>
                    </a:p>
                  </a:txBody>
                  <a:tcPr marL="45720" marR="45720" marT="9144" marB="9144">
                    <a:solidFill>
                      <a:srgbClr val="FFFFFF"/>
                    </a:solidFill>
                  </a:tcPr>
                </a:tc>
                <a:tc>
                  <a:txBody>
                    <a:bodyPr wrap="square"/>
                    <a:lstStyle/>
                    <a:p>
                      <a:r>
                        <a:rPr sz="950" b="0">
                          <a:solidFill>
                            <a:srgbClr val="000000"/>
                          </a:solidFill>
                          <a:latin typeface="Calibri"/>
                        </a:rPr>
                        <a:t>The KAN's reference solution ignores the material (c = 1.0 hardcoded)</a:t>
                      </a:r>
                    </a:p>
                  </a:txBody>
                  <a:tcPr marL="45720" marR="45720" marT="9144" marB="9144">
                    <a:solidFill>
                      <a:srgbClr val="FFFFFF"/>
                    </a:solidFill>
                  </a:tcPr>
                </a:tc>
                <a:tc>
                  <a:txBody>
                    <a:bodyPr wrap="square"/>
                    <a:lstStyle/>
                    <a:p>
                      <a:r>
                        <a:rPr sz="950" b="0">
                          <a:solidFill>
                            <a:srgbClr val="000000"/>
                          </a:solidFill>
                          <a:latin typeface="Calibri"/>
                        </a:rPr>
                        <a:t>src/physics.py:148</a:t>
                      </a:r>
                    </a:p>
                  </a:txBody>
                  <a:tcPr marL="45720" marR="45720" marT="9144" marB="9144">
                    <a:solidFill>
                      <a:srgbClr val="FFFFFF"/>
                    </a:solidFill>
                  </a:tcPr>
                </a:tc>
                <a:tc>
                  <a:txBody>
                    <a:bodyPr wrap="square"/>
                    <a:lstStyle/>
                    <a:p>
                      <a:r>
                        <a:rPr sz="950" b="0">
                          <a:solidFill>
                            <a:srgbClr val="000000"/>
                          </a:solidFill>
                          <a:latin typeface="Calibri"/>
                        </a:rPr>
                        <a:t>the KAN was scored against the wrong ground truth on any heterogeneous material</a:t>
                      </a:r>
                    </a:p>
                  </a:txBody>
                  <a:tcPr marL="45720" marR="45720" marT="9144" marB="9144">
                    <a:solidFill>
                      <a:srgbClr val="FFFFFF"/>
                    </a:solidFill>
                  </a:tcPr>
                </a:tc>
              </a:tr>
              <a:tr h="237744">
                <a:tc>
                  <a:txBody>
                    <a:bodyPr wrap="square"/>
                    <a:lstStyle/>
                    <a:p>
                      <a:r>
                        <a:rPr sz="950" b="0">
                          <a:solidFill>
                            <a:srgbClr val="000000"/>
                          </a:solidFill>
                          <a:latin typeface="Calibri"/>
                        </a:rPr>
                        <a:t>A3</a:t>
                      </a:r>
                    </a:p>
                  </a:txBody>
                  <a:tcPr marL="45720" marR="45720" marT="9144" marB="9144">
                    <a:solidFill>
                      <a:srgbClr val="FFFFFF"/>
                    </a:solidFill>
                  </a:tcPr>
                </a:tc>
                <a:tc>
                  <a:txBody>
                    <a:bodyPr wrap="square"/>
                    <a:lstStyle/>
                    <a:p>
                      <a:r>
                        <a:rPr sz="950" b="0">
                          <a:solidFill>
                            <a:srgbClr val="000000"/>
                          </a:solidFill>
                          <a:latin typeface="Calibri"/>
                        </a:rPr>
                        <a:t>L-BFGS typo, line_search_fn="strong_wolf"</a:t>
                      </a:r>
                    </a:p>
                  </a:txBody>
                  <a:tcPr marL="45720" marR="45720" marT="9144" marB="9144">
                    <a:solidFill>
                      <a:srgbClr val="FFFFFF"/>
                    </a:solidFill>
                  </a:tcPr>
                </a:tc>
                <a:tc>
                  <a:txBody>
                    <a:bodyPr wrap="square"/>
                    <a:lstStyle/>
                    <a:p>
                      <a:r>
                        <a:rPr sz="950" b="0">
                          <a:solidFill>
                            <a:srgbClr val="000000"/>
                          </a:solidFill>
                          <a:latin typeface="Calibri"/>
                        </a:rPr>
                        <a:t>src/train.py:307</a:t>
                      </a:r>
                    </a:p>
                  </a:txBody>
                  <a:tcPr marL="45720" marR="45720" marT="9144" marB="9144">
                    <a:solidFill>
                      <a:srgbClr val="FFFFFF"/>
                    </a:solidFill>
                  </a:tcPr>
                </a:tc>
                <a:tc>
                  <a:txBody>
                    <a:bodyPr wrap="square"/>
                    <a:lstStyle/>
                    <a:p>
                      <a:r>
                        <a:rPr sz="950" b="0">
                          <a:solidFill>
                            <a:srgbClr val="000000"/>
                          </a:solidFill>
                          <a:latin typeface="Calibri"/>
                        </a:rPr>
                        <a:t>constructor accepts it, then raises on the first step. Dead code today; fires the moment the modular path is used.</a:t>
                      </a:r>
                    </a:p>
                  </a:txBody>
                  <a:tcPr marL="45720" marR="45720" marT="9144" marB="9144">
                    <a:solidFill>
                      <a:srgbClr val="FFFFFF"/>
                    </a:solidFill>
                  </a:tcPr>
                </a:tc>
              </a:tr>
              <a:tr h="237744">
                <a:tc>
                  <a:txBody>
                    <a:bodyPr wrap="square"/>
                    <a:lstStyle/>
                    <a:p>
                      <a:r>
                        <a:rPr sz="950" b="0">
                          <a:solidFill>
                            <a:srgbClr val="000000"/>
                          </a:solidFill>
                          <a:latin typeface="Calibri"/>
                        </a:rPr>
                        <a:t>A4</a:t>
                      </a:r>
                    </a:p>
                  </a:txBody>
                  <a:tcPr marL="45720" marR="45720" marT="9144" marB="9144">
                    <a:solidFill>
                      <a:srgbClr val="FFFFFF"/>
                    </a:solidFill>
                  </a:tcPr>
                </a:tc>
                <a:tc>
                  <a:txBody>
                    <a:bodyPr wrap="square"/>
                    <a:lstStyle/>
                    <a:p>
                      <a:r>
                        <a:rPr sz="950" b="0">
                          <a:solidFill>
                            <a:srgbClr val="000000"/>
                          </a:solidFill>
                          <a:latin typeface="Calibri"/>
                        </a:rPr>
                        <a:t>Loss balancing INVERTED: w = own_loss / total gives the LARGER loss the LARGER weight</a:t>
                      </a:r>
                    </a:p>
                  </a:txBody>
                  <a:tcPr marL="45720" marR="45720" marT="9144" marB="9144">
                    <a:solidFill>
                      <a:srgbClr val="FFFFFF"/>
                    </a:solidFill>
                  </a:tcPr>
                </a:tc>
                <a:tc>
                  <a:txBody>
                    <a:bodyPr wrap="square"/>
                    <a:lstStyle/>
                    <a:p>
                      <a:r>
                        <a:rPr sz="950" b="0">
                          <a:solidFill>
                            <a:srgbClr val="000000"/>
                          </a:solidFill>
                          <a:latin typeface="Calibri"/>
                        </a:rPr>
                        <a:t>src/train.py:271</a:t>
                      </a:r>
                    </a:p>
                  </a:txBody>
                  <a:tcPr marL="45720" marR="45720" marT="9144" marB="9144">
                    <a:solidFill>
                      <a:srgbClr val="FFFFFF"/>
                    </a:solidFill>
                  </a:tcPr>
                </a:tc>
                <a:tc>
                  <a:txBody>
                    <a:bodyPr wrap="square"/>
                    <a:lstStyle/>
                    <a:p>
                      <a:r>
                        <a:rPr sz="950" b="0">
                          <a:solidFill>
                            <a:srgbClr val="000000"/>
                          </a:solidFill>
                          <a:latin typeface="Calibri"/>
                        </a:rPr>
                        <a:t>measured: PDE 1e-2, BC 1e-6 → weighted BC 9.999e-11. The KAN effectively trained with NO boundary condition.</a:t>
                      </a:r>
                    </a:p>
                  </a:txBody>
                  <a:tcPr marL="45720" marR="45720" marT="9144" marB="9144">
                    <a:solidFill>
                      <a:srgbClr val="FFFFFF"/>
                    </a:solidFill>
                  </a:tcPr>
                </a:tc>
              </a:tr>
              <a:tr h="237744">
                <a:tc>
                  <a:txBody>
                    <a:bodyPr wrap="square"/>
                    <a:lstStyle/>
                    <a:p>
                      <a:r>
                        <a:rPr sz="950" b="0">
                          <a:solidFill>
                            <a:srgbClr val="000000"/>
                          </a:solidFill>
                          <a:latin typeface="Calibri"/>
                        </a:rPr>
                        <a:t>A5</a:t>
                      </a:r>
                    </a:p>
                  </a:txBody>
                  <a:tcPr marL="45720" marR="45720" marT="9144" marB="9144">
                    <a:solidFill>
                      <a:srgbClr val="FFFFFF"/>
                    </a:solidFill>
                  </a:tcPr>
                </a:tc>
                <a:tc>
                  <a:txBody>
                    <a:bodyPr wrap="square"/>
                    <a:lstStyle/>
                    <a:p>
                      <a:r>
                        <a:rPr sz="950" b="0">
                          <a:solidFill>
                            <a:srgbClr val="000000"/>
                          </a:solidFill>
                          <a:latin typeface="Calibri"/>
                        </a:rPr>
                        <a:t>The KAN was trained for 10 Adam steps (ITERATIONS = 10)</a:t>
                      </a:r>
                    </a:p>
                  </a:txBody>
                  <a:tcPr marL="45720" marR="45720" marT="9144" marB="9144">
                    <a:solidFill>
                      <a:srgbClr val="FFFFFF"/>
                    </a:solidFill>
                  </a:tcPr>
                </a:tc>
                <a:tc>
                  <a:txBody>
                    <a:bodyPr wrap="square"/>
                    <a:lstStyle/>
                    <a:p>
                      <a:r>
                        <a:rPr sz="950" b="0">
                          <a:solidFill>
                            <a:srgbClr val="000000"/>
                          </a:solidFill>
                          <a:latin typeface="Calibri"/>
                        </a:rPr>
                        <a:t>PIKAN.py:480</a:t>
                      </a:r>
                    </a:p>
                  </a:txBody>
                  <a:tcPr marL="45720" marR="45720" marT="9144" marB="9144">
                    <a:solidFill>
                      <a:srgbClr val="FFFFFF"/>
                    </a:solidFill>
                  </a:tcPr>
                </a:tc>
                <a:tc>
                  <a:txBody>
                    <a:bodyPr wrap="square"/>
                    <a:lstStyle/>
                    <a:p>
                      <a:r>
                        <a:rPr sz="950" b="0">
                          <a:solidFill>
                            <a:srgbClr val="000000"/>
                          </a:solidFill>
                          <a:latin typeface="Calibri"/>
                        </a:rPr>
                        <a:t>against the PINN's 300,000. Networks also tiny: (2,7) and (3,5) units vs PirateNet's 150k–200k parameters.</a:t>
                      </a:r>
                    </a:p>
                  </a:txBody>
                  <a:tcPr marL="45720" marR="45720" marT="9144" marB="9144">
                    <a:solidFill>
                      <a:srgbClr val="FFFFFF"/>
                    </a:solidFill>
                  </a:tcPr>
                </a:tc>
              </a:tr>
              <a:tr h="237744">
                <a:tc>
                  <a:txBody>
                    <a:bodyPr wrap="square"/>
                    <a:lstStyle/>
                    <a:p>
                      <a:r>
                        <a:rPr sz="950" b="0">
                          <a:solidFill>
                            <a:srgbClr val="000000"/>
                          </a:solidFill>
                          <a:latin typeface="Calibri"/>
                        </a:rPr>
                        <a:t>A6</a:t>
                      </a:r>
                    </a:p>
                  </a:txBody>
                  <a:tcPr marL="45720" marR="45720" marT="9144" marB="9144">
                    <a:solidFill>
                      <a:srgbClr val="FFFFFF"/>
                    </a:solidFill>
                  </a:tcPr>
                </a:tc>
                <a:tc>
                  <a:txBody>
                    <a:bodyPr wrap="square"/>
                    <a:lstStyle/>
                    <a:p>
                      <a:r>
                        <a:rPr sz="950" b="0">
                          <a:solidFill>
                            <a:srgbClr val="000000"/>
                          </a:solidFill>
                          <a:latin typeface="Calibri"/>
                        </a:rPr>
                        <a:t>The head-to-head driver has NEVER executed — missing required args; also an undefined name</a:t>
                      </a:r>
                    </a:p>
                  </a:txBody>
                  <a:tcPr marL="45720" marR="45720" marT="9144" marB="9144">
                    <a:solidFill>
                      <a:srgbClr val="FFFFFF"/>
                    </a:solidFill>
                  </a:tcPr>
                </a:tc>
                <a:tc>
                  <a:txBody>
                    <a:bodyPr wrap="square"/>
                    <a:lstStyle/>
                    <a:p>
                      <a:r>
                        <a:rPr sz="950" b="0">
                          <a:solidFill>
                            <a:srgbClr val="000000"/>
                          </a:solidFill>
                          <a:latin typeface="Calibri"/>
                        </a:rPr>
                        <a:t>training_code*.py:703</a:t>
                      </a:r>
                    </a:p>
                  </a:txBody>
                  <a:tcPr marL="45720" marR="45720" marT="9144" marB="9144">
                    <a:solidFill>
                      <a:srgbClr val="FFFFFF"/>
                    </a:solidFill>
                  </a:tcPr>
                </a:tc>
                <a:tc>
                  <a:txBody>
                    <a:bodyPr wrap="square"/>
                    <a:lstStyle/>
                    <a:p>
                      <a:r>
                        <a:rPr sz="950" b="0">
                          <a:solidFill>
                            <a:srgbClr val="000000"/>
                          </a:solidFill>
                          <a:latin typeface="Calibri"/>
                        </a:rPr>
                        <a:t>TypeError / NameError. No comparison had ever been run.</a:t>
                      </a:r>
                    </a:p>
                  </a:txBody>
                  <a:tcPr marL="45720" marR="45720" marT="9144" marB="9144">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Previous work — ML defects (2 of 2)</a:t>
            </a:r>
          </a:p>
        </p:txBody>
      </p:sp>
      <p:sp>
        <p:nvSpPr>
          <p:cNvPr id="3" name="Rectangle 2"/>
          <p:cNvSpPr/>
          <p:nvPr/>
        </p:nvSpPr>
        <p:spPr>
          <a:xfrm>
            <a:off x="457200" y="1024128"/>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02920" y="1243584"/>
          <a:ext cx="11247120" cy="1664208"/>
        </p:xfrm>
        <a:graphic>
          <a:graphicData uri="http://schemas.openxmlformats.org/drawingml/2006/table">
            <a:tbl>
              <a:tblPr firstRow="1">
                <a:tableStyleId>{5C22544A-7EE6-4342-B048-85BDC9FD1C3A}</a:tableStyleId>
              </a:tblPr>
              <a:tblGrid>
                <a:gridCol w="457200"/>
                <a:gridCol w="5120640"/>
                <a:gridCol w="5669280"/>
              </a:tblGrid>
              <a:tr h="237744">
                <a:tc>
                  <a:txBody>
                    <a:bodyPr wrap="square"/>
                    <a:lstStyle/>
                    <a:p>
                      <a:r>
                        <a:rPr sz="950" b="1">
                          <a:solidFill>
                            <a:srgbClr val="000000"/>
                          </a:solidFill>
                          <a:latin typeface="Calibri"/>
                        </a:rPr>
                        <a:t>#</a:t>
                      </a:r>
                    </a:p>
                  </a:txBody>
                  <a:tcPr marL="45720" marR="45720" marT="9144" marB="9144">
                    <a:solidFill>
                      <a:srgbClr val="FFFFFF"/>
                    </a:solidFill>
                  </a:tcPr>
                </a:tc>
                <a:tc>
                  <a:txBody>
                    <a:bodyPr wrap="square"/>
                    <a:lstStyle/>
                    <a:p>
                      <a:r>
                        <a:rPr sz="950" b="1">
                          <a:solidFill>
                            <a:srgbClr val="000000"/>
                          </a:solidFill>
                          <a:latin typeface="Calibri"/>
                        </a:rPr>
                        <a:t>Defect</a:t>
                      </a:r>
                    </a:p>
                  </a:txBody>
                  <a:tcPr marL="45720" marR="45720" marT="9144" marB="9144">
                    <a:solidFill>
                      <a:srgbClr val="FFFFFF"/>
                    </a:solidFill>
                  </a:tcPr>
                </a:tc>
                <a:tc>
                  <a:txBody>
                    <a:bodyPr wrap="square"/>
                    <a:lstStyle/>
                    <a:p>
                      <a:r>
                        <a:rPr sz="950" b="1">
                          <a:solidFill>
                            <a:srgbClr val="000000"/>
                          </a:solidFill>
                          <a:latin typeface="Calibri"/>
                        </a:rPr>
                        <a:t>Consequence</a:t>
                      </a:r>
                    </a:p>
                  </a:txBody>
                  <a:tcPr marL="45720" marR="45720" marT="9144" marB="9144">
                    <a:solidFill>
                      <a:srgbClr val="FFFFFF"/>
                    </a:solidFill>
                  </a:tcPr>
                </a:tc>
              </a:tr>
              <a:tr h="237744">
                <a:tc>
                  <a:txBody>
                    <a:bodyPr wrap="square"/>
                    <a:lstStyle/>
                    <a:p>
                      <a:r>
                        <a:rPr sz="950" b="0">
                          <a:solidFill>
                            <a:srgbClr val="000000"/>
                          </a:solidFill>
                          <a:latin typeface="Calibri"/>
                        </a:rPr>
                        <a:t>A7</a:t>
                      </a:r>
                    </a:p>
                  </a:txBody>
                  <a:tcPr marL="45720" marR="45720" marT="9144" marB="9144">
                    <a:solidFill>
                      <a:srgbClr val="FFFFFF"/>
                    </a:solidFill>
                  </a:tcPr>
                </a:tc>
                <a:tc>
                  <a:txBody>
                    <a:bodyPr wrap="square"/>
                    <a:lstStyle/>
                    <a:p>
                      <a:r>
                        <a:rPr sz="950" b="0">
                          <a:solidFill>
                            <a:srgbClr val="000000"/>
                          </a:solidFill>
                          <a:latin typeface="Calibri"/>
                        </a:rPr>
                        <a:t>Fourier bandwidth uncontrolled between architectures</a:t>
                      </a:r>
                    </a:p>
                  </a:txBody>
                  <a:tcPr marL="45720" marR="45720" marT="9144" marB="9144">
                    <a:solidFill>
                      <a:srgbClr val="FFFFFF"/>
                    </a:solidFill>
                  </a:tcPr>
                </a:tc>
                <a:tc>
                  <a:txBody>
                    <a:bodyPr wrap="square"/>
                    <a:lstStyle/>
                    <a:p>
                      <a:r>
                        <a:rPr sz="950" b="0">
                          <a:solidFill>
                            <a:srgbClr val="000000"/>
                          </a:solidFill>
                          <a:latin typeface="Calibri"/>
                        </a:rPr>
                        <a:t>the two families saw different effective input spectra — confounds bandwidth with architecture</a:t>
                      </a:r>
                    </a:p>
                  </a:txBody>
                  <a:tcPr marL="45720" marR="45720" marT="9144" marB="9144">
                    <a:solidFill>
                      <a:srgbClr val="FFFFFF"/>
                    </a:solidFill>
                  </a:tcPr>
                </a:tc>
              </a:tr>
              <a:tr h="237744">
                <a:tc>
                  <a:txBody>
                    <a:bodyPr wrap="square"/>
                    <a:lstStyle/>
                    <a:p>
                      <a:r>
                        <a:rPr sz="950" b="0">
                          <a:solidFill>
                            <a:srgbClr val="000000"/>
                          </a:solidFill>
                          <a:latin typeface="Calibri"/>
                        </a:rPr>
                        <a:t>A8</a:t>
                      </a:r>
                    </a:p>
                  </a:txBody>
                  <a:tcPr marL="45720" marR="45720" marT="9144" marB="9144">
                    <a:solidFill>
                      <a:srgbClr val="FFFFFF"/>
                    </a:solidFill>
                  </a:tcPr>
                </a:tc>
                <a:tc>
                  <a:txBody>
                    <a:bodyPr wrap="square"/>
                    <a:lstStyle/>
                    <a:p>
                      <a:r>
                        <a:rPr sz="950" b="0">
                          <a:solidFill>
                            <a:srgbClr val="000000"/>
                          </a:solidFill>
                          <a:latin typeface="Calibri"/>
                        </a:rPr>
                        <a:t>No KAN checkpoint exists anywhere in the repository</a:t>
                      </a:r>
                    </a:p>
                  </a:txBody>
                  <a:tcPr marL="45720" marR="45720" marT="9144" marB="9144">
                    <a:solidFill>
                      <a:srgbClr val="FFFFFF"/>
                    </a:solidFill>
                  </a:tcPr>
                </a:tc>
                <a:tc>
                  <a:txBody>
                    <a:bodyPr wrap="square"/>
                    <a:lstStyle/>
                    <a:p>
                      <a:r>
                        <a:rPr sz="950" b="0">
                          <a:solidFill>
                            <a:srgbClr val="000000"/>
                          </a:solidFill>
                          <a:latin typeface="Calibri"/>
                        </a:rPr>
                        <a:t>no KAN result could be reproduced or re-scored</a:t>
                      </a:r>
                    </a:p>
                  </a:txBody>
                  <a:tcPr marL="45720" marR="45720" marT="9144" marB="9144">
                    <a:solidFill>
                      <a:srgbClr val="FFFFFF"/>
                    </a:solidFill>
                  </a:tcPr>
                </a:tc>
              </a:tr>
              <a:tr h="237744">
                <a:tc>
                  <a:txBody>
                    <a:bodyPr wrap="square"/>
                    <a:lstStyle/>
                    <a:p>
                      <a:r>
                        <a:rPr sz="950" b="0">
                          <a:solidFill>
                            <a:srgbClr val="000000"/>
                          </a:solidFill>
                          <a:latin typeface="Calibri"/>
                        </a:rPr>
                        <a:t>A9</a:t>
                      </a:r>
                    </a:p>
                  </a:txBody>
                  <a:tcPr marL="45720" marR="45720" marT="9144" marB="9144">
                    <a:solidFill>
                      <a:srgbClr val="FFFFFF"/>
                    </a:solidFill>
                  </a:tcPr>
                </a:tc>
                <a:tc>
                  <a:txBody>
                    <a:bodyPr wrap="square"/>
                    <a:lstStyle/>
                    <a:p>
                      <a:r>
                        <a:rPr sz="950" b="0">
                          <a:solidFill>
                            <a:srgbClr val="000000"/>
                          </a:solidFill>
                          <a:latin typeface="Calibri"/>
                        </a:rPr>
                        <a:t>Model selection ON the evaluation set — evaluate() runs against the FD reference every 10 steps and the best checkpoint is reloaded</a:t>
                      </a:r>
                    </a:p>
                  </a:txBody>
                  <a:tcPr marL="45720" marR="45720" marT="9144" marB="9144">
                    <a:solidFill>
                      <a:srgbClr val="FFFFFF"/>
                    </a:solidFill>
                  </a:tcPr>
                </a:tc>
                <a:tc>
                  <a:txBody>
                    <a:bodyPr wrap="square"/>
                    <a:lstStyle/>
                    <a:p>
                      <a:r>
                        <a:rPr sz="950" b="0">
                          <a:solidFill>
                            <a:srgbClr val="000000"/>
                          </a:solidFill>
                          <a:latin typeface="Calibri"/>
                        </a:rPr>
                        <a:t>the reported "Best Mean L2" is a best-of-30,000 statistic on the same data used to report accuracy. Not a held-out number.</a:t>
                      </a:r>
                    </a:p>
                  </a:txBody>
                  <a:tcPr marL="45720" marR="45720" marT="9144" marB="9144">
                    <a:solidFill>
                      <a:srgbClr val="FFFFFF"/>
                    </a:solidFill>
                  </a:tcPr>
                </a:tc>
              </a:tr>
              <a:tr h="237744">
                <a:tc>
                  <a:txBody>
                    <a:bodyPr wrap="square"/>
                    <a:lstStyle/>
                    <a:p>
                      <a:r>
                        <a:rPr sz="950" b="0">
                          <a:solidFill>
                            <a:srgbClr val="000000"/>
                          </a:solidFill>
                          <a:latin typeface="Calibri"/>
                        </a:rPr>
                        <a:t>A10</a:t>
                      </a:r>
                    </a:p>
                  </a:txBody>
                  <a:tcPr marL="45720" marR="45720" marT="9144" marB="9144">
                    <a:solidFill>
                      <a:srgbClr val="FFFFFF"/>
                    </a:solidFill>
                  </a:tcPr>
                </a:tc>
                <a:tc>
                  <a:txBody>
                    <a:bodyPr wrap="square"/>
                    <a:lstStyle/>
                    <a:p>
                      <a:r>
                        <a:rPr sz="950" b="0">
                          <a:solidFill>
                            <a:srgbClr val="000000"/>
                          </a:solidFill>
                          <a:latin typeface="Calibri"/>
                        </a:rPr>
                        <a:t>Causal weighting mis-scaled by ~2.5 orders of magnitude: exp(-tolerance·cumsum) with tolerance = 0.1 where the method needs tolerance·chunk_loss ~ O(1)</a:t>
                      </a:r>
                    </a:p>
                  </a:txBody>
                  <a:tcPr marL="45720" marR="45720" marT="9144" marB="9144">
                    <a:solidFill>
                      <a:srgbClr val="FFFFFF"/>
                    </a:solidFill>
                  </a:tcPr>
                </a:tc>
                <a:tc>
                  <a:txBody>
                    <a:bodyPr wrap="square"/>
                    <a:lstStyle/>
                    <a:p>
                      <a:r>
                        <a:rPr sz="950" b="0">
                          <a:solidFill>
                            <a:srgbClr val="000000"/>
                          </a:solidFill>
                          <a:latin typeface="Calibri"/>
                        </a:rPr>
                        <a:t>weights underflow to zero; only a sliver of the time domain trains</a:t>
                      </a:r>
                    </a:p>
                  </a:txBody>
                  <a:tcPr marL="45720" marR="45720" marT="9144" marB="9144">
                    <a:solidFill>
                      <a:srgbClr val="FFFFFF"/>
                    </a:solidFill>
                  </a:tcPr>
                </a:tc>
              </a:tr>
              <a:tr h="237744">
                <a:tc>
                  <a:txBody>
                    <a:bodyPr wrap="square"/>
                    <a:lstStyle/>
                    <a:p>
                      <a:r>
                        <a:rPr sz="950" b="0">
                          <a:solidFill>
                            <a:srgbClr val="000000"/>
                          </a:solidFill>
                          <a:latin typeface="Calibri"/>
                        </a:rPr>
                        <a:t>A11</a:t>
                      </a:r>
                    </a:p>
                  </a:txBody>
                  <a:tcPr marL="45720" marR="45720" marT="9144" marB="9144">
                    <a:solidFill>
                      <a:srgbClr val="FFFFFF"/>
                    </a:solidFill>
                  </a:tcPr>
                </a:tc>
                <a:tc>
                  <a:txBody>
                    <a:bodyPr wrap="square"/>
                    <a:lstStyle/>
                    <a:p>
                      <a:r>
                        <a:rPr sz="950" b="0">
                          <a:solidFill>
                            <a:srgbClr val="000000"/>
                          </a:solidFill>
                          <a:latin typeface="Calibri"/>
                        </a:rPr>
                        <a:t>train_ic cannot change the initial condition</a:t>
                      </a:r>
                    </a:p>
                  </a:txBody>
                  <a:tcPr marL="45720" marR="45720" marT="9144" marB="9144">
                    <a:solidFill>
                      <a:srgbClr val="FFFFFF"/>
                    </a:solidFill>
                  </a:tcPr>
                </a:tc>
                <a:tc>
                  <a:txBody>
                    <a:bodyPr wrap="square"/>
                    <a:lstStyle/>
                    <a:p>
                      <a:r>
                        <a:rPr sz="950" b="0">
                          <a:solidFill>
                            <a:srgbClr val="000000"/>
                          </a:solidFill>
                          <a:latin typeface="Calibri"/>
                        </a:rPr>
                        <a:t>1000 iterations per run spent on a pretraining step the hard ansatz then overrides</a:t>
                      </a:r>
                    </a:p>
                  </a:txBody>
                  <a:tcPr marL="45720" marR="45720" marT="9144" marB="9144">
                    <a:solidFill>
                      <a:srgbClr val="FFFFFF"/>
                    </a:solidFill>
                  </a:tcPr>
                </a:tc>
              </a:tr>
              <a:tr h="237744">
                <a:tc>
                  <a:txBody>
                    <a:bodyPr wrap="square"/>
                    <a:lstStyle/>
                    <a:p>
                      <a:r>
                        <a:rPr sz="950" b="0">
                          <a:solidFill>
                            <a:srgbClr val="000000"/>
                          </a:solidFill>
                          <a:latin typeface="Calibri"/>
                        </a:rPr>
                        <a:t>A12</a:t>
                      </a:r>
                    </a:p>
                  </a:txBody>
                  <a:tcPr marL="45720" marR="45720" marT="9144" marB="9144">
                    <a:solidFill>
                      <a:srgbClr val="FFFFFF"/>
                    </a:solidFill>
                  </a:tcPr>
                </a:tc>
                <a:tc>
                  <a:txBody>
                    <a:bodyPr wrap="square"/>
                    <a:lstStyle/>
                    <a:p>
                      <a:r>
                        <a:rPr sz="950" b="0">
                          <a:solidFill>
                            <a:srgbClr val="000000"/>
                          </a:solidFill>
                          <a:latin typeface="Calibri"/>
                        </a:rPr>
                        <a:t>No initial-condition ablation exists or can exist — repo-wide search for soft_ic / ic_loss / lambda_ic returns nothing</a:t>
                      </a:r>
                    </a:p>
                  </a:txBody>
                  <a:tcPr marL="45720" marR="45720" marT="9144" marB="9144">
                    <a:solidFill>
                      <a:srgbClr val="FFFFFF"/>
                    </a:solidFill>
                  </a:tcPr>
                </a:tc>
                <a:tc>
                  <a:txBody>
                    <a:bodyPr wrap="square"/>
                    <a:lstStyle/>
                    <a:p>
                      <a:r>
                        <a:rPr sz="950" b="0">
                          <a:solidFill>
                            <a:srgbClr val="000000"/>
                          </a:solidFill>
                          <a:latin typeface="Calibri"/>
                        </a:rPr>
                        <a:t>the "hard vs soft IC" experiment could not be run without new code. We ran it (slide 32).</a:t>
                      </a:r>
                    </a:p>
                  </a:txBody>
                  <a:tcPr marL="45720" marR="45720" marT="9144" marB="9144">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Previous work — numerical-suite defects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AUDIT.md §2</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664208"/>
        </p:xfrm>
        <a:graphic>
          <a:graphicData uri="http://schemas.openxmlformats.org/drawingml/2006/table">
            <a:tbl>
              <a:tblPr firstRow="1">
                <a:tableStyleId>{5C22544A-7EE6-4342-B048-85BDC9FD1C3A}</a:tableStyleId>
              </a:tblPr>
              <a:tblGrid>
                <a:gridCol w="457200"/>
                <a:gridCol w="5120640"/>
                <a:gridCol w="5669280"/>
              </a:tblGrid>
              <a:tr h="237744">
                <a:tc>
                  <a:txBody>
                    <a:bodyPr wrap="square"/>
                    <a:lstStyle/>
                    <a:p>
                      <a:r>
                        <a:rPr sz="950" b="1">
                          <a:solidFill>
                            <a:srgbClr val="000000"/>
                          </a:solidFill>
                          <a:latin typeface="Calibri"/>
                        </a:rPr>
                        <a:t>#</a:t>
                      </a:r>
                    </a:p>
                  </a:txBody>
                  <a:tcPr marL="45720" marR="45720" marT="9144" marB="9144">
                    <a:solidFill>
                      <a:srgbClr val="FFFFFF"/>
                    </a:solidFill>
                  </a:tcPr>
                </a:tc>
                <a:tc>
                  <a:txBody>
                    <a:bodyPr wrap="square"/>
                    <a:lstStyle/>
                    <a:p>
                      <a:r>
                        <a:rPr sz="950" b="1">
                          <a:solidFill>
                            <a:srgbClr val="000000"/>
                          </a:solidFill>
                          <a:latin typeface="Calibri"/>
                        </a:rPr>
                        <a:t>Defect</a:t>
                      </a:r>
                    </a:p>
                  </a:txBody>
                  <a:tcPr marL="45720" marR="45720" marT="9144" marB="9144">
                    <a:solidFill>
                      <a:srgbClr val="FFFFFF"/>
                    </a:solidFill>
                  </a:tcPr>
                </a:tc>
                <a:tc>
                  <a:txBody>
                    <a:bodyPr wrap="square"/>
                    <a:lstStyle/>
                    <a:p>
                      <a:r>
                        <a:rPr sz="950" b="1">
                          <a:solidFill>
                            <a:srgbClr val="000000"/>
                          </a:solidFill>
                          <a:latin typeface="Calibri"/>
                        </a:rPr>
                        <a:t>Consequence</a:t>
                      </a:r>
                    </a:p>
                  </a:txBody>
                  <a:tcPr marL="45720" marR="45720" marT="9144" marB="9144">
                    <a:solidFill>
                      <a:srgbClr val="FFFFFF"/>
                    </a:solidFill>
                  </a:tcPr>
                </a:tc>
              </a:tr>
              <a:tr h="237744">
                <a:tc>
                  <a:txBody>
                    <a:bodyPr wrap="square"/>
                    <a:lstStyle/>
                    <a:p>
                      <a:r>
                        <a:rPr sz="950" b="0">
                          <a:solidFill>
                            <a:srgbClr val="000000"/>
                          </a:solidFill>
                          <a:latin typeface="Calibri"/>
                        </a:rPr>
                        <a:t>N1</a:t>
                      </a:r>
                    </a:p>
                  </a:txBody>
                  <a:tcPr marL="45720" marR="45720" marT="9144" marB="9144">
                    <a:solidFill>
                      <a:srgbClr val="FFFFFF"/>
                    </a:solidFill>
                  </a:tcPr>
                </a:tc>
                <a:tc>
                  <a:txBody>
                    <a:bodyPr wrap="square"/>
                    <a:lstStyle/>
                    <a:p>
                      <a:r>
                        <a:rPr sz="950" b="0">
                          <a:solidFill>
                            <a:srgbClr val="000000"/>
                          </a:solidFill>
                          <a:latin typeface="Calibri"/>
                        </a:rPr>
                        <a:t>The pseudo-spectral solver is WRONG in heterogeneous media: it integrates u_tt = c²u_xx, dropping the (c²)′u_x term that enforces traction continuity</a:t>
                      </a:r>
                    </a:p>
                  </a:txBody>
                  <a:tcPr marL="45720" marR="45720" marT="9144" marB="9144">
                    <a:solidFill>
                      <a:srgbClr val="FFFFFF"/>
                    </a:solidFill>
                  </a:tcPr>
                </a:tc>
                <a:tc>
                  <a:txBody>
                    <a:bodyPr wrap="square"/>
                    <a:lstStyle/>
                    <a:p>
                      <a:r>
                        <a:rPr sz="950" b="0">
                          <a:solidFill>
                            <a:srgbClr val="000000"/>
                          </a:solidFill>
                          <a:latin typeface="Calibri"/>
                        </a:rPr>
                        <a:t>over-transmits by 34 % — the only method that gets interface physics wrong. Aggravated by Gibbs oscillations from a global FFT across a discontinuous c(x), and no sponge layer.</a:t>
                      </a:r>
                    </a:p>
                  </a:txBody>
                  <a:tcPr marL="45720" marR="45720" marT="9144" marB="9144">
                    <a:solidFill>
                      <a:srgbClr val="FFFFFF"/>
                    </a:solidFill>
                  </a:tcPr>
                </a:tc>
              </a:tr>
              <a:tr h="237744">
                <a:tc>
                  <a:txBody>
                    <a:bodyPr wrap="square"/>
                    <a:lstStyle/>
                    <a:p>
                      <a:r>
                        <a:rPr sz="950" b="0">
                          <a:solidFill>
                            <a:srgbClr val="000000"/>
                          </a:solidFill>
                          <a:latin typeface="Calibri"/>
                        </a:rPr>
                        <a:t>N2</a:t>
                      </a:r>
                    </a:p>
                  </a:txBody>
                  <a:tcPr marL="45720" marR="45720" marT="9144" marB="9144">
                    <a:solidFill>
                      <a:srgbClr val="FFFFFF"/>
                    </a:solidFill>
                  </a:tcPr>
                </a:tc>
                <a:tc>
                  <a:txBody>
                    <a:bodyPr wrap="square"/>
                    <a:lstStyle/>
                    <a:p>
                      <a:r>
                        <a:rPr sz="950" b="0">
                          <a:solidFill>
                            <a:srgbClr val="000000"/>
                          </a:solidFill>
                          <a:latin typeface="Calibri"/>
                        </a:rPr>
                        <a:t>compare.py performs no quantitative validation — "Analytical" is commented out of METHODS_TO_PLOT, so the entire L2-error block is dead code</a:t>
                      </a:r>
                    </a:p>
                  </a:txBody>
                  <a:tcPr marL="45720" marR="45720" marT="9144" marB="9144">
                    <a:solidFill>
                      <a:srgbClr val="FFFFFF"/>
                    </a:solidFill>
                  </a:tcPr>
                </a:tc>
                <a:tc>
                  <a:txBody>
                    <a:bodyPr wrap="square"/>
                    <a:lstStyle/>
                    <a:p>
                      <a:r>
                        <a:rPr sz="950" b="0">
                          <a:solidFill>
                            <a:srgbClr val="000000"/>
                          </a:solidFill>
                          <a:latin typeface="Calibri"/>
                        </a:rPr>
                        <a:t>the suite produced animations and NO error numbers. The audit's table was the first quantitative check these solvers had ever received.</a:t>
                      </a:r>
                    </a:p>
                  </a:txBody>
                  <a:tcPr marL="45720" marR="45720" marT="9144" marB="9144">
                    <a:solidFill>
                      <a:srgbClr val="FFFFFF"/>
                    </a:solidFill>
                  </a:tcPr>
                </a:tc>
              </a:tr>
              <a:tr h="237744">
                <a:tc>
                  <a:txBody>
                    <a:bodyPr wrap="square"/>
                    <a:lstStyle/>
                    <a:p>
                      <a:r>
                        <a:rPr sz="950" b="0">
                          <a:solidFill>
                            <a:srgbClr val="000000"/>
                          </a:solidFill>
                          <a:latin typeface="Calibri"/>
                        </a:rPr>
                        <a:t>N3</a:t>
                      </a:r>
                    </a:p>
                  </a:txBody>
                  <a:tcPr marL="45720" marR="45720" marT="9144" marB="9144">
                    <a:solidFill>
                      <a:srgbClr val="FFFFFF"/>
                    </a:solidFill>
                  </a:tcPr>
                </a:tc>
                <a:tc>
                  <a:txBody>
                    <a:bodyPr wrap="square"/>
                    <a:lstStyle/>
                    <a:p>
                      <a:r>
                        <a:rPr sz="950" b="0">
                          <a:solidFill>
                            <a:srgbClr val="000000"/>
                          </a:solidFill>
                          <a:latin typeface="Calibri"/>
                        </a:rPr>
                        <a:t>solve_fvm is Lax-Wendroff finite DIFFERENCE, not finite volume</a:t>
                      </a:r>
                    </a:p>
                  </a:txBody>
                  <a:tcPr marL="45720" marR="45720" marT="9144" marB="9144">
                    <a:solidFill>
                      <a:srgbClr val="FFFFFF"/>
                    </a:solidFill>
                  </a:tcPr>
                </a:tc>
                <a:tc>
                  <a:txBody>
                    <a:bodyPr wrap="square"/>
                    <a:lstStyle/>
                    <a:p>
                      <a:r>
                        <a:rPr sz="950" b="0">
                          <a:solidFill>
                            <a:srgbClr val="000000"/>
                          </a:solidFill>
                          <a:latin typeface="Calibri"/>
                        </a:rPr>
                        <a:t>second-worst at the interface (+2.31 %)</a:t>
                      </a:r>
                    </a:p>
                  </a:txBody>
                  <a:tcPr marL="45720" marR="45720" marT="9144" marB="9144">
                    <a:solidFill>
                      <a:srgbClr val="FFFFFF"/>
                    </a:solidFill>
                  </a:tcPr>
                </a:tc>
              </a:tr>
              <a:tr h="237744">
                <a:tc>
                  <a:txBody>
                    <a:bodyPr wrap="square"/>
                    <a:lstStyle/>
                    <a:p>
                      <a:r>
                        <a:rPr sz="950" b="0">
                          <a:solidFill>
                            <a:srgbClr val="000000"/>
                          </a:solidFill>
                          <a:latin typeface="Calibri"/>
                        </a:rPr>
                        <a:t>N4</a:t>
                      </a:r>
                    </a:p>
                  </a:txBody>
                  <a:tcPr marL="45720" marR="45720" marT="9144" marB="9144">
                    <a:solidFill>
                      <a:srgbClr val="FFFFFF"/>
                    </a:solidFill>
                  </a:tcPr>
                </a:tc>
                <a:tc>
                  <a:txBody>
                    <a:bodyPr wrap="square"/>
                    <a:lstStyle/>
                    <a:p>
                      <a:r>
                        <a:rPr sz="950" b="0">
                          <a:solidFill>
                            <a:srgbClr val="000000"/>
                          </a:solidFill>
                          <a:latin typeface="Calibri"/>
                        </a:rPr>
                        <a:t>solve_fd damps only velocity, not stress</a:t>
                      </a:r>
                    </a:p>
                  </a:txBody>
                  <a:tcPr marL="45720" marR="45720" marT="9144" marB="9144">
                    <a:solidFill>
                      <a:srgbClr val="FFFFFF"/>
                    </a:solidFill>
                  </a:tcPr>
                </a:tc>
                <a:tc>
                  <a:txBody>
                    <a:bodyPr wrap="square"/>
                    <a:lstStyle/>
                    <a:p>
                      <a:r>
                        <a:rPr sz="950" b="0">
                          <a:solidFill>
                            <a:srgbClr val="000000"/>
                          </a:solidFill>
                          <a:latin typeface="Calibri"/>
                        </a:rPr>
                        <a:t>sponge layer less effective than intended</a:t>
                      </a:r>
                    </a:p>
                  </a:txBody>
                  <a:tcPr marL="45720" marR="45720" marT="9144" marB="9144">
                    <a:solidFill>
                      <a:srgbClr val="FFFFFF"/>
                    </a:solidFill>
                  </a:tcPr>
                </a:tc>
              </a:tr>
              <a:tr h="237744">
                <a:tc>
                  <a:txBody>
                    <a:bodyPr wrap="square"/>
                    <a:lstStyle/>
                    <a:p>
                      <a:r>
                        <a:rPr sz="950" b="0">
                          <a:solidFill>
                            <a:srgbClr val="000000"/>
                          </a:solidFill>
                          <a:latin typeface="Calibri"/>
                        </a:rPr>
                        <a:t>N5</a:t>
                      </a:r>
                    </a:p>
                  </a:txBody>
                  <a:tcPr marL="45720" marR="45720" marT="9144" marB="9144">
                    <a:solidFill>
                      <a:srgbClr val="FFFFFF"/>
                    </a:solidFill>
                  </a:tcPr>
                </a:tc>
                <a:tc>
                  <a:txBody>
                    <a:bodyPr wrap="square"/>
                    <a:lstStyle/>
                    <a:p>
                      <a:r>
                        <a:rPr sz="950" b="0">
                          <a:solidFill>
                            <a:srgbClr val="000000"/>
                          </a:solidFill>
                          <a:latin typeface="Calibri"/>
                        </a:rPr>
                        <a:t>DG has no absorbing layer</a:t>
                      </a:r>
                    </a:p>
                  </a:txBody>
                  <a:tcPr marL="45720" marR="45720" marT="9144" marB="9144">
                    <a:solidFill>
                      <a:srgbClr val="FFFFFF"/>
                    </a:solidFill>
                  </a:tcPr>
                </a:tc>
                <a:tc>
                  <a:txBody>
                    <a:bodyPr wrap="square"/>
                    <a:lstStyle/>
                    <a:p>
                      <a:r>
                        <a:rPr sz="950" b="0">
                          <a:solidFill>
                            <a:srgbClr val="000000"/>
                          </a:solidFill>
                          <a:latin typeface="Calibri"/>
                        </a:rPr>
                        <a:t>relies solely on a zero-jump outflow condition</a:t>
                      </a:r>
                    </a:p>
                  </a:txBody>
                  <a:tcPr marL="45720" marR="45720" marT="9144" marB="9144">
                    <a:solidFill>
                      <a:srgbClr val="FFFFFF"/>
                    </a:solidFill>
                  </a:tcPr>
                </a:tc>
              </a:tr>
              <a:tr h="237744">
                <a:tc>
                  <a:txBody>
                    <a:bodyPr wrap="square"/>
                    <a:lstStyle/>
                    <a:p>
                      <a:r>
                        <a:rPr sz="950" b="0">
                          <a:solidFill>
                            <a:srgbClr val="000000"/>
                          </a:solidFill>
                          <a:latin typeface="Calibri"/>
                        </a:rPr>
                        <a:t>N6</a:t>
                      </a:r>
                    </a:p>
                  </a:txBody>
                  <a:tcPr marL="45720" marR="45720" marT="9144" marB="9144">
                    <a:solidFill>
                      <a:srgbClr val="FFFFFF"/>
                    </a:solidFill>
                  </a:tcPr>
                </a:tc>
                <a:tc>
                  <a:txBody>
                    <a:bodyPr wrap="square"/>
                    <a:lstStyle/>
                    <a:p>
                      <a:r>
                        <a:rPr sz="950" b="0">
                          <a:solidFill>
                            <a:srgbClr val="000000"/>
                          </a:solidFill>
                          <a:latin typeface="Calibri"/>
                        </a:rPr>
                        <a:t>Latent shape bug: solvers return an 800-point axis alongside 1200-point snapshots</a:t>
                      </a:r>
                    </a:p>
                  </a:txBody>
                  <a:tcPr marL="45720" marR="45720" marT="9144" marB="9144">
                    <a:solidFill>
                      <a:srgbClr val="FFFFFF"/>
                    </a:solidFill>
                  </a:tcPr>
                </a:tc>
                <a:tc>
                  <a:txBody>
                    <a:bodyPr wrap="square"/>
                    <a:lstStyle/>
                    <a:p>
                      <a:r>
                        <a:rPr sz="950" b="0">
                          <a:solidFill>
                            <a:srgbClr val="000000"/>
                          </a:solidFill>
                          <a:latin typeface="Calibri"/>
                        </a:rPr>
                        <a:t>does not fire today only because the caller passes a different argument than the documented default</a:t>
                      </a:r>
                    </a:p>
                  </a:txBody>
                  <a:tcPr marL="45720" marR="45720" marT="9144" marB="9144">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Why no valid comparison had been run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six defects that jointly make the previous result unusable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664208"/>
        </p:xfrm>
        <a:graphic>
          <a:graphicData uri="http://schemas.openxmlformats.org/drawingml/2006/table">
            <a:tbl>
              <a:tblPr firstRow="1">
                <a:tableStyleId>{5C22544A-7EE6-4342-B048-85BDC9FD1C3A}</a:tableStyleId>
              </a:tblPr>
              <a:tblGrid>
                <a:gridCol w="1097280"/>
                <a:gridCol w="10149840"/>
              </a:tblGrid>
              <a:tr h="237744">
                <a:tc>
                  <a:txBody>
                    <a:bodyPr wrap="square"/>
                    <a:lstStyle/>
                    <a:p>
                      <a:r>
                        <a:rPr sz="1200" b="1">
                          <a:solidFill>
                            <a:srgbClr val="000000"/>
                          </a:solidFill>
                          <a:latin typeface="Calibri"/>
                        </a:rPr>
                        <a:t>Defect</a:t>
                      </a:r>
                    </a:p>
                  </a:txBody>
                  <a:tcPr marL="45720" marR="45720" marT="9144" marB="9144">
                    <a:solidFill>
                      <a:srgbClr val="FFFFFF"/>
                    </a:solidFill>
                  </a:tcPr>
                </a:tc>
                <a:tc>
                  <a:txBody>
                    <a:bodyPr wrap="square"/>
                    <a:lstStyle/>
                    <a:p>
                      <a:r>
                        <a:rPr sz="1200" b="1">
                          <a:solidFill>
                            <a:srgbClr val="000000"/>
                          </a:solidFill>
                          <a:latin typeface="Calibri"/>
                        </a:rPr>
                        <a:t>What it meant in practice</a:t>
                      </a:r>
                    </a:p>
                  </a:txBody>
                  <a:tcPr marL="45720" marR="45720" marT="9144" marB="9144">
                    <a:solidFill>
                      <a:srgbClr val="FFFFFF"/>
                    </a:solidFill>
                  </a:tcPr>
                </a:tc>
              </a:tr>
              <a:tr h="237744">
                <a:tc>
                  <a:txBody>
                    <a:bodyPr wrap="square"/>
                    <a:lstStyle/>
                    <a:p>
                      <a:r>
                        <a:rPr sz="1200" b="0">
                          <a:solidFill>
                            <a:srgbClr val="000000"/>
                          </a:solidFill>
                          <a:latin typeface="Calibri"/>
                        </a:rPr>
                        <a:t>A1</a:t>
                      </a:r>
                    </a:p>
                  </a:txBody>
                  <a:tcPr marL="45720" marR="45720" marT="9144" marB="9144">
                    <a:solidFill>
                      <a:srgbClr val="FFFFFF"/>
                    </a:solidFill>
                  </a:tcPr>
                </a:tc>
                <a:tc>
                  <a:txBody>
                    <a:bodyPr wrap="square"/>
                    <a:lstStyle/>
                    <a:p>
                      <a:r>
                        <a:rPr sz="1200" b="0">
                          <a:solidFill>
                            <a:srgbClr val="000000"/>
                          </a:solidFill>
                          <a:latin typeface="Calibri"/>
                        </a:rPr>
                        <a:t>The KAN was solving a different equation than the PINN on 2 of 3 materials</a:t>
                      </a:r>
                    </a:p>
                  </a:txBody>
                  <a:tcPr marL="45720" marR="45720" marT="9144" marB="9144">
                    <a:solidFill>
                      <a:srgbClr val="FFFFFF"/>
                    </a:solidFill>
                  </a:tcPr>
                </a:tc>
              </a:tr>
              <a:tr h="237744">
                <a:tc>
                  <a:txBody>
                    <a:bodyPr wrap="square"/>
                    <a:lstStyle/>
                    <a:p>
                      <a:r>
                        <a:rPr sz="1200" b="0">
                          <a:solidFill>
                            <a:srgbClr val="000000"/>
                          </a:solidFill>
                          <a:latin typeface="Calibri"/>
                        </a:rPr>
                        <a:t>A4</a:t>
                      </a:r>
                    </a:p>
                  </a:txBody>
                  <a:tcPr marL="45720" marR="45720" marT="9144" marB="9144">
                    <a:solidFill>
                      <a:srgbClr val="FFFFFF"/>
                    </a:solidFill>
                  </a:tcPr>
                </a:tc>
                <a:tc>
                  <a:txBody>
                    <a:bodyPr wrap="square"/>
                    <a:lstStyle/>
                    <a:p>
                      <a:r>
                        <a:rPr sz="1200" b="0">
                          <a:solidFill>
                            <a:srgbClr val="000000"/>
                          </a:solidFill>
                          <a:latin typeface="Calibri"/>
                        </a:rPr>
                        <a:t>The KAN trained with effectively no boundary condition</a:t>
                      </a:r>
                    </a:p>
                  </a:txBody>
                  <a:tcPr marL="45720" marR="45720" marT="9144" marB="9144">
                    <a:solidFill>
                      <a:srgbClr val="FFFFFF"/>
                    </a:solidFill>
                  </a:tcPr>
                </a:tc>
              </a:tr>
              <a:tr h="237744">
                <a:tc>
                  <a:txBody>
                    <a:bodyPr wrap="square"/>
                    <a:lstStyle/>
                    <a:p>
                      <a:r>
                        <a:rPr sz="1200" b="0">
                          <a:solidFill>
                            <a:srgbClr val="000000"/>
                          </a:solidFill>
                          <a:latin typeface="Calibri"/>
                        </a:rPr>
                        <a:t>A5</a:t>
                      </a:r>
                    </a:p>
                  </a:txBody>
                  <a:tcPr marL="45720" marR="45720" marT="9144" marB="9144">
                    <a:solidFill>
                      <a:srgbClr val="FFFFFF"/>
                    </a:solidFill>
                  </a:tcPr>
                </a:tc>
                <a:tc>
                  <a:txBody>
                    <a:bodyPr wrap="square"/>
                    <a:lstStyle/>
                    <a:p>
                      <a:r>
                        <a:rPr sz="1200" b="0">
                          <a:solidFill>
                            <a:srgbClr val="000000"/>
                          </a:solidFill>
                          <a:latin typeface="Calibri"/>
                        </a:rPr>
                        <a:t>The KAN got 10 Adam steps; the PINN got 300,000</a:t>
                      </a:r>
                    </a:p>
                  </a:txBody>
                  <a:tcPr marL="45720" marR="45720" marT="9144" marB="9144">
                    <a:solidFill>
                      <a:srgbClr val="FFFFFF"/>
                    </a:solidFill>
                  </a:tcPr>
                </a:tc>
              </a:tr>
              <a:tr h="237744">
                <a:tc>
                  <a:txBody>
                    <a:bodyPr wrap="square"/>
                    <a:lstStyle/>
                    <a:p>
                      <a:r>
                        <a:rPr sz="1200" b="0">
                          <a:solidFill>
                            <a:srgbClr val="000000"/>
                          </a:solidFill>
                          <a:latin typeface="Calibri"/>
                        </a:rPr>
                        <a:t>A6</a:t>
                      </a:r>
                    </a:p>
                  </a:txBody>
                  <a:tcPr marL="45720" marR="45720" marT="9144" marB="9144">
                    <a:solidFill>
                      <a:srgbClr val="FFFFFF"/>
                    </a:solidFill>
                  </a:tcPr>
                </a:tc>
                <a:tc>
                  <a:txBody>
                    <a:bodyPr wrap="square"/>
                    <a:lstStyle/>
                    <a:p>
                      <a:r>
                        <a:rPr sz="1200" b="0">
                          <a:solidFill>
                            <a:srgbClr val="000000"/>
                          </a:solidFill>
                          <a:latin typeface="Calibri"/>
                        </a:rPr>
                        <a:t>The driver meant to compare them raised TypeError and had never executed</a:t>
                      </a:r>
                    </a:p>
                  </a:txBody>
                  <a:tcPr marL="45720" marR="45720" marT="9144" marB="9144">
                    <a:solidFill>
                      <a:srgbClr val="FFFFFF"/>
                    </a:solidFill>
                  </a:tcPr>
                </a:tc>
              </a:tr>
              <a:tr h="237744">
                <a:tc>
                  <a:txBody>
                    <a:bodyPr wrap="square"/>
                    <a:lstStyle/>
                    <a:p>
                      <a:r>
                        <a:rPr sz="1200" b="0">
                          <a:solidFill>
                            <a:srgbClr val="000000"/>
                          </a:solidFill>
                          <a:latin typeface="Calibri"/>
                        </a:rPr>
                        <a:t>A8</a:t>
                      </a:r>
                    </a:p>
                  </a:txBody>
                  <a:tcPr marL="45720" marR="45720" marT="9144" marB="9144">
                    <a:solidFill>
                      <a:srgbClr val="FFFFFF"/>
                    </a:solidFill>
                  </a:tcPr>
                </a:tc>
                <a:tc>
                  <a:txBody>
                    <a:bodyPr wrap="square"/>
                    <a:lstStyle/>
                    <a:p>
                      <a:r>
                        <a:rPr sz="1200" b="0">
                          <a:solidFill>
                            <a:srgbClr val="000000"/>
                          </a:solidFill>
                          <a:latin typeface="Calibri"/>
                        </a:rPr>
                        <a:t>No KAN checkpoint existed, so nothing could be re-scored or reproduced</a:t>
                      </a:r>
                    </a:p>
                  </a:txBody>
                  <a:tcPr marL="45720" marR="45720" marT="9144" marB="9144">
                    <a:solidFill>
                      <a:srgbClr val="FFFFFF"/>
                    </a:solidFill>
                  </a:tcPr>
                </a:tc>
              </a:tr>
              <a:tr h="237744">
                <a:tc>
                  <a:txBody>
                    <a:bodyPr wrap="square"/>
                    <a:lstStyle/>
                    <a:p>
                      <a:r>
                        <a:rPr sz="1200" b="0">
                          <a:solidFill>
                            <a:srgbClr val="000000"/>
                          </a:solidFill>
                          <a:latin typeface="Calibri"/>
                        </a:rPr>
                        <a:t>A9</a:t>
                      </a:r>
                    </a:p>
                  </a:txBody>
                  <a:tcPr marL="45720" marR="45720" marT="9144" marB="9144">
                    <a:solidFill>
                      <a:srgbClr val="FFFFFF"/>
                    </a:solidFill>
                  </a:tcPr>
                </a:tc>
                <a:tc>
                  <a:txBody>
                    <a:bodyPr wrap="square"/>
                    <a:lstStyle/>
                    <a:p>
                      <a:r>
                        <a:rPr sz="1200" b="0">
                          <a:solidFill>
                            <a:srgbClr val="000000"/>
                          </a:solidFill>
                          <a:latin typeface="Calibri"/>
                        </a:rPr>
                        <a:t>Reported accuracy was selected on the same data used to report it</a:t>
                      </a:r>
                    </a:p>
                  </a:txBody>
                  <a:tcPr marL="45720" marR="45720" marT="9144" marB="9144">
                    <a:solidFill>
                      <a:srgbClr val="FFFFFF"/>
                    </a:solidFill>
                  </a:tcPr>
                </a:tc>
              </a:tr>
            </a:tbl>
          </a:graphicData>
        </a:graphic>
      </p:graphicFrame>
      <p:sp>
        <p:nvSpPr>
          <p:cNvPr id="6" name="TextBox 5"/>
          <p:cNvSpPr txBox="1"/>
          <p:nvPr/>
        </p:nvSpPr>
        <p:spPr>
          <a:xfrm>
            <a:off x="502920" y="3474720"/>
            <a:ext cx="11247120" cy="3108960"/>
          </a:xfrm>
          <a:prstGeom prst="rect">
            <a:avLst/>
          </a:prstGeom>
          <a:noFill/>
        </p:spPr>
        <p:txBody>
          <a:bodyPr wrap="square">
            <a:spAutoFit/>
          </a:bodyPr>
          <a:lstStyle/>
          <a:p>
            <a:pPr>
              <a:spcAft>
                <a:spcPts val="800"/>
              </a:spcAft>
            </a:pPr>
            <a:r>
              <a:rPr sz="1400" b="1">
                <a:solidFill>
                  <a:srgbClr val="000000"/>
                </a:solidFill>
                <a:latin typeface="Calibri"/>
              </a:rPr>
              <a:t>• Taken together: the KAN solved the wrong equation, without a boundary condition, for 10 steps, with no saved checkpoint, selected on the test set, through a driver that crashed.</a:t>
            </a:r>
          </a:p>
          <a:p>
            <a:pPr>
              <a:spcAft>
                <a:spcPts val="800"/>
              </a:spcAft>
            </a:pPr>
            <a:r>
              <a:rPr sz="1400" b="0">
                <a:solidFill>
                  <a:srgbClr val="000000"/>
                </a:solidFill>
                <a:latin typeface="Calibri"/>
              </a:rPr>
              <a:t>• This is not a criticism of the conclusions drawn — it is that no conclusion could be drawn.</a:t>
            </a:r>
          </a:p>
          <a:p>
            <a:pPr>
              <a:spcAft>
                <a:spcPts val="800"/>
              </a:spcAft>
            </a:pPr>
            <a:r>
              <a:rPr sz="1400" b="1">
                <a:solidFill>
                  <a:srgbClr val="000000"/>
                </a:solidFill>
                <a:latin typeface="Calibri"/>
              </a:rPr>
              <a:t>• Everything in Part D comes from core/, a package written to replace all of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0"/>
            <a:ext cx="11338560" cy="1280160"/>
          </a:xfrm>
          <a:prstGeom prst="rect">
            <a:avLst/>
          </a:prstGeom>
          <a:noFill/>
        </p:spPr>
        <p:txBody>
          <a:bodyPr wrap="none">
            <a:spAutoFit/>
          </a:bodyPr>
          <a:lstStyle/>
          <a:p>
            <a:r>
              <a:rPr sz="1400">
                <a:solidFill>
                  <a:srgbClr val="606060"/>
                </a:solidFill>
                <a:latin typeface="Calibri"/>
              </a:rPr>
              <a:t>PART D</a:t>
            </a:r>
          </a:p>
          <a:p>
            <a:r>
              <a:rPr sz="3200" b="1">
                <a:solidFill>
                  <a:srgbClr val="000000"/>
                </a:solidFill>
                <a:latin typeface="Calibri"/>
              </a:rPr>
              <a:t>Our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What we built</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core/ — a package whose physics is verified independently of the models</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19" cy="2377440"/>
        </p:xfrm>
        <a:graphic>
          <a:graphicData uri="http://schemas.openxmlformats.org/drawingml/2006/table">
            <a:tbl>
              <a:tblPr firstRow="1">
                <a:tableStyleId>{5C22544A-7EE6-4342-B048-85BDC9FD1C3A}</a:tableStyleId>
              </a:tblPr>
              <a:tblGrid>
                <a:gridCol w="3291840"/>
                <a:gridCol w="7955279"/>
              </a:tblGrid>
              <a:tr h="237744">
                <a:tc>
                  <a:txBody>
                    <a:bodyPr wrap="square"/>
                    <a:lstStyle/>
                    <a:p>
                      <a:r>
                        <a:rPr sz="1050" b="1">
                          <a:solidFill>
                            <a:srgbClr val="000000"/>
                          </a:solidFill>
                          <a:latin typeface="Calibri"/>
                        </a:rPr>
                        <a:t>Module</a:t>
                      </a:r>
                    </a:p>
                  </a:txBody>
                  <a:tcPr marL="45720" marR="45720" marT="9144" marB="9144">
                    <a:solidFill>
                      <a:srgbClr val="FFFFFF"/>
                    </a:solidFill>
                  </a:tcPr>
                </a:tc>
                <a:tc>
                  <a:txBody>
                    <a:bodyPr wrap="square"/>
                    <a:lstStyle/>
                    <a:p>
                      <a:r>
                        <a:rPr sz="1050" b="1">
                          <a:solidFill>
                            <a:srgbClr val="000000"/>
                          </a:solidFill>
                          <a:latin typeface="Calibri"/>
                        </a:rPr>
                        <a:t>Contents</a:t>
                      </a:r>
                    </a:p>
                  </a:txBody>
                  <a:tcPr marL="45720" marR="45720" marT="9144" marB="9144">
                    <a:solidFill>
                      <a:srgbClr val="FFFFFF"/>
                    </a:solidFill>
                  </a:tcPr>
                </a:tc>
              </a:tr>
              <a:tr h="237744">
                <a:tc>
                  <a:txBody>
                    <a:bodyPr wrap="square"/>
                    <a:lstStyle/>
                    <a:p>
                      <a:r>
                        <a:rPr sz="1050" b="0">
                          <a:solidFill>
                            <a:srgbClr val="000000"/>
                          </a:solidFill>
                          <a:latin typeface="Calibri"/>
                        </a:rPr>
                        <a:t>problem.py, operators.py, reference.py</a:t>
                      </a:r>
                    </a:p>
                  </a:txBody>
                  <a:tcPr marL="45720" marR="45720" marT="9144" marB="9144">
                    <a:solidFill>
                      <a:srgbClr val="FFFFFF"/>
                    </a:solidFill>
                  </a:tcPr>
                </a:tc>
                <a:tc>
                  <a:txBody>
                    <a:bodyPr wrap="square"/>
                    <a:lstStyle/>
                    <a:p>
                      <a:r>
                        <a:rPr sz="1050" b="0">
                          <a:solidFill>
                            <a:srgbClr val="000000"/>
                          </a:solidFill>
                          <a:latin typeface="Calibri"/>
                        </a:rPr>
                        <a:t>the equation in conservative form, the ansatz, the FD reference, d'Alembert</a:t>
                      </a:r>
                    </a:p>
                  </a:txBody>
                  <a:tcPr marL="45720" marR="45720" marT="9144" marB="9144">
                    <a:solidFill>
                      <a:srgbClr val="FFFFFF"/>
                    </a:solidFill>
                  </a:tcPr>
                </a:tc>
              </a:tr>
              <a:tr h="237744">
                <a:tc>
                  <a:txBody>
                    <a:bodyPr wrap="square"/>
                    <a:lstStyle/>
                    <a:p>
                      <a:r>
                        <a:rPr sz="1050" b="0">
                          <a:solidFill>
                            <a:srgbClr val="000000"/>
                          </a:solidFill>
                          <a:latin typeface="Calibri"/>
                        </a:rPr>
                        <a:t>losses.py, metrics.py, evaluate.py</a:t>
                      </a:r>
                    </a:p>
                  </a:txBody>
                  <a:tcPr marL="45720" marR="45720" marT="9144" marB="9144">
                    <a:solidFill>
                      <a:srgbClr val="FFFFFF"/>
                    </a:solidFill>
                  </a:tcPr>
                </a:tc>
                <a:tc>
                  <a:txBody>
                    <a:bodyPr wrap="square"/>
                    <a:lstStyle/>
                    <a:p>
                      <a:r>
                        <a:rPr sz="1050" b="0">
                          <a:solidFill>
                            <a:srgbClr val="000000"/>
                          </a:solidFill>
                          <a:latin typeface="Calibri"/>
                        </a:rPr>
                        <a:t>PDE / boundary / IC losses, rel-L2, evaluation harness</a:t>
                      </a:r>
                    </a:p>
                  </a:txBody>
                  <a:tcPr marL="45720" marR="45720" marT="9144" marB="9144">
                    <a:solidFill>
                      <a:srgbClr val="FFFFFF"/>
                    </a:solidFill>
                  </a:tcPr>
                </a:tc>
              </a:tr>
              <a:tr h="237744">
                <a:tc>
                  <a:txBody>
                    <a:bodyPr wrap="square"/>
                    <a:lstStyle/>
                    <a:p>
                      <a:r>
                        <a:rPr sz="1050" b="0">
                          <a:solidFill>
                            <a:srgbClr val="000000"/>
                          </a:solidFill>
                          <a:latin typeface="Calibri"/>
                        </a:rPr>
                        <a:t>models.py, kan_variants.py</a:t>
                      </a:r>
                    </a:p>
                  </a:txBody>
                  <a:tcPr marL="45720" marR="45720" marT="9144" marB="9144">
                    <a:solidFill>
                      <a:srgbClr val="FFFFFF"/>
                    </a:solidFill>
                  </a:tcPr>
                </a:tc>
                <a:tc>
                  <a:txBody>
                    <a:bodyPr wrap="square"/>
                    <a:lstStyle/>
                    <a:p>
                      <a:r>
                        <a:rPr sz="1050" b="0">
                          <a:solidFill>
                            <a:srgbClr val="000000"/>
                          </a:solidFill>
                          <a:latin typeface="Calibri"/>
                        </a:rPr>
                        <a:t>9 architectures behind one interface: MLP, Fourier PINN, PirateNet, pykan, WavKAN, SplineKAN, TunedKAN</a:t>
                      </a:r>
                    </a:p>
                  </a:txBody>
                  <a:tcPr marL="45720" marR="45720" marT="9144" marB="9144">
                    <a:solidFill>
                      <a:srgbClr val="FFFFFF"/>
                    </a:solidFill>
                  </a:tcPr>
                </a:tc>
              </a:tr>
              <a:tr h="237744">
                <a:tc>
                  <a:txBody>
                    <a:bodyPr wrap="square"/>
                    <a:lstStyle/>
                    <a:p>
                      <a:r>
                        <a:rPr sz="1050" b="0">
                          <a:solidFill>
                            <a:srgbClr val="000000"/>
                          </a:solidFill>
                          <a:latin typeface="Calibri"/>
                        </a:rPr>
                        <a:t>train.py, hybrid.py</a:t>
                      </a:r>
                    </a:p>
                  </a:txBody>
                  <a:tcPr marL="45720" marR="45720" marT="9144" marB="9144">
                    <a:solidFill>
                      <a:srgbClr val="FFFFFF"/>
                    </a:solidFill>
                  </a:tcPr>
                </a:tc>
                <a:tc>
                  <a:txBody>
                    <a:bodyPr wrap="square"/>
                    <a:lstStyle/>
                    <a:p>
                      <a:r>
                        <a:rPr sz="1050" b="0">
                          <a:solidFill>
                            <a:srgbClr val="000000"/>
                          </a:solidFill>
                          <a:latin typeface="Calibri"/>
                        </a:rPr>
                        <a:t>pure L-BFGS trainer; Adam→L-BFGS hybrid trainer; both R3 variants</a:t>
                      </a:r>
                    </a:p>
                  </a:txBody>
                  <a:tcPr marL="45720" marR="45720" marT="9144" marB="9144">
                    <a:solidFill>
                      <a:srgbClr val="FFFFFF"/>
                    </a:solidFill>
                  </a:tcPr>
                </a:tc>
              </a:tr>
              <a:tr h="237744">
                <a:tc>
                  <a:txBody>
                    <a:bodyPr wrap="square"/>
                    <a:lstStyle/>
                    <a:p>
                      <a:r>
                        <a:rPr sz="1050" b="0">
                          <a:solidFill>
                            <a:srgbClr val="000000"/>
                          </a:solidFill>
                          <a:latin typeface="Calibri"/>
                        </a:rPr>
                        <a:t>kan_patch.py</a:t>
                      </a:r>
                    </a:p>
                  </a:txBody>
                  <a:tcPr marL="45720" marR="45720" marT="9144" marB="9144">
                    <a:solidFill>
                      <a:srgbClr val="FFFFFF"/>
                    </a:solidFill>
                  </a:tcPr>
                </a:tc>
                <a:tc>
                  <a:txBody>
                    <a:bodyPr wrap="square"/>
                    <a:lstStyle/>
                    <a:p>
                      <a:r>
                        <a:rPr sz="1050" b="0">
                          <a:solidFill>
                            <a:srgbClr val="000000"/>
                          </a:solidFill>
                          <a:latin typeface="Calibri"/>
                        </a:rPr>
                        <a:t>ridge-regularised replacement for pykan's broken curve2coef</a:t>
                      </a:r>
                    </a:p>
                  </a:txBody>
                  <a:tcPr marL="45720" marR="45720" marT="9144" marB="9144">
                    <a:solidFill>
                      <a:srgbClr val="FFFFFF"/>
                    </a:solidFill>
                  </a:tcPr>
                </a:tc>
              </a:tr>
              <a:tr h="237744">
                <a:tc>
                  <a:txBody>
                    <a:bodyPr wrap="square"/>
                    <a:lstStyle/>
                    <a:p>
                      <a:r>
                        <a:rPr sz="1050" b="0">
                          <a:solidFill>
                            <a:srgbClr val="000000"/>
                          </a:solidFill>
                          <a:latin typeface="Calibri"/>
                        </a:rPr>
                        <a:t>coords.py</a:t>
                      </a:r>
                    </a:p>
                  </a:txBody>
                  <a:tcPr marL="45720" marR="45720" marT="9144" marB="9144">
                    <a:solidFill>
                      <a:srgbClr val="FFFFFF"/>
                    </a:solidFill>
                  </a:tcPr>
                </a:tc>
                <a:tc>
                  <a:txBody>
                    <a:bodyPr wrap="square"/>
                    <a:lstStyle/>
                    <a:p>
                      <a:r>
                        <a:rPr sz="1050" b="0">
                          <a:solidFill>
                            <a:srgbClr val="000000"/>
                          </a:solidFill>
                          <a:latin typeface="Calibri"/>
                        </a:rPr>
                        <a:t>travel-time / characteristic coordinates, float64, tau' error 1.5e-7</a:t>
                      </a:r>
                    </a:p>
                  </a:txBody>
                  <a:tcPr marL="45720" marR="45720" marT="9144" marB="9144">
                    <a:solidFill>
                      <a:srgbClr val="FFFFFF"/>
                    </a:solidFill>
                  </a:tcPr>
                </a:tc>
              </a:tr>
              <a:tr h="237744">
                <a:tc>
                  <a:txBody>
                    <a:bodyPr wrap="square"/>
                    <a:lstStyle/>
                    <a:p>
                      <a:r>
                        <a:rPr sz="1050" b="0">
                          <a:solidFill>
                            <a:srgbClr val="000000"/>
                          </a:solidFill>
                          <a:latin typeface="Calibri"/>
                        </a:rPr>
                        <a:t>diagnostics.py, forensics*.py, basin.py, represent.py</a:t>
                      </a:r>
                    </a:p>
                  </a:txBody>
                  <a:tcPr marL="45720" marR="45720" marT="9144" marB="9144">
                    <a:solidFill>
                      <a:srgbClr val="FFFFFF"/>
                    </a:solidFill>
                  </a:tcPr>
                </a:tc>
                <a:tc>
                  <a:txBody>
                    <a:bodyPr wrap="square"/>
                    <a:lstStyle/>
                    <a:p>
                      <a:r>
                        <a:rPr sz="1050" b="0">
                          <a:solidFill>
                            <a:srgbClr val="000000"/>
                          </a:solidFill>
                          <a:latin typeface="Calibri"/>
                        </a:rPr>
                        <a:t>init health, per-layer analysis, loss-landscape and representation probes</a:t>
                      </a:r>
                    </a:p>
                  </a:txBody>
                  <a:tcPr marL="45720" marR="45720" marT="9144" marB="9144">
                    <a:solidFill>
                      <a:srgbClr val="FFFFFF"/>
                    </a:solidFill>
                  </a:tcPr>
                </a:tc>
              </a:tr>
              <a:tr h="237744">
                <a:tc>
                  <a:txBody>
                    <a:bodyPr wrap="square"/>
                    <a:lstStyle/>
                    <a:p>
                      <a:r>
                        <a:rPr sz="1050" b="0">
                          <a:solidFill>
                            <a:srgbClr val="000000"/>
                          </a:solidFill>
                          <a:latin typeface="Calibri"/>
                        </a:rPr>
                        <a:t>phase3–10.py, rescore.py, r3_verdict.py</a:t>
                      </a:r>
                    </a:p>
                  </a:txBody>
                  <a:tcPr marL="45720" marR="45720" marT="9144" marB="9144">
                    <a:solidFill>
                      <a:srgbClr val="FFFFFF"/>
                    </a:solidFill>
                  </a:tcPr>
                </a:tc>
                <a:tc>
                  <a:txBody>
                    <a:bodyPr wrap="square"/>
                    <a:lstStyle/>
                    <a:p>
                      <a:r>
                        <a:rPr sz="1050" b="0">
                          <a:solidFill>
                            <a:srgbClr val="000000"/>
                          </a:solidFill>
                          <a:latin typeface="Calibri"/>
                        </a:rPr>
                        <a:t>the experiment drivers and the analysis</a:t>
                      </a:r>
                    </a:p>
                  </a:txBody>
                  <a:tcPr marL="45720" marR="45720" marT="9144" marB="9144">
                    <a:solidFill>
                      <a:srgbClr val="FFFFFF"/>
                    </a:solidFill>
                  </a:tcPr>
                </a:tc>
              </a:tr>
              <a:tr h="237744">
                <a:tc>
                  <a:txBody>
                    <a:bodyPr wrap="square"/>
                    <a:lstStyle/>
                    <a:p>
                      <a:r>
                        <a:rPr sz="1050" b="0">
                          <a:solidFill>
                            <a:srgbClr val="000000"/>
                          </a:solidFill>
                          <a:latin typeface="Calibri"/>
                        </a:rPr>
                        <a:t>tests/</a:t>
                      </a:r>
                    </a:p>
                  </a:txBody>
                  <a:tcPr marL="45720" marR="45720" marT="9144" marB="9144">
                    <a:solidFill>
                      <a:srgbClr val="FFFFFF"/>
                    </a:solidFill>
                  </a:tcPr>
                </a:tc>
                <a:tc>
                  <a:txBody>
                    <a:bodyPr wrap="square"/>
                    <a:lstStyle/>
                    <a:p>
                      <a:r>
                        <a:rPr sz="1050" b="0">
                          <a:solidFill>
                            <a:srgbClr val="000000"/>
                          </a:solidFill>
                          <a:latin typeface="Calibri"/>
                        </a:rPr>
                        <a:t>~190 checks; 16/16 deliberate mutations caught; MMS on heterogeneous materials</a:t>
                      </a:r>
                    </a:p>
                  </a:txBody>
                  <a:tcPr marL="45720" marR="45720" marT="9144" marB="9144">
                    <a:solidFill>
                      <a:srgbClr val="FFFFFF"/>
                    </a:solidFill>
                  </a:tcPr>
                </a:tc>
              </a:tr>
            </a:tbl>
          </a:graphicData>
        </a:graphic>
      </p:graphicFrame>
      <p:sp>
        <p:nvSpPr>
          <p:cNvPr id="6" name="TextBox 5"/>
          <p:cNvSpPr txBox="1"/>
          <p:nvPr/>
        </p:nvSpPr>
        <p:spPr>
          <a:xfrm>
            <a:off x="502920" y="6263640"/>
            <a:ext cx="11155680" cy="411480"/>
          </a:xfrm>
          <a:prstGeom prst="rect">
            <a:avLst/>
          </a:prstGeom>
          <a:noFill/>
        </p:spPr>
        <p:txBody>
          <a:bodyPr wrap="square">
            <a:spAutoFit/>
          </a:bodyPr>
          <a:lstStyle/>
          <a:p>
            <a:r>
              <a:rPr sz="1050">
                <a:solidFill>
                  <a:srgbClr val="606060"/>
                </a:solidFill>
                <a:latin typeface="Calibri"/>
              </a:rPr>
              <a:t>The E'(x)u_x term is deleted deliberately in the test suite as a mutation, to prove the tests detect a wrong equation.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architectures compared</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All behind one interface, all in the same pipeline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377440"/>
        </p:xfrm>
        <a:graphic>
          <a:graphicData uri="http://schemas.openxmlformats.org/drawingml/2006/table">
            <a:tbl>
              <a:tblPr firstRow="1">
                <a:tableStyleId>{5C22544A-7EE6-4342-B048-85BDC9FD1C3A}</a:tableStyleId>
              </a:tblPr>
              <a:tblGrid>
                <a:gridCol w="2194560"/>
                <a:gridCol w="914400"/>
                <a:gridCol w="1188720"/>
                <a:gridCol w="3017520"/>
                <a:gridCol w="3931920"/>
              </a:tblGrid>
              <a:tr h="237744">
                <a:tc>
                  <a:txBody>
                    <a:bodyPr wrap="square"/>
                    <a:lstStyle/>
                    <a:p>
                      <a:r>
                        <a:rPr sz="1050" b="1">
                          <a:solidFill>
                            <a:srgbClr val="000000"/>
                          </a:solidFill>
                          <a:latin typeface="Calibri"/>
                        </a:rPr>
                        <a:t>Model</a:t>
                      </a:r>
                    </a:p>
                  </a:txBody>
                  <a:tcPr marL="45720" marR="45720" marT="9144" marB="9144">
                    <a:solidFill>
                      <a:srgbClr val="FFFFFF"/>
                    </a:solidFill>
                  </a:tcPr>
                </a:tc>
                <a:tc>
                  <a:txBody>
                    <a:bodyPr wrap="square"/>
                    <a:lstStyle/>
                    <a:p>
                      <a:r>
                        <a:rPr sz="1050" b="1">
                          <a:solidFill>
                            <a:srgbClr val="000000"/>
                          </a:solidFill>
                          <a:latin typeface="Calibri"/>
                        </a:rPr>
                        <a:t>Family</a:t>
                      </a:r>
                    </a:p>
                  </a:txBody>
                  <a:tcPr marL="45720" marR="45720" marT="9144" marB="9144">
                    <a:solidFill>
                      <a:srgbClr val="FFFFFF"/>
                    </a:solidFill>
                  </a:tcPr>
                </a:tc>
                <a:tc>
                  <a:txBody>
                    <a:bodyPr wrap="square"/>
                    <a:lstStyle/>
                    <a:p>
                      <a:r>
                        <a:rPr sz="1050" b="1">
                          <a:solidFill>
                            <a:srgbClr val="000000"/>
                          </a:solidFill>
                          <a:latin typeface="Calibri"/>
                        </a:rPr>
                        <a:t>Params</a:t>
                      </a:r>
                    </a:p>
                  </a:txBody>
                  <a:tcPr marL="45720" marR="45720" marT="9144" marB="9144">
                    <a:solidFill>
                      <a:srgbClr val="FFFFFF"/>
                    </a:solidFill>
                  </a:tcPr>
                </a:tc>
                <a:tc>
                  <a:txBody>
                    <a:bodyPr wrap="square"/>
                    <a:lstStyle/>
                    <a:p>
                      <a:r>
                        <a:rPr sz="1050" b="1">
                          <a:solidFill>
                            <a:srgbClr val="000000"/>
                          </a:solidFill>
                          <a:latin typeface="Calibri"/>
                        </a:rPr>
                        <a:t>Input</a:t>
                      </a:r>
                    </a:p>
                  </a:txBody>
                  <a:tcPr marL="45720" marR="45720" marT="9144" marB="9144">
                    <a:solidFill>
                      <a:srgbClr val="FFFFFF"/>
                    </a:solidFill>
                  </a:tcPr>
                </a:tc>
                <a:tc>
                  <a:txBody>
                    <a:bodyPr wrap="square"/>
                    <a:lstStyle/>
                    <a:p>
                      <a:r>
                        <a:rPr sz="1050" b="1">
                          <a:solidFill>
                            <a:srgbClr val="000000"/>
                          </a:solidFill>
                          <a:latin typeface="Calibri"/>
                        </a:rPr>
                        <a:t>Key detail</a:t>
                      </a:r>
                    </a:p>
                  </a:txBody>
                  <a:tcPr marL="45720" marR="45720" marT="9144" marB="9144">
                    <a:solidFill>
                      <a:srgbClr val="FFFFFF"/>
                    </a:solidFill>
                  </a:tcPr>
                </a:tc>
              </a:tr>
              <a:tr h="237744">
                <a:tc>
                  <a:txBody>
                    <a:bodyPr wrap="square"/>
                    <a:lstStyle/>
                    <a:p>
                      <a:r>
                        <a:rPr sz="1050" b="0">
                          <a:solidFill>
                            <a:srgbClr val="000000"/>
                          </a:solidFill>
                          <a:latin typeface="Calibri"/>
                        </a:rPr>
                        <a:t>mlp</a:t>
                      </a:r>
                    </a:p>
                  </a:txBody>
                  <a:tcPr marL="45720" marR="45720" marT="9144" marB="9144">
                    <a:solidFill>
                      <a:srgbClr val="FFFFFF"/>
                    </a:solidFill>
                  </a:tcPr>
                </a:tc>
                <a:tc>
                  <a:txBody>
                    <a:bodyPr wrap="square"/>
                    <a:lstStyle/>
                    <a:p>
                      <a:r>
                        <a:rPr sz="1050" b="0">
                          <a:solidFill>
                            <a:srgbClr val="000000"/>
                          </a:solidFill>
                          <a:latin typeface="Calibri"/>
                        </a:rPr>
                        <a:t>PINN</a:t>
                      </a:r>
                    </a:p>
                  </a:txBody>
                  <a:tcPr marL="45720" marR="45720" marT="9144" marB="9144">
                    <a:solidFill>
                      <a:srgbClr val="FFFFFF"/>
                    </a:solidFill>
                  </a:tcPr>
                </a:tc>
                <a:tc>
                  <a:txBody>
                    <a:bodyPr wrap="square"/>
                    <a:lstStyle/>
                    <a:p>
                      <a:r>
                        <a:rPr sz="1050" b="0">
                          <a:solidFill>
                            <a:srgbClr val="000000"/>
                          </a:solidFill>
                          <a:latin typeface="Calibri"/>
                        </a:rPr>
                        <a:t>66,561</a:t>
                      </a:r>
                    </a:p>
                  </a:txBody>
                  <a:tcPr marL="45720" marR="45720" marT="9144" marB="9144">
                    <a:solidFill>
                      <a:srgbClr val="FFFFFF"/>
                    </a:solidFill>
                  </a:tcPr>
                </a:tc>
                <a:tc>
                  <a:txBody>
                    <a:bodyPr wrap="square"/>
                    <a:lstStyle/>
                    <a:p>
                      <a:r>
                        <a:rPr sz="1050" b="0">
                          <a:solidFill>
                            <a:srgbClr val="000000"/>
                          </a:solidFill>
                          <a:latin typeface="Calibri"/>
                        </a:rPr>
                        <a:t>raw (x,t)</a:t>
                      </a:r>
                    </a:p>
                  </a:txBody>
                  <a:tcPr marL="45720" marR="45720" marT="9144" marB="9144">
                    <a:solidFill>
                      <a:srgbClr val="FFFFFF"/>
                    </a:solidFill>
                  </a:tcPr>
                </a:tc>
                <a:tc>
                  <a:txBody>
                    <a:bodyPr wrap="square"/>
                    <a:lstStyle/>
                    <a:p>
                      <a:r>
                        <a:rPr sz="1050" b="0">
                          <a:solidFill>
                            <a:srgbClr val="000000"/>
                          </a:solidFill>
                          <a:latin typeface="Calibri"/>
                        </a:rPr>
                        <a:t>5 hidden layers × 128, tanh</a:t>
                      </a:r>
                    </a:p>
                  </a:txBody>
                  <a:tcPr marL="45720" marR="45720" marT="9144" marB="9144">
                    <a:solidFill>
                      <a:srgbClr val="FFFFFF"/>
                    </a:solidFill>
                  </a:tcPr>
                </a:tc>
              </a:tr>
              <a:tr h="237744">
                <a:tc>
                  <a:txBody>
                    <a:bodyPr wrap="square"/>
                    <a:lstStyle/>
                    <a:p>
                      <a:r>
                        <a:rPr sz="1050" b="0">
                          <a:solidFill>
                            <a:srgbClr val="000000"/>
                          </a:solidFill>
                          <a:latin typeface="Calibri"/>
                        </a:rPr>
                        <a:t>fourier</a:t>
                      </a:r>
                    </a:p>
                  </a:txBody>
                  <a:tcPr marL="45720" marR="45720" marT="9144" marB="9144">
                    <a:solidFill>
                      <a:srgbClr val="FFFFFF"/>
                    </a:solidFill>
                  </a:tcPr>
                </a:tc>
                <a:tc>
                  <a:txBody>
                    <a:bodyPr wrap="square"/>
                    <a:lstStyle/>
                    <a:p>
                      <a:r>
                        <a:rPr sz="1050" b="0">
                          <a:solidFill>
                            <a:srgbClr val="000000"/>
                          </a:solidFill>
                          <a:latin typeface="Calibri"/>
                        </a:rPr>
                        <a:t>PINN</a:t>
                      </a:r>
                    </a:p>
                  </a:txBody>
                  <a:tcPr marL="45720" marR="45720" marT="9144" marB="9144">
                    <a:solidFill>
                      <a:srgbClr val="FFFFFF"/>
                    </a:solidFill>
                  </a:tcPr>
                </a:tc>
                <a:tc>
                  <a:txBody>
                    <a:bodyPr wrap="square"/>
                    <a:lstStyle/>
                    <a:p>
                      <a:r>
                        <a:rPr sz="1050" b="0">
                          <a:solidFill>
                            <a:srgbClr val="000000"/>
                          </a:solidFill>
                          <a:latin typeface="Calibri"/>
                        </a:rPr>
                        <a:t>82,689</a:t>
                      </a:r>
                    </a:p>
                  </a:txBody>
                  <a:tcPr marL="45720" marR="45720" marT="9144" marB="9144">
                    <a:solidFill>
                      <a:srgbClr val="FFFFFF"/>
                    </a:solidFill>
                  </a:tcPr>
                </a:tc>
                <a:tc>
                  <a:txBody>
                    <a:bodyPr wrap="square"/>
                    <a:lstStyle/>
                    <a:p>
                      <a:r>
                        <a:rPr sz="1050" b="0">
                          <a:solidFill>
                            <a:srgbClr val="000000"/>
                          </a:solidFill>
                          <a:latin typeface="Calibri"/>
                        </a:rPr>
                        <a:t>128-d Fourier embedding</a:t>
                      </a:r>
                    </a:p>
                  </a:txBody>
                  <a:tcPr marL="45720" marR="45720" marT="9144" marB="9144">
                    <a:solidFill>
                      <a:srgbClr val="FFFFFF"/>
                    </a:solidFill>
                  </a:tcPr>
                </a:tc>
                <a:tc>
                  <a:txBody>
                    <a:bodyPr wrap="square"/>
                    <a:lstStyle/>
                    <a:p>
                      <a:r>
                        <a:rPr sz="1050" b="0">
                          <a:solidFill>
                            <a:srgbClr val="000000"/>
                          </a:solidFill>
                          <a:latin typeface="Calibri"/>
                        </a:rPr>
                        <a:t>sigma_B = 10, tuned to k_peak ≈ 9.4</a:t>
                      </a:r>
                    </a:p>
                  </a:txBody>
                  <a:tcPr marL="45720" marR="45720" marT="9144" marB="9144">
                    <a:solidFill>
                      <a:srgbClr val="FFFFFF"/>
                    </a:solidFill>
                  </a:tcPr>
                </a:tc>
              </a:tr>
              <a:tr h="237744">
                <a:tc>
                  <a:txBody>
                    <a:bodyPr wrap="square"/>
                    <a:lstStyle/>
                    <a:p>
                      <a:r>
                        <a:rPr sz="1050" b="0">
                          <a:solidFill>
                            <a:srgbClr val="000000"/>
                          </a:solidFill>
                          <a:latin typeface="Calibri"/>
                        </a:rPr>
                        <a:t>fourier_matched</a:t>
                      </a:r>
                    </a:p>
                  </a:txBody>
                  <a:tcPr marL="45720" marR="45720" marT="9144" marB="9144">
                    <a:solidFill>
                      <a:srgbClr val="FFFFFF"/>
                    </a:solidFill>
                  </a:tcPr>
                </a:tc>
                <a:tc>
                  <a:txBody>
                    <a:bodyPr wrap="square"/>
                    <a:lstStyle/>
                    <a:p>
                      <a:r>
                        <a:rPr sz="1050" b="0">
                          <a:solidFill>
                            <a:srgbClr val="000000"/>
                          </a:solidFill>
                          <a:latin typeface="Calibri"/>
                        </a:rPr>
                        <a:t>PINN</a:t>
                      </a:r>
                    </a:p>
                  </a:txBody>
                  <a:tcPr marL="45720" marR="45720" marT="9144" marB="9144">
                    <a:solidFill>
                      <a:srgbClr val="FFFFFF"/>
                    </a:solidFill>
                  </a:tcPr>
                </a:tc>
                <a:tc>
                  <a:txBody>
                    <a:bodyPr wrap="square"/>
                    <a:lstStyle/>
                    <a:p>
                      <a:r>
                        <a:rPr sz="1050" b="0">
                          <a:solidFill>
                            <a:srgbClr val="000000"/>
                          </a:solidFill>
                          <a:latin typeface="Calibri"/>
                        </a:rPr>
                        <a:t>49,729</a:t>
                      </a:r>
                    </a:p>
                  </a:txBody>
                  <a:tcPr marL="45720" marR="45720" marT="9144" marB="9144">
                    <a:solidFill>
                      <a:srgbClr val="FFFFFF"/>
                    </a:solidFill>
                  </a:tcPr>
                </a:tc>
                <a:tc>
                  <a:txBody>
                    <a:bodyPr wrap="square"/>
                    <a:lstStyle/>
                    <a:p>
                      <a:r>
                        <a:rPr sz="1050" b="0">
                          <a:solidFill>
                            <a:srgbClr val="000000"/>
                          </a:solidFill>
                          <a:latin typeface="Calibri"/>
                        </a:rPr>
                        <a:t>128-d Fourier embedding</a:t>
                      </a:r>
                    </a:p>
                  </a:txBody>
                  <a:tcPr marL="45720" marR="45720" marT="9144" marB="9144">
                    <a:solidFill>
                      <a:srgbClr val="FFFFFF"/>
                    </a:solidFill>
                  </a:tcPr>
                </a:tc>
                <a:tc>
                  <a:txBody>
                    <a:bodyPr wrap="square"/>
                    <a:lstStyle/>
                    <a:p>
                      <a:r>
                        <a:rPr sz="1050" b="0">
                          <a:solidFill>
                            <a:srgbClr val="000000"/>
                          </a:solidFill>
                          <a:latin typeface="Calibri"/>
                        </a:rPr>
                        <a:t>96 wide — parameter-matched to the KAN</a:t>
                      </a:r>
                    </a:p>
                  </a:txBody>
                  <a:tcPr marL="45720" marR="45720" marT="9144" marB="9144">
                    <a:solidFill>
                      <a:srgbClr val="FFFFFF"/>
                    </a:solidFill>
                  </a:tcPr>
                </a:tc>
              </a:tr>
              <a:tr h="237744">
                <a:tc>
                  <a:txBody>
                    <a:bodyPr wrap="square"/>
                    <a:lstStyle/>
                    <a:p>
                      <a:r>
                        <a:rPr sz="1050" b="0">
                          <a:solidFill>
                            <a:srgbClr val="000000"/>
                          </a:solidFill>
                          <a:latin typeface="Calibri"/>
                        </a:rPr>
                        <a:t>pirate (PirateNet)</a:t>
                      </a:r>
                    </a:p>
                  </a:txBody>
                  <a:tcPr marL="45720" marR="45720" marT="9144" marB="9144">
                    <a:solidFill>
                      <a:srgbClr val="FFFFFF"/>
                    </a:solidFill>
                  </a:tcPr>
                </a:tc>
                <a:tc>
                  <a:txBody>
                    <a:bodyPr wrap="square"/>
                    <a:lstStyle/>
                    <a:p>
                      <a:r>
                        <a:rPr sz="1050" b="0">
                          <a:solidFill>
                            <a:srgbClr val="000000"/>
                          </a:solidFill>
                          <a:latin typeface="Calibri"/>
                        </a:rPr>
                        <a:t>PINN</a:t>
                      </a:r>
                    </a:p>
                  </a:txBody>
                  <a:tcPr marL="45720" marR="45720" marT="9144" marB="9144">
                    <a:solidFill>
                      <a:srgbClr val="FFFFFF"/>
                    </a:solidFill>
                  </a:tcPr>
                </a:tc>
                <a:tc>
                  <a:txBody>
                    <a:bodyPr wrap="square"/>
                    <a:lstStyle/>
                    <a:p>
                      <a:r>
                        <a:rPr sz="1050" b="0">
                          <a:solidFill>
                            <a:srgbClr val="000000"/>
                          </a:solidFill>
                          <a:latin typeface="Calibri"/>
                        </a:rPr>
                        <a:t>~150,000</a:t>
                      </a:r>
                    </a:p>
                  </a:txBody>
                  <a:tcPr marL="45720" marR="45720" marT="9144" marB="9144">
                    <a:solidFill>
                      <a:srgbClr val="FFFFFF"/>
                    </a:solidFill>
                  </a:tcPr>
                </a:tc>
                <a:tc>
                  <a:txBody>
                    <a:bodyPr wrap="square"/>
                    <a:lstStyle/>
                    <a:p>
                      <a:r>
                        <a:rPr sz="1050" b="0">
                          <a:solidFill>
                            <a:srgbClr val="000000"/>
                          </a:solidFill>
                          <a:latin typeface="Calibri"/>
                        </a:rPr>
                        <a:t>Fourier embedding</a:t>
                      </a:r>
                    </a:p>
                  </a:txBody>
                  <a:tcPr marL="45720" marR="45720" marT="9144" marB="9144">
                    <a:solidFill>
                      <a:srgbClr val="FFFFFF"/>
                    </a:solidFill>
                  </a:tcPr>
                </a:tc>
                <a:tc>
                  <a:txBody>
                    <a:bodyPr wrap="square"/>
                    <a:lstStyle/>
                    <a:p>
                      <a:r>
                        <a:rPr sz="1050" b="0">
                          <a:solidFill>
                            <a:srgbClr val="000000"/>
                          </a:solidFill>
                          <a:latin typeface="Calibri"/>
                        </a:rPr>
                        <a:t>random weight factorisation, physics-informed init</a:t>
                      </a:r>
                    </a:p>
                  </a:txBody>
                  <a:tcPr marL="45720" marR="45720" marT="9144" marB="9144">
                    <a:solidFill>
                      <a:srgbClr val="FFFFFF"/>
                    </a:solidFill>
                  </a:tcPr>
                </a:tc>
              </a:tr>
              <a:tr h="237744">
                <a:tc>
                  <a:txBody>
                    <a:bodyPr wrap="square"/>
                    <a:lstStyle/>
                    <a:p>
                      <a:r>
                        <a:rPr sz="1050" b="0">
                          <a:solidFill>
                            <a:srgbClr val="000000"/>
                          </a:solidFill>
                          <a:latin typeface="Calibri"/>
                        </a:rPr>
                        <a:t>pykan_wide</a:t>
                      </a:r>
                    </a:p>
                  </a:txBody>
                  <a:tcPr marL="45720" marR="45720" marT="9144" marB="9144">
                    <a:solidFill>
                      <a:srgbClr val="FFFFFF"/>
                    </a:solidFill>
                  </a:tcPr>
                </a:tc>
                <a:tc>
                  <a:txBody>
                    <a:bodyPr wrap="square"/>
                    <a:lstStyle/>
                    <a:p>
                      <a:r>
                        <a:rPr sz="1050" b="0">
                          <a:solidFill>
                            <a:srgbClr val="000000"/>
                          </a:solidFill>
                          <a:latin typeface="Calibri"/>
                        </a:rPr>
                        <a:t>KAN</a:t>
                      </a:r>
                    </a:p>
                  </a:txBody>
                  <a:tcPr marL="45720" marR="45720" marT="9144" marB="9144">
                    <a:solidFill>
                      <a:srgbClr val="FFFFFF"/>
                    </a:solidFill>
                  </a:tcPr>
                </a:tc>
                <a:tc>
                  <a:txBody>
                    <a:bodyPr wrap="square"/>
                    <a:lstStyle/>
                    <a:p>
                      <a:r>
                        <a:rPr sz="1050" b="0">
                          <a:solidFill>
                            <a:srgbClr val="000000"/>
                          </a:solidFill>
                          <a:latin typeface="Calibri"/>
                        </a:rPr>
                        <a:t>8,600</a:t>
                      </a:r>
                    </a:p>
                  </a:txBody>
                  <a:tcPr marL="45720" marR="45720" marT="9144" marB="9144">
                    <a:solidFill>
                      <a:srgbClr val="FFFFFF"/>
                    </a:solidFill>
                  </a:tcPr>
                </a:tc>
                <a:tc>
                  <a:txBody>
                    <a:bodyPr wrap="square"/>
                    <a:lstStyle/>
                    <a:p>
                      <a:r>
                        <a:rPr sz="1050" b="0">
                          <a:solidFill>
                            <a:srgbClr val="000000"/>
                          </a:solidFill>
                          <a:latin typeface="Calibri"/>
                        </a:rPr>
                        <a:t>raw (x,t)</a:t>
                      </a:r>
                    </a:p>
                  </a:txBody>
                  <a:tcPr marL="45720" marR="45720" marT="9144" marB="9144">
                    <a:solidFill>
                      <a:srgbClr val="FFFFFF"/>
                    </a:solidFill>
                  </a:tcPr>
                </a:tc>
                <a:tc>
                  <a:txBody>
                    <a:bodyPr wrap="square"/>
                    <a:lstStyle/>
                    <a:p>
                      <a:r>
                        <a:rPr sz="1050" b="0">
                          <a:solidFill>
                            <a:srgbClr val="000000"/>
                          </a:solidFill>
                          <a:latin typeface="Calibri"/>
                        </a:rPr>
                        <a:t>width [2,20,20,20,1], grid 5, k 3</a:t>
                      </a:r>
                    </a:p>
                  </a:txBody>
                  <a:tcPr marL="45720" marR="45720" marT="9144" marB="9144">
                    <a:solidFill>
                      <a:srgbClr val="FFFFFF"/>
                    </a:solidFill>
                  </a:tcPr>
                </a:tc>
              </a:tr>
              <a:tr h="237744">
                <a:tc>
                  <a:txBody>
                    <a:bodyPr wrap="square"/>
                    <a:lstStyle/>
                    <a:p>
                      <a:r>
                        <a:rPr sz="1050" b="0">
                          <a:solidFill>
                            <a:srgbClr val="000000"/>
                          </a:solidFill>
                          <a:latin typeface="Calibri"/>
                        </a:rPr>
                        <a:t>charcoords50</a:t>
                      </a:r>
                    </a:p>
                  </a:txBody>
                  <a:tcPr marL="45720" marR="45720" marT="9144" marB="9144">
                    <a:solidFill>
                      <a:srgbClr val="FFFFFF"/>
                    </a:solidFill>
                  </a:tcPr>
                </a:tc>
                <a:tc>
                  <a:txBody>
                    <a:bodyPr wrap="square"/>
                    <a:lstStyle/>
                    <a:p>
                      <a:r>
                        <a:rPr sz="1050" b="0">
                          <a:solidFill>
                            <a:srgbClr val="000000"/>
                          </a:solidFill>
                          <a:latin typeface="Calibri"/>
                        </a:rPr>
                        <a:t>KAN</a:t>
                      </a:r>
                    </a:p>
                  </a:txBody>
                  <a:tcPr marL="45720" marR="45720" marT="9144" marB="9144">
                    <a:solidFill>
                      <a:srgbClr val="FFFFFF"/>
                    </a:solidFill>
                  </a:tcPr>
                </a:tc>
                <a:tc>
                  <a:txBody>
                    <a:bodyPr wrap="square"/>
                    <a:lstStyle/>
                    <a:p>
                      <a:r>
                        <a:rPr sz="1050" b="0">
                          <a:solidFill>
                            <a:srgbClr val="000000"/>
                          </a:solidFill>
                          <a:latin typeface="Calibri"/>
                        </a:rPr>
                        <a:t>49,020</a:t>
                      </a:r>
                    </a:p>
                  </a:txBody>
                  <a:tcPr marL="45720" marR="45720" marT="9144" marB="9144">
                    <a:solidFill>
                      <a:srgbClr val="FFFFFF"/>
                    </a:solidFill>
                  </a:tcPr>
                </a:tc>
                <a:tc>
                  <a:txBody>
                    <a:bodyPr wrap="square"/>
                    <a:lstStyle/>
                    <a:p>
                      <a:r>
                        <a:rPr sz="1050" b="0">
                          <a:solidFill>
                            <a:srgbClr val="000000"/>
                          </a:solidFill>
                          <a:latin typeface="Calibri"/>
                        </a:rPr>
                        <a:t>characteristic (tau−t, tau+t)</a:t>
                      </a:r>
                    </a:p>
                  </a:txBody>
                  <a:tcPr marL="45720" marR="45720" marT="9144" marB="9144">
                    <a:solidFill>
                      <a:srgbClr val="FFFFFF"/>
                    </a:solidFill>
                  </a:tcPr>
                </a:tc>
                <a:tc>
                  <a:txBody>
                    <a:bodyPr wrap="square"/>
                    <a:lstStyle/>
                    <a:p>
                      <a:r>
                        <a:rPr sz="1050" b="0">
                          <a:solidFill>
                            <a:srgbClr val="000000"/>
                          </a:solidFill>
                          <a:latin typeface="Calibri"/>
                        </a:rPr>
                        <a:t>grid 50, k 5 — the winner</a:t>
                      </a:r>
                    </a:p>
                  </a:txBody>
                  <a:tcPr marL="45720" marR="45720" marT="9144" marB="9144">
                    <a:solidFill>
                      <a:srgbClr val="FFFFFF"/>
                    </a:solidFill>
                  </a:tcPr>
                </a:tc>
              </a:tr>
              <a:tr h="237744">
                <a:tc>
                  <a:txBody>
                    <a:bodyPr wrap="square"/>
                    <a:lstStyle/>
                    <a:p>
                      <a:r>
                        <a:rPr sz="1050" b="0">
                          <a:solidFill>
                            <a:srgbClr val="000000"/>
                          </a:solidFill>
                          <a:latin typeface="Calibri"/>
                        </a:rPr>
                        <a:t>splinekan (PIKAN)</a:t>
                      </a:r>
                    </a:p>
                  </a:txBody>
                  <a:tcPr marL="45720" marR="45720" marT="9144" marB="9144">
                    <a:solidFill>
                      <a:srgbClr val="FFFFFF"/>
                    </a:solidFill>
                  </a:tcPr>
                </a:tc>
                <a:tc>
                  <a:txBody>
                    <a:bodyPr wrap="square"/>
                    <a:lstStyle/>
                    <a:p>
                      <a:r>
                        <a:rPr sz="1050" b="0">
                          <a:solidFill>
                            <a:srgbClr val="000000"/>
                          </a:solidFill>
                          <a:latin typeface="Calibri"/>
                        </a:rPr>
                        <a:t>KAN</a:t>
                      </a:r>
                    </a:p>
                  </a:txBody>
                  <a:tcPr marL="45720" marR="45720" marT="9144" marB="9144">
                    <a:solidFill>
                      <a:srgbClr val="FFFFFF"/>
                    </a:solidFill>
                  </a:tcPr>
                </a:tc>
                <a:tc>
                  <a:txBody>
                    <a:bodyPr wrap="square"/>
                    <a:lstStyle/>
                    <a:p>
                      <a:r>
                        <a:rPr sz="1050" b="0">
                          <a:solidFill>
                            <a:srgbClr val="000000"/>
                          </a:solidFill>
                          <a:latin typeface="Calibri"/>
                        </a:rPr>
                        <a:t>246,208</a:t>
                      </a:r>
                    </a:p>
                  </a:txBody>
                  <a:tcPr marL="45720" marR="45720" marT="9144" marB="9144">
                    <a:solidFill>
                      <a:srgbClr val="FFFFFF"/>
                    </a:solidFill>
                  </a:tcPr>
                </a:tc>
                <a:tc>
                  <a:txBody>
                    <a:bodyPr wrap="square"/>
                    <a:lstStyle/>
                    <a:p>
                      <a:r>
                        <a:rPr sz="1050" b="0">
                          <a:solidFill>
                            <a:srgbClr val="000000"/>
                          </a:solidFill>
                          <a:latin typeface="Calibri"/>
                        </a:rPr>
                        <a:t>128-d Fourier embedding</a:t>
                      </a:r>
                    </a:p>
                  </a:txBody>
                  <a:tcPr marL="45720" marR="45720" marT="9144" marB="9144">
                    <a:solidFill>
                      <a:srgbClr val="FFFFFF"/>
                    </a:solidFill>
                  </a:tcPr>
                </a:tc>
                <a:tc>
                  <a:txBody>
                    <a:bodyPr wrap="square"/>
                    <a:lstStyle/>
                    <a:p>
                      <a:r>
                        <a:rPr sz="1050" b="0">
                          <a:solidFill>
                            <a:srgbClr val="000000"/>
                          </a:solidFill>
                          <a:latin typeface="Calibri"/>
                        </a:rPr>
                        <a:t>hand-rolled spline layer; broken init</a:t>
                      </a:r>
                    </a:p>
                  </a:txBody>
                  <a:tcPr marL="45720" marR="45720" marT="9144" marB="9144">
                    <a:solidFill>
                      <a:srgbClr val="FFFFFF"/>
                    </a:solidFill>
                  </a:tcPr>
                </a:tc>
              </a:tr>
              <a:tr h="237744">
                <a:tc>
                  <a:txBody>
                    <a:bodyPr wrap="square"/>
                    <a:lstStyle/>
                    <a:p>
                      <a:r>
                        <a:rPr sz="1050" b="0">
                          <a:solidFill>
                            <a:srgbClr val="000000"/>
                          </a:solidFill>
                          <a:latin typeface="Calibri"/>
                        </a:rPr>
                        <a:t>fourier16 (PIKAN)</a:t>
                      </a:r>
                    </a:p>
                  </a:txBody>
                  <a:tcPr marL="45720" marR="45720" marT="9144" marB="9144">
                    <a:solidFill>
                      <a:srgbClr val="FFFFFF"/>
                    </a:solidFill>
                  </a:tcPr>
                </a:tc>
                <a:tc>
                  <a:txBody>
                    <a:bodyPr wrap="square"/>
                    <a:lstStyle/>
                    <a:p>
                      <a:r>
                        <a:rPr sz="1050" b="0">
                          <a:solidFill>
                            <a:srgbClr val="000000"/>
                          </a:solidFill>
                          <a:latin typeface="Calibri"/>
                        </a:rPr>
                        <a:t>KAN</a:t>
                      </a:r>
                    </a:p>
                  </a:txBody>
                  <a:tcPr marL="45720" marR="45720" marT="9144" marB="9144">
                    <a:solidFill>
                      <a:srgbClr val="FFFFFF"/>
                    </a:solidFill>
                  </a:tcPr>
                </a:tc>
                <a:tc>
                  <a:txBody>
                    <a:bodyPr wrap="square"/>
                    <a:lstStyle/>
                    <a:p>
                      <a:r>
                        <a:rPr sz="1050" b="0">
                          <a:solidFill>
                            <a:srgbClr val="000000"/>
                          </a:solidFill>
                          <a:latin typeface="Calibri"/>
                        </a:rPr>
                        <a:t>36,500</a:t>
                      </a:r>
                    </a:p>
                  </a:txBody>
                  <a:tcPr marL="45720" marR="45720" marT="9144" marB="9144">
                    <a:solidFill>
                      <a:srgbClr val="FFFFFF"/>
                    </a:solidFill>
                  </a:tcPr>
                </a:tc>
                <a:tc>
                  <a:txBody>
                    <a:bodyPr wrap="square"/>
                    <a:lstStyle/>
                    <a:p>
                      <a:r>
                        <a:rPr sz="1050" b="0">
                          <a:solidFill>
                            <a:srgbClr val="000000"/>
                          </a:solidFill>
                          <a:latin typeface="Calibri"/>
                        </a:rPr>
                        <a:t>32-d Fourier embedding</a:t>
                      </a:r>
                    </a:p>
                  </a:txBody>
                  <a:tcPr marL="45720" marR="45720" marT="9144" marB="9144">
                    <a:solidFill>
                      <a:srgbClr val="FFFFFF"/>
                    </a:solidFill>
                  </a:tcPr>
                </a:tc>
                <a:tc>
                  <a:txBody>
                    <a:bodyPr wrap="square"/>
                    <a:lstStyle/>
                    <a:p>
                      <a:r>
                        <a:rPr sz="1050" b="0">
                          <a:solidFill>
                            <a:srgbClr val="000000"/>
                          </a:solidFill>
                          <a:latin typeface="Calibri"/>
                        </a:rPr>
                        <a:t>pykan backend; healthy init, still collapses</a:t>
                      </a:r>
                    </a:p>
                  </a:txBody>
                  <a:tcPr marL="45720" marR="45720" marT="9144" marB="9144">
                    <a:solidFill>
                      <a:srgbClr val="FFFFFF"/>
                    </a:solidFill>
                  </a:tcPr>
                </a:tc>
              </a:tr>
              <a:tr h="237744">
                <a:tc>
                  <a:txBody>
                    <a:bodyPr wrap="square"/>
                    <a:lstStyle/>
                    <a:p>
                      <a:r>
                        <a:rPr sz="1050" b="0">
                          <a:solidFill>
                            <a:srgbClr val="000000"/>
                          </a:solidFill>
                          <a:latin typeface="Calibri"/>
                        </a:rPr>
                        <a:t>wavkan</a:t>
                      </a:r>
                    </a:p>
                  </a:txBody>
                  <a:tcPr marL="45720" marR="45720" marT="9144" marB="9144">
                    <a:solidFill>
                      <a:srgbClr val="FFFFFF"/>
                    </a:solidFill>
                  </a:tcPr>
                </a:tc>
                <a:tc>
                  <a:txBody>
                    <a:bodyPr wrap="square"/>
                    <a:lstStyle/>
                    <a:p>
                      <a:r>
                        <a:rPr sz="1050" b="0">
                          <a:solidFill>
                            <a:srgbClr val="000000"/>
                          </a:solidFill>
                          <a:latin typeface="Calibri"/>
                        </a:rPr>
                        <a:t>KAN</a:t>
                      </a:r>
                    </a:p>
                  </a:txBody>
                  <a:tcPr marL="45720" marR="45720" marT="9144" marB="9144">
                    <a:solidFill>
                      <a:srgbClr val="FFFFFF"/>
                    </a:solidFill>
                  </a:tcPr>
                </a:tc>
                <a:tc>
                  <a:txBody>
                    <a:bodyPr wrap="square"/>
                    <a:lstStyle/>
                    <a:p>
                      <a:r>
                        <a:rPr sz="1050" b="0">
                          <a:solidFill>
                            <a:srgbClr val="000000"/>
                          </a:solidFill>
                          <a:latin typeface="Calibri"/>
                        </a:rPr>
                        <a:t>~30,000</a:t>
                      </a:r>
                    </a:p>
                  </a:txBody>
                  <a:tcPr marL="45720" marR="45720" marT="9144" marB="9144">
                    <a:solidFill>
                      <a:srgbClr val="FFFFFF"/>
                    </a:solidFill>
                  </a:tcPr>
                </a:tc>
                <a:tc>
                  <a:txBody>
                    <a:bodyPr wrap="square"/>
                    <a:lstStyle/>
                    <a:p>
                      <a:r>
                        <a:rPr sz="1050" b="0">
                          <a:solidFill>
                            <a:srgbClr val="000000"/>
                          </a:solidFill>
                          <a:latin typeface="Calibri"/>
                        </a:rPr>
                        <a:t>raw (x,t)</a:t>
                      </a:r>
                    </a:p>
                  </a:txBody>
                  <a:tcPr marL="45720" marR="45720" marT="9144" marB="9144">
                    <a:solidFill>
                      <a:srgbClr val="FFFFFF"/>
                    </a:solidFill>
                  </a:tcPr>
                </a:tc>
                <a:tc>
                  <a:txBody>
                    <a:bodyPr wrap="square"/>
                    <a:lstStyle/>
                    <a:p>
                      <a:r>
                        <a:rPr sz="1050" b="0">
                          <a:solidFill>
                            <a:srgbClr val="000000"/>
                          </a:solidFill>
                          <a:latin typeface="Calibri"/>
                        </a:rPr>
                        <a:t>Mexican-hat wavelets</a:t>
                      </a:r>
                    </a:p>
                  </a:txBody>
                  <a:tcPr marL="45720" marR="45720" marT="9144" marB="9144">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How a KAN differs from an MLP</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one architectural idea this study turns on</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400" b="1">
                <a:solidFill>
                  <a:srgbClr val="000000"/>
                </a:solidFill>
                <a:latin typeface="Calibri"/>
              </a:rPr>
              <a:t>• MLP: fixed nonlinearity on the NODES, learned scalars on the EDGES.    node = tanh( Σ wᵢ·xᵢ + b )</a:t>
            </a:r>
          </a:p>
          <a:p>
            <a:pPr>
              <a:spcAft>
                <a:spcPts val="800"/>
              </a:spcAft>
            </a:pPr>
            <a:r>
              <a:rPr sz="1400" b="1">
                <a:solidFill>
                  <a:srgbClr val="000000"/>
                </a:solidFill>
                <a:latin typeface="Calibri"/>
              </a:rPr>
              <a:t>• KAN: learned univariate FUNCTIONS on the EDGES, plain summation on the NODES.    node = Σ φᵢ(xᵢ)</a:t>
            </a:r>
          </a:p>
          <a:p>
            <a:pPr lvl="1">
              <a:spcAft>
                <a:spcPts val="500"/>
              </a:spcAft>
            </a:pPr>
            <a:r>
              <a:rPr sz="1250" b="0">
                <a:solidFill>
                  <a:srgbClr val="606060"/>
                </a:solidFill>
                <a:latin typeface="Calibri"/>
              </a:rPr>
              <a:t>– No weight matrix. No activation function in the MLP sense.</a:t>
            </a:r>
          </a:p>
          <a:p>
            <a:pPr lvl="1">
              <a:spcAft>
                <a:spcPts val="500"/>
              </a:spcAft>
            </a:pPr>
            <a:r>
              <a:rPr sz="1250" b="0">
                <a:solidFill>
                  <a:srgbClr val="606060"/>
                </a:solidFill>
                <a:latin typeface="Calibri"/>
              </a:rPr>
              <a:t>– In an MLP an edge can only scale a signal. In a KAN it can bend it.</a:t>
            </a:r>
          </a:p>
          <a:p>
            <a:pPr>
              <a:spcAft>
                <a:spcPts val="800"/>
              </a:spcAft>
            </a:pPr>
            <a:r>
              <a:rPr sz="1400" b="1">
                <a:solidFill>
                  <a:srgbClr val="000000"/>
                </a:solidFill>
                <a:latin typeface="Calibri"/>
              </a:rPr>
              <a:t>• Each edge:  φ(x) = scale_base·silu(x) + scale_sp·spline(x)  — a fixed residual shape plus a fully learned B-spline curve.</a:t>
            </a:r>
          </a:p>
        </p:txBody>
      </p:sp>
      <p:graphicFrame>
        <p:nvGraphicFramePr>
          <p:cNvPr id="6" name="Table 5"/>
          <p:cNvGraphicFramePr>
            <a:graphicFrameLocks noGrp="1"/>
          </p:cNvGraphicFramePr>
          <p:nvPr/>
        </p:nvGraphicFramePr>
        <p:xfrm>
          <a:off x="502920" y="3154680"/>
          <a:ext cx="10058400" cy="1426464"/>
        </p:xfrm>
        <a:graphic>
          <a:graphicData uri="http://schemas.openxmlformats.org/drawingml/2006/table">
            <a:tbl>
              <a:tblPr firstRow="1">
                <a:tableStyleId>{5C22544A-7EE6-4342-B048-85BDC9FD1C3A}</a:tableStyleId>
              </a:tblPr>
              <a:tblGrid>
                <a:gridCol w="2377440"/>
                <a:gridCol w="5852160"/>
                <a:gridCol w="1828800"/>
              </a:tblGrid>
              <a:tr h="237744">
                <a:tc>
                  <a:txBody>
                    <a:bodyPr wrap="square"/>
                    <a:lstStyle/>
                    <a:p>
                      <a:r>
                        <a:rPr sz="1100" b="1">
                          <a:solidFill>
                            <a:srgbClr val="000000"/>
                          </a:solidFill>
                          <a:latin typeface="Calibri"/>
                        </a:rPr>
                        <a:t>Term</a:t>
                      </a:r>
                    </a:p>
                  </a:txBody>
                  <a:tcPr marL="45720" marR="45720" marT="9144" marB="9144">
                    <a:solidFill>
                      <a:srgbClr val="FFFFFF"/>
                    </a:solidFill>
                  </a:tcPr>
                </a:tc>
                <a:tc>
                  <a:txBody>
                    <a:bodyPr wrap="square"/>
                    <a:lstStyle/>
                    <a:p>
                      <a:r>
                        <a:rPr sz="1100" b="1">
                          <a:solidFill>
                            <a:srgbClr val="000000"/>
                          </a:solidFill>
                          <a:latin typeface="Calibri"/>
                        </a:rPr>
                        <a:t>Meaning</a:t>
                      </a:r>
                    </a:p>
                  </a:txBody>
                  <a:tcPr marL="45720" marR="45720" marT="9144" marB="9144">
                    <a:solidFill>
                      <a:srgbClr val="FFFFFF"/>
                    </a:solidFill>
                  </a:tcPr>
                </a:tc>
                <a:tc>
                  <a:txBody>
                    <a:bodyPr wrap="square"/>
                    <a:lstStyle/>
                    <a:p>
                      <a:r>
                        <a:rPr sz="1100" b="1">
                          <a:solidFill>
                            <a:srgbClr val="000000"/>
                          </a:solidFill>
                          <a:latin typeface="Calibri"/>
                        </a:rPr>
                        <a:t>charcoords50</a:t>
                      </a:r>
                    </a:p>
                  </a:txBody>
                  <a:tcPr marL="45720" marR="45720" marT="9144" marB="9144">
                    <a:solidFill>
                      <a:srgbClr val="FFFFFF"/>
                    </a:solidFill>
                  </a:tcPr>
                </a:tc>
              </a:tr>
              <a:tr h="237744">
                <a:tc>
                  <a:txBody>
                    <a:bodyPr wrap="square"/>
                    <a:lstStyle/>
                    <a:p>
                      <a:r>
                        <a:rPr sz="1100" b="0">
                          <a:solidFill>
                            <a:srgbClr val="000000"/>
                          </a:solidFill>
                          <a:latin typeface="Calibri"/>
                        </a:rPr>
                        <a:t>grid</a:t>
                      </a:r>
                    </a:p>
                  </a:txBody>
                  <a:tcPr marL="45720" marR="45720" marT="9144" marB="9144">
                    <a:solidFill>
                      <a:srgbClr val="FFFFFF"/>
                    </a:solidFill>
                  </a:tcPr>
                </a:tc>
                <a:tc>
                  <a:txBody>
                    <a:bodyPr wrap="square"/>
                    <a:lstStyle/>
                    <a:p>
                      <a:r>
                        <a:rPr sz="1100" b="0">
                          <a:solidFill>
                            <a:srgbClr val="000000"/>
                          </a:solidFill>
                          <a:latin typeface="Calibri"/>
                        </a:rPr>
                        <a:t>how many intervals the input range is cut into</a:t>
                      </a:r>
                    </a:p>
                  </a:txBody>
                  <a:tcPr marL="45720" marR="45720" marT="9144" marB="9144">
                    <a:solidFill>
                      <a:srgbClr val="FFFFFF"/>
                    </a:solidFill>
                  </a:tcPr>
                </a:tc>
                <a:tc>
                  <a:txBody>
                    <a:bodyPr wrap="square"/>
                    <a:lstStyle/>
                    <a:p>
                      <a:r>
                        <a:rPr sz="1100" b="0">
                          <a:solidFill>
                            <a:srgbClr val="000000"/>
                          </a:solidFill>
                          <a:latin typeface="Calibri"/>
                        </a:rPr>
                        <a:t>50</a:t>
                      </a:r>
                    </a:p>
                  </a:txBody>
                  <a:tcPr marL="45720" marR="45720" marT="9144" marB="9144">
                    <a:solidFill>
                      <a:srgbClr val="FFFFFF"/>
                    </a:solidFill>
                  </a:tcPr>
                </a:tc>
              </a:tr>
              <a:tr h="237744">
                <a:tc>
                  <a:txBody>
                    <a:bodyPr wrap="square"/>
                    <a:lstStyle/>
                    <a:p>
                      <a:r>
                        <a:rPr sz="1100" b="0">
                          <a:solidFill>
                            <a:srgbClr val="000000"/>
                          </a:solidFill>
                          <a:latin typeface="Calibri"/>
                        </a:rPr>
                        <a:t>k</a:t>
                      </a:r>
                    </a:p>
                  </a:txBody>
                  <a:tcPr marL="45720" marR="45720" marT="9144" marB="9144">
                    <a:solidFill>
                      <a:srgbClr val="FFFFFF"/>
                    </a:solidFill>
                  </a:tcPr>
                </a:tc>
                <a:tc>
                  <a:txBody>
                    <a:bodyPr wrap="square"/>
                    <a:lstStyle/>
                    <a:p>
                      <a:r>
                        <a:rPr sz="1100" b="0">
                          <a:solidFill>
                            <a:srgbClr val="000000"/>
                          </a:solidFill>
                          <a:latin typeface="Calibri"/>
                        </a:rPr>
                        <a:t>polynomial order per interval; spline is C^(k−1)</a:t>
                      </a:r>
                    </a:p>
                  </a:txBody>
                  <a:tcPr marL="45720" marR="45720" marT="9144" marB="9144">
                    <a:solidFill>
                      <a:srgbClr val="FFFFFF"/>
                    </a:solidFill>
                  </a:tcPr>
                </a:tc>
                <a:tc>
                  <a:txBody>
                    <a:bodyPr wrap="square"/>
                    <a:lstStyle/>
                    <a:p>
                      <a:r>
                        <a:rPr sz="1100" b="0">
                          <a:solidFill>
                            <a:srgbClr val="000000"/>
                          </a:solidFill>
                          <a:latin typeface="Calibri"/>
                        </a:rPr>
                        <a:t>5</a:t>
                      </a:r>
                    </a:p>
                  </a:txBody>
                  <a:tcPr marL="45720" marR="45720" marT="9144" marB="9144">
                    <a:solidFill>
                      <a:srgbClr val="FFFFFF"/>
                    </a:solidFill>
                  </a:tcPr>
                </a:tc>
              </a:tr>
              <a:tr h="237744">
                <a:tc>
                  <a:txBody>
                    <a:bodyPr wrap="square"/>
                    <a:lstStyle/>
                    <a:p>
                      <a:r>
                        <a:rPr sz="1100" b="0">
                          <a:solidFill>
                            <a:srgbClr val="000000"/>
                          </a:solidFill>
                          <a:latin typeface="Calibri"/>
                        </a:rPr>
                        <a:t>n_basis = grid + k</a:t>
                      </a:r>
                    </a:p>
                  </a:txBody>
                  <a:tcPr marL="45720" marR="45720" marT="9144" marB="9144">
                    <a:solidFill>
                      <a:srgbClr val="FFFFFF"/>
                    </a:solidFill>
                  </a:tcPr>
                </a:tc>
                <a:tc>
                  <a:txBody>
                    <a:bodyPr wrap="square"/>
                    <a:lstStyle/>
                    <a:p>
                      <a:r>
                        <a:rPr sz="1100" b="0">
                          <a:solidFill>
                            <a:srgbClr val="000000"/>
                          </a:solidFill>
                          <a:latin typeface="Calibri"/>
                        </a:rPr>
                        <a:t>number of basis functions per edge → coef last dim</a:t>
                      </a:r>
                    </a:p>
                  </a:txBody>
                  <a:tcPr marL="45720" marR="45720" marT="9144" marB="9144">
                    <a:solidFill>
                      <a:srgbClr val="FFFFFF"/>
                    </a:solidFill>
                  </a:tcPr>
                </a:tc>
                <a:tc>
                  <a:txBody>
                    <a:bodyPr wrap="square"/>
                    <a:lstStyle/>
                    <a:p>
                      <a:r>
                        <a:rPr sz="1100" b="0">
                          <a:solidFill>
                            <a:srgbClr val="000000"/>
                          </a:solidFill>
                          <a:latin typeface="Calibri"/>
                        </a:rPr>
                        <a:t>55</a:t>
                      </a:r>
                    </a:p>
                  </a:txBody>
                  <a:tcPr marL="45720" marR="45720" marT="9144" marB="9144">
                    <a:solidFill>
                      <a:srgbClr val="FFFFFF"/>
                    </a:solidFill>
                  </a:tcPr>
                </a:tc>
              </a:tr>
              <a:tr h="237744">
                <a:tc>
                  <a:txBody>
                    <a:bodyPr wrap="square"/>
                    <a:lstStyle/>
                    <a:p>
                      <a:r>
                        <a:rPr sz="1100" b="0">
                          <a:solidFill>
                            <a:srgbClr val="000000"/>
                          </a:solidFill>
                          <a:latin typeface="Calibri"/>
                        </a:rPr>
                        <a:t>knots = grid + 2k + 1</a:t>
                      </a:r>
                    </a:p>
                  </a:txBody>
                  <a:tcPr marL="45720" marR="45720" marT="9144" marB="9144">
                    <a:solidFill>
                      <a:srgbClr val="FFFFFF"/>
                    </a:solidFill>
                  </a:tcPr>
                </a:tc>
                <a:tc>
                  <a:txBody>
                    <a:bodyPr wrap="square"/>
                    <a:lstStyle/>
                    <a:p>
                      <a:r>
                        <a:rPr sz="1100" b="0">
                          <a:solidFill>
                            <a:srgbClr val="000000"/>
                          </a:solidFill>
                          <a:latin typeface="Calibri"/>
                        </a:rPr>
                        <a:t>knot buffer length</a:t>
                      </a:r>
                    </a:p>
                  </a:txBody>
                  <a:tcPr marL="45720" marR="45720" marT="9144" marB="9144">
                    <a:solidFill>
                      <a:srgbClr val="FFFFFF"/>
                    </a:solidFill>
                  </a:tcPr>
                </a:tc>
                <a:tc>
                  <a:txBody>
                    <a:bodyPr wrap="square"/>
                    <a:lstStyle/>
                    <a:p>
                      <a:r>
                        <a:rPr sz="1100" b="0">
                          <a:solidFill>
                            <a:srgbClr val="000000"/>
                          </a:solidFill>
                          <a:latin typeface="Calibri"/>
                        </a:rPr>
                        <a:t>61</a:t>
                      </a:r>
                    </a:p>
                  </a:txBody>
                  <a:tcPr marL="45720" marR="45720" marT="9144" marB="9144">
                    <a:solidFill>
                      <a:srgbClr val="FFFFFF"/>
                    </a:solidFill>
                  </a:tcPr>
                </a:tc>
              </a:tr>
              <a:tr h="237744">
                <a:tc>
                  <a:txBody>
                    <a:bodyPr wrap="square"/>
                    <a:lstStyle/>
                    <a:p>
                      <a:r>
                        <a:rPr sz="1100" b="0">
                          <a:solidFill>
                            <a:srgbClr val="000000"/>
                          </a:solidFill>
                          <a:latin typeface="Calibri"/>
                        </a:rPr>
                        <a:t>local support</a:t>
                      </a:r>
                    </a:p>
                  </a:txBody>
                  <a:tcPr marL="45720" marR="45720" marT="9144" marB="9144">
                    <a:solidFill>
                      <a:srgbClr val="FFFFFF"/>
                    </a:solidFill>
                  </a:tcPr>
                </a:tc>
                <a:tc>
                  <a:txBody>
                    <a:bodyPr wrap="square"/>
                    <a:lstStyle/>
                    <a:p>
                      <a:r>
                        <a:rPr sz="1100" b="0">
                          <a:solidFill>
                            <a:srgbClr val="000000"/>
                          </a:solidFill>
                          <a:latin typeface="Calibri"/>
                        </a:rPr>
                        <a:t>only k+1 = 6 basis functions are non-zero at any input</a:t>
                      </a:r>
                    </a:p>
                  </a:txBody>
                  <a:tcPr marL="45720" marR="45720" marT="9144" marB="9144">
                    <a:solidFill>
                      <a:srgbClr val="FFFFFF"/>
                    </a:solidFill>
                  </a:tcPr>
                </a:tc>
                <a:tc>
                  <a:txBody>
                    <a:bodyPr wrap="square"/>
                    <a:lstStyle/>
                    <a:p>
                      <a:r>
                        <a:rPr sz="1100" b="0">
                          <a:solidFill>
                            <a:srgbClr val="000000"/>
                          </a:solidFill>
                          <a:latin typeface="Calibri"/>
                        </a:rPr>
                        <a:t>6</a:t>
                      </a:r>
                    </a:p>
                  </a:txBody>
                  <a:tcPr marL="45720" marR="45720" marT="9144" marB="9144">
                    <a:solidFill>
                      <a:srgbClr val="FFFFFF"/>
                    </a:solidFill>
                  </a:tcPr>
                </a:tc>
              </a:tr>
            </a:tbl>
          </a:graphicData>
        </a:graphic>
      </p:graphicFrame>
      <p:sp>
        <p:nvSpPr>
          <p:cNvPr id="7" name="TextBox 6"/>
          <p:cNvSpPr txBox="1"/>
          <p:nvPr/>
        </p:nvSpPr>
        <p:spPr>
          <a:xfrm>
            <a:off x="502920" y="4617720"/>
            <a:ext cx="11247120" cy="1965960"/>
          </a:xfrm>
          <a:prstGeom prst="rect">
            <a:avLst/>
          </a:prstGeom>
          <a:noFill/>
        </p:spPr>
        <p:txBody>
          <a:bodyPr wrap="square">
            <a:spAutoFit/>
          </a:bodyPr>
          <a:lstStyle/>
          <a:p>
            <a:pPr>
              <a:spcAft>
                <a:spcPts val="800"/>
              </a:spcAft>
            </a:pPr>
            <a:r>
              <a:rPr sz="1300" b="1">
                <a:solidFill>
                  <a:srgbClr val="000000"/>
                </a:solidFill>
                <a:latin typeface="Calibri"/>
              </a:rPr>
              <a:t>• Why k matters for a PDE: at k = 3 the network is C², so u_xx is only C⁰ — piecewise linear with a kink at every knot. At k = 5, u_xx is C² and genuinely smooth.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Why characteristic coordinates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theoretical reason to expect a KAN to win here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400" b="1">
                <a:solidFill>
                  <a:srgbClr val="000000"/>
                </a:solidFill>
                <a:latin typeface="Calibri"/>
              </a:rPr>
              <a:t>• The exact homogeneous solution is  u = ½[g(x−t) + g(x+t)] = F(ξ) + G(η).</a:t>
            </a:r>
          </a:p>
          <a:p>
            <a:pPr lvl="1">
              <a:spcAft>
                <a:spcPts val="500"/>
              </a:spcAft>
            </a:pPr>
            <a:r>
              <a:rPr sz="1250" b="0">
                <a:solidFill>
                  <a:srgbClr val="606060"/>
                </a:solidFill>
                <a:latin typeface="Calibri"/>
              </a:rPr>
              <a:t>– That is literally a SUM OF UNIVARIATE FUNCTIONS — a Kolmogorov-Arnold representation with one layer and two edges</a:t>
            </a:r>
          </a:p>
          <a:p>
            <a:pPr>
              <a:spcAft>
                <a:spcPts val="800"/>
              </a:spcAft>
            </a:pPr>
            <a:r>
              <a:rPr sz="1400" b="0">
                <a:solidFill>
                  <a:srgbClr val="000000"/>
                </a:solidFill>
                <a:latin typeface="Calibri"/>
              </a:rPr>
              <a:t>• We therefore feed the KAN  ξ = tau(x) − t,  η = tau(x) + t,  where tau(x) = ∫ ds/c(s) is the travel time.</a:t>
            </a:r>
          </a:p>
          <a:p>
            <a:pPr lvl="1">
              <a:spcAft>
                <a:spcPts val="500"/>
              </a:spcAft>
            </a:pPr>
            <a:r>
              <a:rPr sz="1250" b="0">
                <a:solidFill>
                  <a:srgbClr val="606060"/>
                </a:solidFill>
                <a:latin typeface="Calibri"/>
              </a:rPr>
              <a:t>– Built by quintic Hermite interpolation of a Gauss-Legendre quadrature, float64; tau' error 1.5e-7, tau'' error 1.9e-6</a:t>
            </a:r>
          </a:p>
          <a:p>
            <a:pPr lvl="1">
              <a:spcAft>
                <a:spcPts val="500"/>
              </a:spcAft>
            </a:pPr>
            <a:r>
              <a:rPr sz="1250" b="0">
                <a:solidFill>
                  <a:srgbClr val="606060"/>
                </a:solidFill>
                <a:latin typeface="Calibri"/>
              </a:rPr>
              <a:t>– A fixed buffer — computed once, never trained</a:t>
            </a:r>
          </a:p>
          <a:p>
            <a:pPr>
              <a:spcAft>
                <a:spcPts val="800"/>
              </a:spcAft>
            </a:pPr>
            <a:r>
              <a:rPr sz="1400" b="1">
                <a:solidFill>
                  <a:srgbClr val="000000"/>
                </a:solidFill>
                <a:latin typeface="Calibri"/>
              </a:rPr>
              <a:t>• In these coordinates the wave operator becomes ∂ξ∂η.</a:t>
            </a:r>
          </a:p>
          <a:p>
            <a:pPr lvl="1">
              <a:spcAft>
                <a:spcPts val="500"/>
              </a:spcAft>
            </a:pPr>
            <a:r>
              <a:rPr sz="1250" b="0">
                <a:solidFill>
                  <a:srgbClr val="606060"/>
                </a:solidFill>
                <a:latin typeface="Calibri"/>
              </a:rPr>
              <a:t>– So F(ξ) + G(η) satisfies the equation IDENTICALLY — for any F and any G</a:t>
            </a:r>
          </a:p>
          <a:p>
            <a:pPr lvl="1">
              <a:spcAft>
                <a:spcPts val="500"/>
              </a:spcAft>
            </a:pPr>
            <a:r>
              <a:rPr sz="1250" b="0">
                <a:solidFill>
                  <a:srgbClr val="606060"/>
                </a:solidFill>
                <a:latin typeface="Calibri"/>
              </a:rPr>
              <a:t>– The KAN's architecture and the solution's structure are the same shape</a:t>
            </a:r>
          </a:p>
          <a:p>
            <a:pPr>
              <a:spcAft>
                <a:spcPts val="800"/>
              </a:spcAft>
            </a:pPr>
            <a:r>
              <a:rPr sz="1400" b="1">
                <a:solidFill>
                  <a:srgbClr val="000000"/>
                </a:solidFill>
                <a:latin typeface="Calibri"/>
              </a:rPr>
              <a:t>• This is the one rung with a theory-driven reason to favour a KAN specifically, rather than every architecture equally — which also makes it the most informative if it fails.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Training protocol</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Identical for every architecture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377440"/>
        </p:xfrm>
        <a:graphic>
          <a:graphicData uri="http://schemas.openxmlformats.org/drawingml/2006/table">
            <a:tbl>
              <a:tblPr firstRow="1">
                <a:tableStyleId>{5C22544A-7EE6-4342-B048-85BDC9FD1C3A}</a:tableStyleId>
              </a:tblPr>
              <a:tblGrid>
                <a:gridCol w="1737360"/>
                <a:gridCol w="2377440"/>
                <a:gridCol w="7132320"/>
              </a:tblGrid>
              <a:tr h="237744">
                <a:tc>
                  <a:txBody>
                    <a:bodyPr wrap="square"/>
                    <a:lstStyle/>
                    <a:p>
                      <a:r>
                        <a:rPr sz="1050" b="1">
                          <a:solidFill>
                            <a:srgbClr val="000000"/>
                          </a:solidFill>
                          <a:latin typeface="Calibri"/>
                        </a:rPr>
                        <a:t>Stage</a:t>
                      </a:r>
                    </a:p>
                  </a:txBody>
                  <a:tcPr marL="45720" marR="45720" marT="9144" marB="9144">
                    <a:solidFill>
                      <a:srgbClr val="FFFFFF"/>
                    </a:solidFill>
                  </a:tcPr>
                </a:tc>
                <a:tc>
                  <a:txBody>
                    <a:bodyPr wrap="square"/>
                    <a:lstStyle/>
                    <a:p>
                      <a:r>
                        <a:rPr sz="1050" b="1">
                          <a:solidFill>
                            <a:srgbClr val="000000"/>
                          </a:solidFill>
                          <a:latin typeface="Calibri"/>
                        </a:rPr>
                        <a:t>Setting</a:t>
                      </a:r>
                    </a:p>
                  </a:txBody>
                  <a:tcPr marL="45720" marR="45720" marT="9144" marB="9144">
                    <a:solidFill>
                      <a:srgbClr val="FFFFFF"/>
                    </a:solidFill>
                  </a:tcPr>
                </a:tc>
                <a:tc>
                  <a:txBody>
                    <a:bodyPr wrap="square"/>
                    <a:lstStyle/>
                    <a:p>
                      <a:r>
                        <a:rPr sz="1050" b="1">
                          <a:solidFill>
                            <a:srgbClr val="000000"/>
                          </a:solidFill>
                          <a:latin typeface="Calibri"/>
                        </a:rPr>
                        <a:t>Value / note</a:t>
                      </a:r>
                    </a:p>
                  </a:txBody>
                  <a:tcPr marL="45720" marR="45720" marT="9144" marB="9144">
                    <a:solidFill>
                      <a:srgbClr val="FFFFFF"/>
                    </a:solidFill>
                  </a:tcPr>
                </a:tc>
              </a:tr>
              <a:tr h="237744">
                <a:tc>
                  <a:txBody>
                    <a:bodyPr wrap="square"/>
                    <a:lstStyle/>
                    <a:p>
                      <a:r>
                        <a:rPr sz="1050" b="0">
                          <a:solidFill>
                            <a:srgbClr val="000000"/>
                          </a:solidFill>
                          <a:latin typeface="Calibri"/>
                        </a:rPr>
                        <a:t>Collocation</a:t>
                      </a:r>
                    </a:p>
                  </a:txBody>
                  <a:tcPr marL="45720" marR="45720" marT="9144" marB="9144">
                    <a:solidFill>
                      <a:srgbClr val="FFFFFF"/>
                    </a:solidFill>
                  </a:tcPr>
                </a:tc>
                <a:tc>
                  <a:txBody>
                    <a:bodyPr wrap="square"/>
                    <a:lstStyle/>
                    <a:p>
                      <a:r>
                        <a:rPr sz="1050" b="0">
                          <a:solidFill>
                            <a:srgbClr val="000000"/>
                          </a:solidFill>
                          <a:latin typeface="Calibri"/>
                        </a:rPr>
                        <a:t>interior / boundary</a:t>
                      </a:r>
                    </a:p>
                  </a:txBody>
                  <a:tcPr marL="45720" marR="45720" marT="9144" marB="9144">
                    <a:solidFill>
                      <a:srgbClr val="FFFFFF"/>
                    </a:solidFill>
                  </a:tcPr>
                </a:tc>
                <a:tc>
                  <a:txBody>
                    <a:bodyPr wrap="square"/>
                    <a:lstStyle/>
                    <a:p>
                      <a:r>
                        <a:rPr sz="1050" b="0">
                          <a:solidFill>
                            <a:srgbClr val="000000"/>
                          </a:solidFill>
                          <a:latin typeface="Calibri"/>
                        </a:rPr>
                        <a:t>10,000 Sobol (frozen) / 512 per edge</a:t>
                      </a:r>
                    </a:p>
                  </a:txBody>
                  <a:tcPr marL="45720" marR="45720" marT="9144" marB="9144">
                    <a:solidFill>
                      <a:srgbClr val="FFFFFF"/>
                    </a:solidFill>
                  </a:tcPr>
                </a:tc>
              </a:tr>
              <a:tr h="237744">
                <a:tc>
                  <a:txBody>
                    <a:bodyPr wrap="square"/>
                    <a:lstStyle/>
                    <a:p>
                      <a:r>
                        <a:rPr sz="1050" b="0">
                          <a:solidFill>
                            <a:srgbClr val="000000"/>
                          </a:solidFill>
                          <a:latin typeface="Calibri"/>
                        </a:rPr>
                        <a:t>Loss</a:t>
                      </a:r>
                    </a:p>
                  </a:txBody>
                  <a:tcPr marL="45720" marR="45720" marT="9144" marB="9144">
                    <a:solidFill>
                      <a:srgbClr val="FFFFFF"/>
                    </a:solidFill>
                  </a:tcPr>
                </a:tc>
                <a:tc>
                  <a:txBody>
                    <a:bodyPr wrap="square"/>
                    <a:lstStyle/>
                    <a:p>
                      <a:r>
                        <a:rPr sz="1050" b="0">
                          <a:solidFill>
                            <a:srgbClr val="000000"/>
                          </a:solidFill>
                          <a:latin typeface="Calibri"/>
                        </a:rPr>
                        <a:t>form</a:t>
                      </a:r>
                    </a:p>
                  </a:txBody>
                  <a:tcPr marL="45720" marR="45720" marT="9144" marB="9144">
                    <a:solidFill>
                      <a:srgbClr val="FFFFFF"/>
                    </a:solidFill>
                  </a:tcPr>
                </a:tc>
                <a:tc>
                  <a:txBody>
                    <a:bodyPr wrap="square"/>
                    <a:lstStyle/>
                    <a:p>
                      <a:r>
                        <a:rPr sz="1050" b="0">
                          <a:solidFill>
                            <a:srgbClr val="000000"/>
                          </a:solidFill>
                          <a:latin typeface="Calibri"/>
                        </a:rPr>
                        <a:t>mean(residual²) + mean(boundary²), UNNORMALISED</a:t>
                      </a:r>
                    </a:p>
                  </a:txBody>
                  <a:tcPr marL="45720" marR="45720" marT="9144" marB="9144">
                    <a:solidFill>
                      <a:srgbClr val="FFFFFF"/>
                    </a:solidFill>
                  </a:tcPr>
                </a:tc>
              </a:tr>
              <a:tr h="237744">
                <a:tc>
                  <a:txBody>
                    <a:bodyPr wrap="square"/>
                    <a:lstStyle/>
                    <a:p>
                      <a:r>
                        <a:rPr sz="1050" b="0">
                          <a:solidFill>
                            <a:srgbClr val="000000"/>
                          </a:solidFill>
                          <a:latin typeface="Calibri"/>
                        </a:rPr>
                        <a:t/>
                      </a:r>
                    </a:p>
                  </a:txBody>
                  <a:tcPr marL="45720" marR="45720" marT="9144" marB="9144">
                    <a:solidFill>
                      <a:srgbClr val="FFFFFF"/>
                    </a:solidFill>
                  </a:tcPr>
                </a:tc>
                <a:tc>
                  <a:txBody>
                    <a:bodyPr wrap="square"/>
                    <a:lstStyle/>
                    <a:p>
                      <a:r>
                        <a:rPr sz="1050" b="0">
                          <a:solidFill>
                            <a:srgbClr val="000000"/>
                          </a:solidFill>
                          <a:latin typeface="Calibri"/>
                        </a:rPr>
                        <a:t>why unnormalised</a:t>
                      </a:r>
                    </a:p>
                  </a:txBody>
                  <a:tcPr marL="45720" marR="45720" marT="9144" marB="9144">
                    <a:solidFill>
                      <a:srgbClr val="FFFFFF"/>
                    </a:solidFill>
                  </a:tcPr>
                </a:tc>
                <a:tc>
                  <a:txBody>
                    <a:bodyPr wrap="square"/>
                    <a:lstStyle/>
                    <a:p>
                      <a:r>
                        <a:rPr sz="1050" b="0">
                          <a:solidFill>
                            <a:srgbClr val="000000"/>
                          </a:solidFill>
                          <a:latin typeface="Calibri"/>
                        </a:rPr>
                        <a:t>normalising shrinks gradients ~5e4×; L-BFGS's first step is min(1,1/||g||)·lr, so step one overshoots. Measured: 95.59 % → 0.86 %.</a:t>
                      </a:r>
                    </a:p>
                  </a:txBody>
                  <a:tcPr marL="45720" marR="45720" marT="9144" marB="9144">
                    <a:solidFill>
                      <a:srgbClr val="FFFFFF"/>
                    </a:solidFill>
                  </a:tcPr>
                </a:tc>
              </a:tr>
              <a:tr h="237744">
                <a:tc>
                  <a:txBody>
                    <a:bodyPr wrap="square"/>
                    <a:lstStyle/>
                    <a:p>
                      <a:r>
                        <a:rPr sz="1050" b="0">
                          <a:solidFill>
                            <a:srgbClr val="000000"/>
                          </a:solidFill>
                          <a:latin typeface="Calibri"/>
                        </a:rPr>
                        <a:t>Optimiser A</a:t>
                      </a:r>
                    </a:p>
                  </a:txBody>
                  <a:tcPr marL="45720" marR="45720" marT="9144" marB="9144">
                    <a:solidFill>
                      <a:srgbClr val="FFFFFF"/>
                    </a:solidFill>
                  </a:tcPr>
                </a:tc>
                <a:tc>
                  <a:txBody>
                    <a:bodyPr wrap="square"/>
                    <a:lstStyle/>
                    <a:p>
                      <a:r>
                        <a:rPr sz="1050" b="0">
                          <a:solidFill>
                            <a:srgbClr val="000000"/>
                          </a:solidFill>
                          <a:latin typeface="Calibri"/>
                        </a:rPr>
                        <a:t>pure L-BFGS</a:t>
                      </a:r>
                    </a:p>
                  </a:txBody>
                  <a:tcPr marL="45720" marR="45720" marT="9144" marB="9144">
                    <a:solidFill>
                      <a:srgbClr val="FFFFFF"/>
                    </a:solidFill>
                  </a:tcPr>
                </a:tc>
                <a:tc>
                  <a:txBody>
                    <a:bodyPr wrap="square"/>
                    <a:lstStyle/>
                    <a:p>
                      <a:r>
                        <a:rPr sz="1050" b="0">
                          <a:solidFill>
                            <a:srgbClr val="000000"/>
                          </a:solidFill>
                          <a:latin typeface="Calibri"/>
                        </a:rPr>
                        <a:t>max_iter 20, history 100, strong-Wolfe, cap 3000 epochs, patience-50 early stopping</a:t>
                      </a:r>
                    </a:p>
                  </a:txBody>
                  <a:tcPr marL="45720" marR="45720" marT="9144" marB="9144">
                    <a:solidFill>
                      <a:srgbClr val="FFFFFF"/>
                    </a:solidFill>
                  </a:tcPr>
                </a:tc>
              </a:tr>
              <a:tr h="237744">
                <a:tc>
                  <a:txBody>
                    <a:bodyPr wrap="square"/>
                    <a:lstStyle/>
                    <a:p>
                      <a:r>
                        <a:rPr sz="1050" b="0">
                          <a:solidFill>
                            <a:srgbClr val="000000"/>
                          </a:solidFill>
                          <a:latin typeface="Calibri"/>
                        </a:rPr>
                        <a:t>Optimiser B</a:t>
                      </a:r>
                    </a:p>
                  </a:txBody>
                  <a:tcPr marL="45720" marR="45720" marT="9144" marB="9144">
                    <a:solidFill>
                      <a:srgbClr val="FFFFFF"/>
                    </a:solidFill>
                  </a:tcPr>
                </a:tc>
                <a:tc>
                  <a:txBody>
                    <a:bodyPr wrap="square"/>
                    <a:lstStyle/>
                    <a:p>
                      <a:r>
                        <a:rPr sz="1050" b="0">
                          <a:solidFill>
                            <a:srgbClr val="000000"/>
                          </a:solidFill>
                          <a:latin typeface="Calibri"/>
                        </a:rPr>
                        <a:t>Adam → L-BFGS hybrid</a:t>
                      </a:r>
                    </a:p>
                  </a:txBody>
                  <a:tcPr marL="45720" marR="45720" marT="9144" marB="9144">
                    <a:solidFill>
                      <a:srgbClr val="FFFFFF"/>
                    </a:solidFill>
                  </a:tcPr>
                </a:tc>
                <a:tc>
                  <a:txBody>
                    <a:bodyPr wrap="square"/>
                    <a:lstStyle/>
                    <a:p>
                      <a:r>
                        <a:rPr sz="1050" b="0">
                          <a:solidFill>
                            <a:srgbClr val="000000"/>
                          </a:solidFill>
                          <a:latin typeface="Calibri"/>
                        </a:rPr>
                        <a:t>700 Adam steps, lr 1e-3, 70-step warm-up, 0.9 decay; then the same L-BFGS</a:t>
                      </a:r>
                    </a:p>
                  </a:txBody>
                  <a:tcPr marL="45720" marR="45720" marT="9144" marB="9144">
                    <a:solidFill>
                      <a:srgbClr val="FFFFFF"/>
                    </a:solidFill>
                  </a:tcPr>
                </a:tc>
              </a:tr>
              <a:tr h="237744">
                <a:tc>
                  <a:txBody>
                    <a:bodyPr wrap="square"/>
                    <a:lstStyle/>
                    <a:p>
                      <a:r>
                        <a:rPr sz="1050" b="0">
                          <a:solidFill>
                            <a:srgbClr val="000000"/>
                          </a:solidFill>
                          <a:latin typeface="Calibri"/>
                        </a:rPr>
                        <a:t/>
                      </a:r>
                    </a:p>
                  </a:txBody>
                  <a:tcPr marL="45720" marR="45720" marT="9144" marB="9144">
                    <a:solidFill>
                      <a:srgbClr val="FFFFFF"/>
                    </a:solidFill>
                  </a:tcPr>
                </a:tc>
                <a:tc>
                  <a:txBody>
                    <a:bodyPr wrap="square"/>
                    <a:lstStyle/>
                    <a:p>
                      <a:r>
                        <a:rPr sz="1050" b="0">
                          <a:solidFill>
                            <a:srgbClr val="000000"/>
                          </a:solidFill>
                          <a:latin typeface="Calibri"/>
                        </a:rPr>
                        <a:t>objective continuity</a:t>
                      </a:r>
                    </a:p>
                  </a:txBody>
                  <a:tcPr marL="45720" marR="45720" marT="9144" marB="9144">
                    <a:solidFill>
                      <a:srgbClr val="FFFFFF"/>
                    </a:solidFill>
                  </a:tcPr>
                </a:tc>
                <a:tc>
                  <a:txBody>
                    <a:bodyPr wrap="square"/>
                    <a:lstStyle/>
                    <a:p>
                      <a:r>
                        <a:rPr sz="1050" b="0">
                          <a:solidFill>
                            <a:srgbClr val="000000"/>
                          </a:solidFill>
                          <a:latin typeface="Calibri"/>
                        </a:rPr>
                        <a:t>both phases minimise the IDENTICAL objective, so the hand-off does not change the function</a:t>
                      </a:r>
                    </a:p>
                  </a:txBody>
                  <a:tcPr marL="45720" marR="45720" marT="9144" marB="9144">
                    <a:solidFill>
                      <a:srgbClr val="FFFFFF"/>
                    </a:solidFill>
                  </a:tcPr>
                </a:tc>
              </a:tr>
              <a:tr h="237744">
                <a:tc>
                  <a:txBody>
                    <a:bodyPr wrap="square"/>
                    <a:lstStyle/>
                    <a:p>
                      <a:r>
                        <a:rPr sz="1050" b="0">
                          <a:solidFill>
                            <a:srgbClr val="000000"/>
                          </a:solidFill>
                          <a:latin typeface="Calibri"/>
                        </a:rPr>
                        <a:t>Derivatives</a:t>
                      </a:r>
                    </a:p>
                  </a:txBody>
                  <a:tcPr marL="45720" marR="45720" marT="9144" marB="9144">
                    <a:solidFill>
                      <a:srgbClr val="FFFFFF"/>
                    </a:solidFill>
                  </a:tcPr>
                </a:tc>
                <a:tc>
                  <a:txBody>
                    <a:bodyPr wrap="square"/>
                    <a:lstStyle/>
                    <a:p>
                      <a:r>
                        <a:rPr sz="1050" b="0">
                          <a:solidFill>
                            <a:srgbClr val="000000"/>
                          </a:solidFill>
                          <a:latin typeface="Calibri"/>
                        </a:rPr>
                        <a:t>u_tt, u_x</a:t>
                      </a:r>
                    </a:p>
                  </a:txBody>
                  <a:tcPr marL="45720" marR="45720" marT="9144" marB="9144">
                    <a:solidFill>
                      <a:srgbClr val="FFFFFF"/>
                    </a:solidFill>
                  </a:tcPr>
                </a:tc>
                <a:tc>
                  <a:txBody>
                    <a:bodyPr wrap="square"/>
                    <a:lstStyle/>
                    <a:p>
                      <a:r>
                        <a:rPr sz="1050" b="0">
                          <a:solidFill>
                            <a:srgbClr val="000000"/>
                          </a:solidFill>
                          <a:latin typeface="Calibri"/>
                        </a:rPr>
                        <a:t>torch.autograd with create_graph=True — exact, not finite differences</a:t>
                      </a:r>
                    </a:p>
                  </a:txBody>
                  <a:tcPr marL="45720" marR="45720" marT="9144" marB="9144">
                    <a:solidFill>
                      <a:srgbClr val="FFFFFF"/>
                    </a:solidFill>
                  </a:tcPr>
                </a:tc>
              </a:tr>
              <a:tr h="237744">
                <a:tc>
                  <a:txBody>
                    <a:bodyPr wrap="square"/>
                    <a:lstStyle/>
                    <a:p>
                      <a:r>
                        <a:rPr sz="1050" b="0">
                          <a:solidFill>
                            <a:srgbClr val="000000"/>
                          </a:solidFill>
                          <a:latin typeface="Calibri"/>
                        </a:rPr>
                        <a:t>Scoring</a:t>
                      </a:r>
                    </a:p>
                  </a:txBody>
                  <a:tcPr marL="45720" marR="45720" marT="9144" marB="9144">
                    <a:solidFill>
                      <a:srgbClr val="FFFFFF"/>
                    </a:solidFill>
                  </a:tcPr>
                </a:tc>
                <a:tc>
                  <a:txBody>
                    <a:bodyPr wrap="square"/>
                    <a:lstStyle/>
                    <a:p>
                      <a:r>
                        <a:rPr sz="1050" b="0">
                          <a:solidFill>
                            <a:srgbClr val="000000"/>
                          </a:solidFill>
                          <a:latin typeface="Calibri"/>
                        </a:rPr>
                        <a:t>grid / reference</a:t>
                      </a:r>
                    </a:p>
                  </a:txBody>
                  <a:tcPr marL="45720" marR="45720" marT="9144" marB="9144">
                    <a:solidFill>
                      <a:srgbClr val="FFFFFF"/>
                    </a:solidFill>
                  </a:tcPr>
                </a:tc>
                <a:tc>
                  <a:txBody>
                    <a:bodyPr wrap="square"/>
                    <a:lstStyle/>
                    <a:p>
                      <a:r>
                        <a:rPr sz="1050" b="0">
                          <a:solidFill>
                            <a:srgbClr val="000000"/>
                          </a:solidFill>
                          <a:latin typeface="Calibri"/>
                        </a:rPr>
                        <a:t>4096 × 20 points; exact d'Alembert (homogeneous) or FD nx=2048–4096</a:t>
                      </a:r>
                    </a:p>
                  </a:txBody>
                  <a:tcPr marL="45720" marR="45720" marT="9144" marB="9144">
                    <a:solidFill>
                      <a:srgbClr val="FFFFFF"/>
                    </a:solidFill>
                  </a:tcPr>
                </a:tc>
              </a:tr>
              <a:tr h="237744">
                <a:tc>
                  <a:txBody>
                    <a:bodyPr wrap="square"/>
                    <a:lstStyle/>
                    <a:p>
                      <a:r>
                        <a:rPr sz="1050" b="0">
                          <a:solidFill>
                            <a:srgbClr val="000000"/>
                          </a:solidFill>
                          <a:latin typeface="Calibri"/>
                        </a:rPr>
                        <a:t>Seeds</a:t>
                      </a:r>
                    </a:p>
                  </a:txBody>
                  <a:tcPr marL="45720" marR="45720" marT="9144" marB="9144">
                    <a:solidFill>
                      <a:srgbClr val="FFFFFF"/>
                    </a:solidFill>
                  </a:tcPr>
                </a:tc>
                <a:tc>
                  <a:txBody>
                    <a:bodyPr wrap="square"/>
                    <a:lstStyle/>
                    <a:p>
                      <a:r>
                        <a:rPr sz="1050" b="0">
                          <a:solidFill>
                            <a:srgbClr val="000000"/>
                          </a:solidFill>
                          <a:latin typeface="Calibri"/>
                        </a:rPr>
                        <a:t>per headline cell</a:t>
                      </a:r>
                    </a:p>
                  </a:txBody>
                  <a:tcPr marL="45720" marR="45720" marT="9144" marB="9144">
                    <a:solidFill>
                      <a:srgbClr val="FFFFFF"/>
                    </a:solidFill>
                  </a:tcPr>
                </a:tc>
                <a:tc>
                  <a:txBody>
                    <a:bodyPr wrap="square"/>
                    <a:lstStyle/>
                    <a:p>
                      <a:r>
                        <a:rPr sz="1050" b="0">
                          <a:solidFill>
                            <a:srgbClr val="000000"/>
                          </a:solidFill>
                          <a:latin typeface="Calibri"/>
                        </a:rPr>
                        <a:t>11</a:t>
                      </a:r>
                    </a:p>
                  </a:txBody>
                  <a:tcPr marL="45720" marR="45720" marT="9144" marB="9144">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experiments we ran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10 phases, ~800 training runs</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615184"/>
        </p:xfrm>
        <a:graphic>
          <a:graphicData uri="http://schemas.openxmlformats.org/drawingml/2006/table">
            <a:tbl>
              <a:tblPr firstRow="1">
                <a:tableStyleId>{5C22544A-7EE6-4342-B048-85BDC9FD1C3A}</a:tableStyleId>
              </a:tblPr>
              <a:tblGrid>
                <a:gridCol w="822960"/>
                <a:gridCol w="5486400"/>
                <a:gridCol w="4937760"/>
              </a:tblGrid>
              <a:tr h="237744">
                <a:tc>
                  <a:txBody>
                    <a:bodyPr wrap="square"/>
                    <a:lstStyle/>
                    <a:p>
                      <a:r>
                        <a:rPr sz="1050" b="1">
                          <a:solidFill>
                            <a:srgbClr val="000000"/>
                          </a:solidFill>
                          <a:latin typeface="Calibri"/>
                        </a:rPr>
                        <a:t>Phase</a:t>
                      </a:r>
                    </a:p>
                  </a:txBody>
                  <a:tcPr marL="45720" marR="45720" marT="9144" marB="9144">
                    <a:solidFill>
                      <a:srgbClr val="FFFFFF"/>
                    </a:solidFill>
                  </a:tcPr>
                </a:tc>
                <a:tc>
                  <a:txBody>
                    <a:bodyPr wrap="square"/>
                    <a:lstStyle/>
                    <a:p>
                      <a:r>
                        <a:rPr sz="1050" b="1">
                          <a:solidFill>
                            <a:srgbClr val="000000"/>
                          </a:solidFill>
                          <a:latin typeface="Calibri"/>
                        </a:rPr>
                        <a:t>What it was</a:t>
                      </a:r>
                    </a:p>
                  </a:txBody>
                  <a:tcPr marL="45720" marR="45720" marT="9144" marB="9144">
                    <a:solidFill>
                      <a:srgbClr val="FFFFFF"/>
                    </a:solidFill>
                  </a:tcPr>
                </a:tc>
                <a:tc>
                  <a:txBody>
                    <a:bodyPr wrap="square"/>
                    <a:lstStyle/>
                    <a:p>
                      <a:r>
                        <a:rPr sz="1050" b="1">
                          <a:solidFill>
                            <a:srgbClr val="000000"/>
                          </a:solidFill>
                          <a:latin typeface="Calibri"/>
                        </a:rPr>
                        <a:t>Outcome</a:t>
                      </a:r>
                    </a:p>
                  </a:txBody>
                  <a:tcPr marL="45720" marR="45720" marT="9144" marB="9144">
                    <a:solidFill>
                      <a:srgbClr val="FFFFFF"/>
                    </a:solidFill>
                  </a:tcPr>
                </a:tc>
              </a:tr>
              <a:tr h="237744">
                <a:tc>
                  <a:txBody>
                    <a:bodyPr wrap="square"/>
                    <a:lstStyle/>
                    <a:p>
                      <a:r>
                        <a:rPr sz="1050" b="0">
                          <a:solidFill>
                            <a:srgbClr val="000000"/>
                          </a:solidFill>
                          <a:latin typeface="Calibri"/>
                        </a:rPr>
                        <a:t>3</a:t>
                      </a:r>
                    </a:p>
                  </a:txBody>
                  <a:tcPr marL="45720" marR="45720" marT="9144" marB="9144">
                    <a:solidFill>
                      <a:srgbClr val="FFFFFF"/>
                    </a:solidFill>
                  </a:tcPr>
                </a:tc>
                <a:tc>
                  <a:txBody>
                    <a:bodyPr wrap="square"/>
                    <a:lstStyle/>
                    <a:p>
                      <a:r>
                        <a:rPr sz="1050" b="0">
                          <a:solidFill>
                            <a:srgbClr val="000000"/>
                          </a:solidFill>
                          <a:latin typeface="Calibri"/>
                        </a:rPr>
                        <a:t>ansatz A/B: legacy vs poly hard constraint</a:t>
                      </a:r>
                    </a:p>
                  </a:txBody>
                  <a:tcPr marL="45720" marR="45720" marT="9144" marB="9144">
                    <a:solidFill>
                      <a:srgbClr val="FFFFFF"/>
                    </a:solidFill>
                  </a:tcPr>
                </a:tc>
                <a:tc>
                  <a:txBody>
                    <a:bodyPr wrap="square"/>
                    <a:lstStyle/>
                    <a:p>
                      <a:r>
                        <a:rPr sz="1050" b="0">
                          <a:solidFill>
                            <a:srgbClr val="000000"/>
                          </a:solidFill>
                          <a:latin typeface="Calibri"/>
                        </a:rPr>
                        <a:t>legacy wins 6/6 by two orders of magnitude</a:t>
                      </a:r>
                    </a:p>
                  </a:txBody>
                  <a:tcPr marL="45720" marR="45720" marT="9144" marB="9144">
                    <a:solidFill>
                      <a:srgbClr val="FFFFFF"/>
                    </a:solidFill>
                  </a:tcPr>
                </a:tc>
              </a:tr>
              <a:tr h="237744">
                <a:tc>
                  <a:txBody>
                    <a:bodyPr wrap="square"/>
                    <a:lstStyle/>
                    <a:p>
                      <a:r>
                        <a:rPr sz="1050" b="0">
                          <a:solidFill>
                            <a:srgbClr val="000000"/>
                          </a:solidFill>
                          <a:latin typeface="Calibri"/>
                        </a:rPr>
                        <a:t>4</a:t>
                      </a:r>
                    </a:p>
                  </a:txBody>
                  <a:tcPr marL="45720" marR="45720" marT="9144" marB="9144">
                    <a:solidFill>
                      <a:srgbClr val="FFFFFF"/>
                    </a:solidFill>
                  </a:tcPr>
                </a:tc>
                <a:tc>
                  <a:txBody>
                    <a:bodyPr wrap="square"/>
                    <a:lstStyle/>
                    <a:p>
                      <a:r>
                        <a:rPr sz="1050" b="0">
                          <a:solidFill>
                            <a:srgbClr val="000000"/>
                          </a:solidFill>
                          <a:latin typeface="Calibri"/>
                        </a:rPr>
                        <a:t>Adam-only sweep across architectures</a:t>
                      </a:r>
                    </a:p>
                  </a:txBody>
                  <a:tcPr marL="45720" marR="45720" marT="9144" marB="9144">
                    <a:solidFill>
                      <a:srgbClr val="FFFFFF"/>
                    </a:solidFill>
                  </a:tcPr>
                </a:tc>
                <a:tc>
                  <a:txBody>
                    <a:bodyPr wrap="square"/>
                    <a:lstStyle/>
                    <a:p>
                      <a:r>
                        <a:rPr sz="1050" b="0">
                          <a:solidFill>
                            <a:srgbClr val="000000"/>
                          </a:solidFill>
                          <a:latin typeface="Calibri"/>
                        </a:rPr>
                        <a:t>superseded — the optimiser turns out to be architecture-dependent</a:t>
                      </a:r>
                    </a:p>
                  </a:txBody>
                  <a:tcPr marL="45720" marR="45720" marT="9144" marB="9144">
                    <a:solidFill>
                      <a:srgbClr val="FFFFFF"/>
                    </a:solidFill>
                  </a:tcPr>
                </a:tc>
              </a:tr>
              <a:tr h="237744">
                <a:tc>
                  <a:txBody>
                    <a:bodyPr wrap="square"/>
                    <a:lstStyle/>
                    <a:p>
                      <a:r>
                        <a:rPr sz="1050" b="0">
                          <a:solidFill>
                            <a:srgbClr val="000000"/>
                          </a:solidFill>
                          <a:latin typeface="Calibri"/>
                        </a:rPr>
                        <a:t>5</a:t>
                      </a:r>
                    </a:p>
                  </a:txBody>
                  <a:tcPr marL="45720" marR="45720" marT="9144" marB="9144">
                    <a:solidFill>
                      <a:srgbClr val="FFFFFF"/>
                    </a:solidFill>
                  </a:tcPr>
                </a:tc>
                <a:tc>
                  <a:txBody>
                    <a:bodyPr wrap="square"/>
                    <a:lstStyle/>
                    <a:p>
                      <a:r>
                        <a:rPr sz="1050" b="0">
                          <a:solidFill>
                            <a:srgbClr val="000000"/>
                          </a:solidFill>
                          <a:latin typeface="Calibri"/>
                        </a:rPr>
                        <a:t>first L-BFGS grid</a:t>
                      </a:r>
                    </a:p>
                  </a:txBody>
                  <a:tcPr marL="45720" marR="45720" marT="9144" marB="9144">
                    <a:solidFill>
                      <a:srgbClr val="FFFFFF"/>
                    </a:solidFill>
                  </a:tcPr>
                </a:tc>
                <a:tc>
                  <a:txBody>
                    <a:bodyPr wrap="square"/>
                    <a:lstStyle/>
                    <a:p>
                      <a:r>
                        <a:rPr sz="1050" b="0">
                          <a:solidFill>
                            <a:srgbClr val="000000"/>
                          </a:solidFill>
                          <a:latin typeface="Calibri"/>
                        </a:rPr>
                        <a:t>ENTIRELY INVALID — D6 residual-normalisation bug</a:t>
                      </a:r>
                    </a:p>
                  </a:txBody>
                  <a:tcPr marL="45720" marR="45720" marT="9144" marB="9144">
                    <a:solidFill>
                      <a:srgbClr val="FFFFFF"/>
                    </a:solidFill>
                  </a:tcPr>
                </a:tc>
              </a:tr>
              <a:tr h="237744">
                <a:tc>
                  <a:txBody>
                    <a:bodyPr wrap="square"/>
                    <a:lstStyle/>
                    <a:p>
                      <a:r>
                        <a:rPr sz="1050" b="0">
                          <a:solidFill>
                            <a:srgbClr val="000000"/>
                          </a:solidFill>
                          <a:latin typeface="Calibri"/>
                        </a:rPr>
                        <a:t>6</a:t>
                      </a:r>
                    </a:p>
                  </a:txBody>
                  <a:tcPr marL="45720" marR="45720" marT="9144" marB="9144">
                    <a:solidFill>
                      <a:srgbClr val="FFFFFF"/>
                    </a:solidFill>
                  </a:tcPr>
                </a:tc>
                <a:tc>
                  <a:txBody>
                    <a:bodyPr wrap="square"/>
                    <a:lstStyle/>
                    <a:p>
                      <a:r>
                        <a:rPr sz="1050" b="0">
                          <a:solidFill>
                            <a:srgbClr val="000000"/>
                          </a:solidFill>
                          <a:latin typeface="Calibri"/>
                        </a:rPr>
                        <a:t>5 archs × 3 materials × 3 seeds × {plain, one-shot R3} = 90 runs</a:t>
                      </a:r>
                    </a:p>
                  </a:txBody>
                  <a:tcPr marL="45720" marR="45720" marT="9144" marB="9144">
                    <a:solidFill>
                      <a:srgbClr val="FFFFFF"/>
                    </a:solidFill>
                  </a:tcPr>
                </a:tc>
                <a:tc>
                  <a:txBody>
                    <a:bodyPr wrap="square"/>
                    <a:lstStyle/>
                    <a:p>
                      <a:r>
                        <a:rPr sz="1050" b="0">
                          <a:solidFill>
                            <a:srgbClr val="000000"/>
                          </a:solidFill>
                          <a:latin typeface="Calibri"/>
                        </a:rPr>
                        <a:t>complete</a:t>
                      </a:r>
                    </a:p>
                  </a:txBody>
                  <a:tcPr marL="45720" marR="45720" marT="9144" marB="9144">
                    <a:solidFill>
                      <a:srgbClr val="FFFFFF"/>
                    </a:solidFill>
                  </a:tcPr>
                </a:tc>
              </a:tr>
              <a:tr h="237744">
                <a:tc>
                  <a:txBody>
                    <a:bodyPr wrap="square"/>
                    <a:lstStyle/>
                    <a:p>
                      <a:r>
                        <a:rPr sz="1050" b="0">
                          <a:solidFill>
                            <a:srgbClr val="000000"/>
                          </a:solidFill>
                          <a:latin typeface="Calibri"/>
                        </a:rPr>
                        <a:t>7</a:t>
                      </a:r>
                    </a:p>
                  </a:txBody>
                  <a:tcPr marL="45720" marR="45720" marT="9144" marB="9144">
                    <a:solidFill>
                      <a:srgbClr val="FFFFFF"/>
                    </a:solidFill>
                  </a:tcPr>
                </a:tc>
                <a:tc>
                  <a:txBody>
                    <a:bodyPr wrap="square"/>
                    <a:lstStyle/>
                    <a:p>
                      <a:r>
                        <a:rPr sz="1050" b="0">
                          <a:solidFill>
                            <a:srgbClr val="000000"/>
                          </a:solidFill>
                          <a:latin typeface="Calibri"/>
                        </a:rPr>
                        <a:t>every epoch-capped cell re-run uncapped; all pykan reseeded</a:t>
                      </a:r>
                    </a:p>
                  </a:txBody>
                  <a:tcPr marL="45720" marR="45720" marT="9144" marB="9144">
                    <a:solidFill>
                      <a:srgbClr val="FFFFFF"/>
                    </a:solidFill>
                  </a:tcPr>
                </a:tc>
                <a:tc>
                  <a:txBody>
                    <a:bodyPr wrap="square"/>
                    <a:lstStyle/>
                    <a:p>
                      <a:r>
                        <a:rPr sz="1050" b="0">
                          <a:solidFill>
                            <a:srgbClr val="000000"/>
                          </a:solidFill>
                          <a:latin typeface="Calibri"/>
                        </a:rPr>
                        <a:t>34 runs; the seed-hijack fix changed every KAN number</a:t>
                      </a:r>
                    </a:p>
                  </a:txBody>
                  <a:tcPr marL="45720" marR="45720" marT="9144" marB="9144">
                    <a:solidFill>
                      <a:srgbClr val="FFFFFF"/>
                    </a:solidFill>
                  </a:tcPr>
                </a:tc>
              </a:tr>
              <a:tr h="237744">
                <a:tc>
                  <a:txBody>
                    <a:bodyPr wrap="square"/>
                    <a:lstStyle/>
                    <a:p>
                      <a:r>
                        <a:rPr sz="1050" b="0">
                          <a:solidFill>
                            <a:srgbClr val="000000"/>
                          </a:solidFill>
                          <a:latin typeface="Calibri"/>
                        </a:rPr>
                        <a:t>8</a:t>
                      </a:r>
                    </a:p>
                  </a:txBody>
                  <a:tcPr marL="45720" marR="45720" marT="9144" marB="9144">
                    <a:solidFill>
                      <a:srgbClr val="FFFFFF"/>
                    </a:solidFill>
                  </a:tcPr>
                </a:tc>
                <a:tc>
                  <a:txBody>
                    <a:bodyPr wrap="square"/>
                    <a:lstStyle/>
                    <a:p>
                      <a:r>
                        <a:rPr sz="1050" b="0">
                          <a:solidFill>
                            <a:srgbClr val="000000"/>
                          </a:solidFill>
                          <a:latin typeface="Calibri"/>
                        </a:rPr>
                        <a:t>15-variant KAN strengthening ladder</a:t>
                      </a:r>
                    </a:p>
                  </a:txBody>
                  <a:tcPr marL="45720" marR="45720" marT="9144" marB="9144">
                    <a:solidFill>
                      <a:srgbClr val="FFFFFF"/>
                    </a:solidFill>
                  </a:tcPr>
                </a:tc>
                <a:tc>
                  <a:txBody>
                    <a:bodyPr wrap="square"/>
                    <a:lstStyle/>
                    <a:p>
                      <a:r>
                        <a:rPr sz="1050" b="0">
                          <a:solidFill>
                            <a:srgbClr val="000000"/>
                          </a:solidFill>
                          <a:latin typeface="Calibri"/>
                        </a:rPr>
                        <a:t>charcoords50 identified as the best KAN</a:t>
                      </a:r>
                    </a:p>
                  </a:txBody>
                  <a:tcPr marL="45720" marR="45720" marT="9144" marB="9144">
                    <a:solidFill>
                      <a:srgbClr val="FFFFFF"/>
                    </a:solidFill>
                  </a:tcPr>
                </a:tc>
              </a:tr>
              <a:tr h="237744">
                <a:tc>
                  <a:txBody>
                    <a:bodyPr wrap="square"/>
                    <a:lstStyle/>
                    <a:p>
                      <a:r>
                        <a:rPr sz="1050" b="0">
                          <a:solidFill>
                            <a:srgbClr val="000000"/>
                          </a:solidFill>
                          <a:latin typeface="Calibri"/>
                        </a:rPr>
                        <a:t>9</a:t>
                      </a:r>
                    </a:p>
                  </a:txBody>
                  <a:tcPr marL="45720" marR="45720" marT="9144" marB="9144">
                    <a:solidFill>
                      <a:srgbClr val="FFFFFF"/>
                    </a:solidFill>
                  </a:tcPr>
                </a:tc>
                <a:tc>
                  <a:txBody>
                    <a:bodyPr wrap="square"/>
                    <a:lstStyle/>
                    <a:p>
                      <a:r>
                        <a:rPr sz="1050" b="0">
                          <a:solidFill>
                            <a:srgbClr val="000000"/>
                          </a:solidFill>
                          <a:latin typeface="Calibri"/>
                        </a:rPr>
                        <a:t>update_grid sweep — can the last measured defect be fixed?</a:t>
                      </a:r>
                    </a:p>
                  </a:txBody>
                  <a:tcPr marL="45720" marR="45720" marT="9144" marB="9144">
                    <a:solidFill>
                      <a:srgbClr val="FFFFFF"/>
                    </a:solidFill>
                  </a:tcPr>
                </a:tc>
                <a:tc>
                  <a:txBody>
                    <a:bodyPr wrap="square"/>
                    <a:lstStyle/>
                    <a:p>
                      <a:r>
                        <a:rPr sz="1050" b="0">
                          <a:solidFill>
                            <a:srgbClr val="000000"/>
                          </a:solidFill>
                          <a:latin typeface="Calibri"/>
                        </a:rPr>
                        <a:t>8/8 collapse; see slide 30</a:t>
                      </a:r>
                    </a:p>
                  </a:txBody>
                  <a:tcPr marL="45720" marR="45720" marT="9144" marB="9144">
                    <a:solidFill>
                      <a:srgbClr val="FFFFFF"/>
                    </a:solidFill>
                  </a:tcPr>
                </a:tc>
              </a:tr>
              <a:tr h="237744">
                <a:tc>
                  <a:txBody>
                    <a:bodyPr wrap="square"/>
                    <a:lstStyle/>
                    <a:p>
                      <a:r>
                        <a:rPr sz="1050" b="0">
                          <a:solidFill>
                            <a:srgbClr val="000000"/>
                          </a:solidFill>
                          <a:latin typeface="Calibri"/>
                        </a:rPr>
                        <a:t>re-score</a:t>
                      </a:r>
                    </a:p>
                  </a:txBody>
                  <a:tcPr marL="45720" marR="45720" marT="9144" marB="9144">
                    <a:solidFill>
                      <a:srgbClr val="FFFFFF"/>
                    </a:solidFill>
                  </a:tcPr>
                </a:tc>
                <a:tc>
                  <a:txBody>
                    <a:bodyPr wrap="square"/>
                    <a:lstStyle/>
                    <a:p>
                      <a:r>
                        <a:rPr sz="1050" b="0">
                          <a:solidFill>
                            <a:srgbClr val="000000"/>
                          </a:solidFill>
                          <a:latin typeface="Calibri"/>
                        </a:rPr>
                        <a:t>everything re-scored at nx=2048, then 4096, then exact</a:t>
                      </a:r>
                    </a:p>
                  </a:txBody>
                  <a:tcPr marL="45720" marR="45720" marT="9144" marB="9144">
                    <a:solidFill>
                      <a:srgbClr val="FFFFFF"/>
                    </a:solidFill>
                  </a:tcPr>
                </a:tc>
                <a:tc>
                  <a:txBody>
                    <a:bodyPr wrap="square"/>
                    <a:lstStyle/>
                    <a:p>
                      <a:r>
                        <a:rPr sz="1050" b="0">
                          <a:solidFill>
                            <a:srgbClr val="000000"/>
                          </a:solidFill>
                          <a:latin typeface="Calibri"/>
                        </a:rPr>
                        <a:t>the nx=512 reference had been the measurement floor</a:t>
                      </a:r>
                    </a:p>
                  </a:txBody>
                  <a:tcPr marL="45720" marR="45720" marT="9144" marB="9144">
                    <a:solidFill>
                      <a:srgbClr val="FFFFFF"/>
                    </a:solidFill>
                  </a:tcPr>
                </a:tc>
              </a:tr>
              <a:tr h="237744">
                <a:tc>
                  <a:txBody>
                    <a:bodyPr wrap="square"/>
                    <a:lstStyle/>
                    <a:p>
                      <a:r>
                        <a:rPr sz="1050" b="0">
                          <a:solidFill>
                            <a:srgbClr val="000000"/>
                          </a:solidFill>
                          <a:latin typeface="Calibri"/>
                        </a:rPr>
                        <a:t>10</a:t>
                      </a:r>
                    </a:p>
                  </a:txBody>
                  <a:tcPr marL="45720" marR="45720" marT="9144" marB="9144">
                    <a:solidFill>
                      <a:srgbClr val="FFFFFF"/>
                    </a:solidFill>
                  </a:tcPr>
                </a:tc>
                <a:tc>
                  <a:txBody>
                    <a:bodyPr wrap="square"/>
                    <a:lstStyle/>
                    <a:p>
                      <a:r>
                        <a:rPr sz="1050" b="0">
                          <a:solidFill>
                            <a:srgbClr val="000000"/>
                          </a:solidFill>
                          <a:latin typeface="Calibri"/>
                        </a:rPr>
                        <a:t>Adam→L-BFGS hybrid × 4 models × 3 materials × {plain, paper-faithful R3}</a:t>
                      </a:r>
                    </a:p>
                  </a:txBody>
                  <a:tcPr marL="45720" marR="45720" marT="9144" marB="9144">
                    <a:solidFill>
                      <a:srgbClr val="FFFFFF"/>
                    </a:solidFill>
                  </a:tcPr>
                </a:tc>
                <a:tc>
                  <a:txBody>
                    <a:bodyPr wrap="square"/>
                    <a:lstStyle/>
                    <a:p>
                      <a:r>
                        <a:rPr sz="1050" b="0">
                          <a:solidFill>
                            <a:srgbClr val="000000"/>
                          </a:solidFill>
                          <a:latin typeface="Calibri"/>
                        </a:rPr>
                        <a:t>120 runs; the optimiser finding</a:t>
                      </a:r>
                    </a:p>
                  </a:txBody>
                  <a:tcPr marL="45720" marR="45720" marT="9144" marB="9144">
                    <a:solidFill>
                      <a:srgbClr val="FFFFFF"/>
                    </a:solidFill>
                  </a:tcPr>
                </a:tc>
              </a:tr>
              <a:tr h="237744">
                <a:tc>
                  <a:txBody>
                    <a:bodyPr wrap="square"/>
                    <a:lstStyle/>
                    <a:p>
                      <a:r>
                        <a:rPr sz="1050" b="0">
                          <a:solidFill>
                            <a:srgbClr val="000000"/>
                          </a:solidFill>
                          <a:latin typeface="Calibri"/>
                        </a:rPr>
                        <a:t>10b</a:t>
                      </a:r>
                    </a:p>
                  </a:txBody>
                  <a:tcPr marL="45720" marR="45720" marT="9144" marB="9144">
                    <a:solidFill>
                      <a:srgbClr val="FFFFFF"/>
                    </a:solidFill>
                  </a:tcPr>
                </a:tc>
                <a:tc>
                  <a:txBody>
                    <a:bodyPr wrap="square"/>
                    <a:lstStyle/>
                    <a:p>
                      <a:r>
                        <a:rPr sz="1050" b="0">
                          <a:solidFill>
                            <a:srgbClr val="000000"/>
                          </a:solidFill>
                          <a:latin typeface="Calibri"/>
                        </a:rPr>
                        <a:t>n=11 extension, matched parameters, soft IC, basin and representation probes</a:t>
                      </a:r>
                    </a:p>
                  </a:txBody>
                  <a:tcPr marL="45720" marR="45720" marT="9144" marB="9144">
                    <a:solidFill>
                      <a:srgbClr val="FFFFFF"/>
                    </a:solidFill>
                  </a:tcPr>
                </a:tc>
                <a:tc>
                  <a:txBody>
                    <a:bodyPr wrap="square"/>
                    <a:lstStyle/>
                    <a:p>
                      <a:r>
                        <a:rPr sz="1050" b="0">
                          <a:solidFill>
                            <a:srgbClr val="000000"/>
                          </a:solidFill>
                          <a:latin typeface="Calibri"/>
                        </a:rPr>
                        <a:t>the results in Part E</a:t>
                      </a:r>
                    </a:p>
                  </a:txBody>
                  <a:tcPr marL="45720" marR="45720" marT="9144" marB="9144">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Bugs we found in our OWN work</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15 in core/, 6 of them in the most recent session</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377440"/>
        </p:xfrm>
        <a:graphic>
          <a:graphicData uri="http://schemas.openxmlformats.org/drawingml/2006/table">
            <a:tbl>
              <a:tblPr firstRow="1">
                <a:tableStyleId>{5C22544A-7EE6-4342-B048-85BDC9FD1C3A}</a:tableStyleId>
              </a:tblPr>
              <a:tblGrid>
                <a:gridCol w="457200"/>
                <a:gridCol w="5029200"/>
                <a:gridCol w="5760720"/>
              </a:tblGrid>
              <a:tr h="237744">
                <a:tc>
                  <a:txBody>
                    <a:bodyPr wrap="square"/>
                    <a:lstStyle/>
                    <a:p>
                      <a:r>
                        <a:rPr sz="950" b="1">
                          <a:solidFill>
                            <a:srgbClr val="000000"/>
                          </a:solidFill>
                          <a:latin typeface="Calibri"/>
                        </a:rPr>
                        <a:t>#</a:t>
                      </a:r>
                    </a:p>
                  </a:txBody>
                  <a:tcPr marL="45720" marR="45720" marT="9144" marB="9144">
                    <a:solidFill>
                      <a:srgbClr val="FFFFFF"/>
                    </a:solidFill>
                  </a:tcPr>
                </a:tc>
                <a:tc>
                  <a:txBody>
                    <a:bodyPr wrap="square"/>
                    <a:lstStyle/>
                    <a:p>
                      <a:r>
                        <a:rPr sz="950" b="1">
                          <a:solidFill>
                            <a:srgbClr val="000000"/>
                          </a:solidFill>
                          <a:latin typeface="Calibri"/>
                        </a:rPr>
                        <a:t>Defect</a:t>
                      </a:r>
                    </a:p>
                  </a:txBody>
                  <a:tcPr marL="45720" marR="45720" marT="9144" marB="9144">
                    <a:solidFill>
                      <a:srgbClr val="FFFFFF"/>
                    </a:solidFill>
                  </a:tcPr>
                </a:tc>
                <a:tc>
                  <a:txBody>
                    <a:bodyPr wrap="square"/>
                    <a:lstStyle/>
                    <a:p>
                      <a:r>
                        <a:rPr sz="950" b="1">
                          <a:solidFill>
                            <a:srgbClr val="000000"/>
                          </a:solidFill>
                          <a:latin typeface="Calibri"/>
                        </a:rPr>
                        <a:t>Measured effect</a:t>
                      </a:r>
                    </a:p>
                  </a:txBody>
                  <a:tcPr marL="45720" marR="45720" marT="9144" marB="9144">
                    <a:solidFill>
                      <a:srgbClr val="FFFFFF"/>
                    </a:solidFill>
                  </a:tcPr>
                </a:tc>
              </a:tr>
              <a:tr h="237744">
                <a:tc>
                  <a:txBody>
                    <a:bodyPr wrap="square"/>
                    <a:lstStyle/>
                    <a:p>
                      <a:r>
                        <a:rPr sz="950" b="0">
                          <a:solidFill>
                            <a:srgbClr val="000000"/>
                          </a:solidFill>
                          <a:latin typeface="Calibri"/>
                        </a:rPr>
                        <a:t>1</a:t>
                      </a:r>
                    </a:p>
                  </a:txBody>
                  <a:tcPr marL="45720" marR="45720" marT="9144" marB="9144">
                    <a:solidFill>
                      <a:srgbClr val="FFFFFF"/>
                    </a:solidFill>
                  </a:tcPr>
                </a:tc>
                <a:tc>
                  <a:txBody>
                    <a:bodyPr wrap="square"/>
                    <a:lstStyle/>
                    <a:p>
                      <a:r>
                        <a:rPr sz="950" b="0">
                          <a:solidFill>
                            <a:srgbClr val="000000"/>
                          </a:solidFill>
                          <a:latin typeface="Calibri"/>
                        </a:rPr>
                        <a:t>D6 residual normalisation shrank gradients ~5e4×</a:t>
                      </a:r>
                    </a:p>
                  </a:txBody>
                  <a:tcPr marL="45720" marR="45720" marT="9144" marB="9144">
                    <a:solidFill>
                      <a:srgbClr val="FFFFFF"/>
                    </a:solidFill>
                  </a:tcPr>
                </a:tc>
                <a:tc>
                  <a:txBody>
                    <a:bodyPr wrap="square"/>
                    <a:lstStyle/>
                    <a:p>
                      <a:r>
                        <a:rPr sz="950" b="0">
                          <a:solidFill>
                            <a:srgbClr val="000000"/>
                          </a:solidFill>
                          <a:latin typeface="Calibri"/>
                        </a:rPr>
                        <a:t>MLP/twolayer 95.59 % → 0.86 %; WavKAN 92.63 % → 0.88 %. Invalidated all of Phase 5.</a:t>
                      </a:r>
                    </a:p>
                  </a:txBody>
                  <a:tcPr marL="45720" marR="45720" marT="9144" marB="9144">
                    <a:solidFill>
                      <a:srgbClr val="FFFFFF"/>
                    </a:solidFill>
                  </a:tcPr>
                </a:tc>
              </a:tr>
              <a:tr h="237744">
                <a:tc>
                  <a:txBody>
                    <a:bodyPr wrap="square"/>
                    <a:lstStyle/>
                    <a:p>
                      <a:r>
                        <a:rPr sz="950" b="0">
                          <a:solidFill>
                            <a:srgbClr val="000000"/>
                          </a:solidFill>
                          <a:latin typeface="Calibri"/>
                        </a:rPr>
                        <a:t>2</a:t>
                      </a:r>
                    </a:p>
                  </a:txBody>
                  <a:tcPr marL="45720" marR="45720" marT="9144" marB="9144">
                    <a:solidFill>
                      <a:srgbClr val="FFFFFF"/>
                    </a:solidFill>
                  </a:tcPr>
                </a:tc>
                <a:tc>
                  <a:txBody>
                    <a:bodyPr wrap="square"/>
                    <a:lstStyle/>
                    <a:p>
                      <a:r>
                        <a:rPr sz="950" b="0">
                          <a:solidFill>
                            <a:srgbClr val="000000"/>
                          </a:solidFill>
                          <a:latin typeface="Calibri"/>
                        </a:rPr>
                        <a:t>FD reference was first-order (dt mislabelled, first-order start-up)</a:t>
                      </a:r>
                    </a:p>
                  </a:txBody>
                  <a:tcPr marL="45720" marR="45720" marT="9144" marB="9144">
                    <a:solidFill>
                      <a:srgbClr val="FFFFFF"/>
                    </a:solidFill>
                  </a:tcPr>
                </a:tc>
                <a:tc>
                  <a:txBody>
                    <a:bodyPr wrap="square"/>
                    <a:lstStyle/>
                    <a:p>
                      <a:r>
                        <a:rPr sz="950" b="0">
                          <a:solidFill>
                            <a:srgbClr val="000000"/>
                          </a:solidFill>
                          <a:latin typeface="Calibri"/>
                        </a:rPr>
                        <a:t>convergence order 1.01 → 2.00</a:t>
                      </a:r>
                    </a:p>
                  </a:txBody>
                  <a:tcPr marL="45720" marR="45720" marT="9144" marB="9144">
                    <a:solidFill>
                      <a:srgbClr val="FFFFFF"/>
                    </a:solidFill>
                  </a:tcPr>
                </a:tc>
              </a:tr>
              <a:tr h="237744">
                <a:tc>
                  <a:txBody>
                    <a:bodyPr wrap="square"/>
                    <a:lstStyle/>
                    <a:p>
                      <a:r>
                        <a:rPr sz="950" b="0">
                          <a:solidFill>
                            <a:srgbClr val="000000"/>
                          </a:solidFill>
                          <a:latin typeface="Calibri"/>
                        </a:rPr>
                        <a:t>4</a:t>
                      </a:r>
                    </a:p>
                  </a:txBody>
                  <a:tcPr marL="45720" marR="45720" marT="9144" marB="9144">
                    <a:solidFill>
                      <a:srgbClr val="FFFFFF"/>
                    </a:solidFill>
                  </a:tcPr>
                </a:tc>
                <a:tc>
                  <a:txBody>
                    <a:bodyPr wrap="square"/>
                    <a:lstStyle/>
                    <a:p>
                      <a:r>
                        <a:rPr sz="950" b="0">
                          <a:solidFill>
                            <a:srgbClr val="000000"/>
                          </a:solidFill>
                          <a:latin typeface="Calibri"/>
                        </a:rPr>
                        <a:t>R3 scheduled at epoch 350 but runs early-stopped at ~237</a:t>
                      </a:r>
                    </a:p>
                  </a:txBody>
                  <a:tcPr marL="45720" marR="45720" marT="9144" marB="9144">
                    <a:solidFill>
                      <a:srgbClr val="FFFFFF"/>
                    </a:solidFill>
                  </a:tcPr>
                </a:tc>
                <a:tc>
                  <a:txBody>
                    <a:bodyPr wrap="square"/>
                    <a:lstStyle/>
                    <a:p>
                      <a:r>
                        <a:rPr sz="950" b="0">
                          <a:solidFill>
                            <a:srgbClr val="000000"/>
                          </a:solidFill>
                          <a:latin typeface="Calibri"/>
                        </a:rPr>
                        <a:t>plain and R3 arms returned BIT-IDENTICAL results — that is how it was caught</a:t>
                      </a:r>
                    </a:p>
                  </a:txBody>
                  <a:tcPr marL="45720" marR="45720" marT="9144" marB="9144">
                    <a:solidFill>
                      <a:srgbClr val="FFFFFF"/>
                    </a:solidFill>
                  </a:tcPr>
                </a:tc>
              </a:tr>
              <a:tr h="237744">
                <a:tc>
                  <a:txBody>
                    <a:bodyPr wrap="square"/>
                    <a:lstStyle/>
                    <a:p>
                      <a:r>
                        <a:rPr sz="950" b="0">
                          <a:solidFill>
                            <a:srgbClr val="000000"/>
                          </a:solidFill>
                          <a:latin typeface="Calibri"/>
                        </a:rPr>
                        <a:t>6</a:t>
                      </a:r>
                    </a:p>
                  </a:txBody>
                  <a:tcPr marL="45720" marR="45720" marT="9144" marB="9144">
                    <a:solidFill>
                      <a:srgbClr val="FFFFFF"/>
                    </a:solidFill>
                  </a:tcPr>
                </a:tc>
                <a:tc>
                  <a:txBody>
                    <a:bodyPr wrap="square"/>
                    <a:lstStyle/>
                    <a:p>
                      <a:r>
                        <a:rPr sz="950" b="0">
                          <a:solidFill>
                            <a:srgbClr val="000000"/>
                          </a:solidFill>
                          <a:latin typeface="Calibri"/>
                        </a:rPr>
                        <a:t>Stale checkpoints</a:t>
                      </a:r>
                    </a:p>
                  </a:txBody>
                  <a:tcPr marL="45720" marR="45720" marT="9144" marB="9144">
                    <a:solidFill>
                      <a:srgbClr val="FFFFFF"/>
                    </a:solidFill>
                  </a:tcPr>
                </a:tc>
                <a:tc>
                  <a:txBody>
                    <a:bodyPr wrap="square"/>
                    <a:lstStyle/>
                    <a:p>
                      <a:r>
                        <a:rPr sz="950" b="0">
                          <a:solidFill>
                            <a:srgbClr val="000000"/>
                          </a:solidFill>
                          <a:latin typeface="Calibri"/>
                        </a:rPr>
                        <a:t>20–80× wrong; produced the claim "rak is terrible on heterogeneous"</a:t>
                      </a:r>
                    </a:p>
                  </a:txBody>
                  <a:tcPr marL="45720" marR="45720" marT="9144" marB="9144">
                    <a:solidFill>
                      <a:srgbClr val="FFFFFF"/>
                    </a:solidFill>
                  </a:tcPr>
                </a:tc>
              </a:tr>
              <a:tr h="237744">
                <a:tc>
                  <a:txBody>
                    <a:bodyPr wrap="square"/>
                    <a:lstStyle/>
                    <a:p>
                      <a:r>
                        <a:rPr sz="950" b="0">
                          <a:solidFill>
                            <a:srgbClr val="000000"/>
                          </a:solidFill>
                          <a:latin typeface="Calibri"/>
                        </a:rPr>
                        <a:t>6b</a:t>
                      </a:r>
                    </a:p>
                  </a:txBody>
                  <a:tcPr marL="45720" marR="45720" marT="9144" marB="9144">
                    <a:solidFill>
                      <a:srgbClr val="FFFFFF"/>
                    </a:solidFill>
                  </a:tcPr>
                </a:tc>
                <a:tc>
                  <a:txBody>
                    <a:bodyPr wrap="square"/>
                    <a:lstStyle/>
                    <a:p>
                      <a:r>
                        <a:rPr sz="950" b="0">
                          <a:solidFill>
                            <a:srgbClr val="000000"/>
                          </a:solidFill>
                          <a:latin typeface="Calibri"/>
                        </a:rPr>
                        <a:t>Linear probe targeted u instead of N = (u − g·decay)/growth</a:t>
                      </a:r>
                    </a:p>
                  </a:txBody>
                  <a:tcPr marL="45720" marR="45720" marT="9144" marB="9144">
                    <a:solidFill>
                      <a:srgbClr val="FFFFFF"/>
                    </a:solidFill>
                  </a:tcPr>
                </a:tc>
                <a:tc>
                  <a:txBody>
                    <a:bodyPr wrap="square"/>
                    <a:lstStyle/>
                    <a:p>
                      <a:r>
                        <a:rPr sz="950" b="0">
                          <a:solidFill>
                            <a:srgbClr val="000000"/>
                          </a:solidFill>
                          <a:latin typeface="Calibri"/>
                        </a:rPr>
                        <a:t>reported 13 % where the truth was 0.07 % — a 185× error</a:t>
                      </a:r>
                    </a:p>
                  </a:txBody>
                  <a:tcPr marL="45720" marR="45720" marT="9144" marB="9144">
                    <a:solidFill>
                      <a:srgbClr val="FFFFFF"/>
                    </a:solidFill>
                  </a:tcPr>
                </a:tc>
              </a:tr>
              <a:tr h="237744">
                <a:tc>
                  <a:txBody>
                    <a:bodyPr wrap="square"/>
                    <a:lstStyle/>
                    <a:p>
                      <a:r>
                        <a:rPr sz="950" b="0">
                          <a:solidFill>
                            <a:srgbClr val="000000"/>
                          </a:solidFill>
                          <a:latin typeface="Calibri"/>
                        </a:rPr>
                        <a:t>7</a:t>
                      </a:r>
                    </a:p>
                  </a:txBody>
                  <a:tcPr marL="45720" marR="45720" marT="9144" marB="9144">
                    <a:solidFill>
                      <a:srgbClr val="FFFFFF"/>
                    </a:solidFill>
                  </a:tcPr>
                </a:tc>
                <a:tc>
                  <a:txBody>
                    <a:bodyPr wrap="square"/>
                    <a:lstStyle/>
                    <a:p>
                      <a:r>
                        <a:rPr sz="950" b="0">
                          <a:solidFill>
                            <a:srgbClr val="000000"/>
                          </a:solidFill>
                          <a:latin typeface="Calibri"/>
                        </a:rPr>
                        <a:t>Soft-IC runs scored with the WRONG ansatz (score() hardcoded "legacy")</a:t>
                      </a:r>
                    </a:p>
                  </a:txBody>
                  <a:tcPr marL="45720" marR="45720" marT="9144" marB="9144">
                    <a:solidFill>
                      <a:srgbClr val="FFFFFF"/>
                    </a:solidFill>
                  </a:tcPr>
                </a:tc>
                <a:tc>
                  <a:txBody>
                    <a:bodyPr wrap="square"/>
                    <a:lstStyle/>
                    <a:p>
                      <a:r>
                        <a:rPr sz="950" b="0">
                          <a:solidFill>
                            <a:srgbClr val="000000"/>
                          </a:solidFill>
                          <a:latin typeface="Calibri"/>
                        </a:rPr>
                        <a:t>six runs from two unrelated architectures all returned 20.52–20.53 % — the tell. Fourier PINN 20.54 % → 0.2140 %.</a:t>
                      </a:r>
                    </a:p>
                  </a:txBody>
                  <a:tcPr marL="45720" marR="45720" marT="9144" marB="9144">
                    <a:solidFill>
                      <a:srgbClr val="FFFFFF"/>
                    </a:solidFill>
                  </a:tcPr>
                </a:tc>
              </a:tr>
              <a:tr h="237744">
                <a:tc>
                  <a:txBody>
                    <a:bodyPr wrap="square"/>
                    <a:lstStyle/>
                    <a:p>
                      <a:r>
                        <a:rPr sz="950" b="0">
                          <a:solidFill>
                            <a:srgbClr val="000000"/>
                          </a:solidFill>
                          <a:latin typeface="Calibri"/>
                        </a:rPr>
                        <a:t>8</a:t>
                      </a:r>
                    </a:p>
                  </a:txBody>
                  <a:tcPr marL="45720" marR="45720" marT="9144" marB="9144">
                    <a:solidFill>
                      <a:srgbClr val="FFFFFF"/>
                    </a:solidFill>
                  </a:tcPr>
                </a:tc>
                <a:tc>
                  <a:txBody>
                    <a:bodyPr wrap="square"/>
                    <a:lstStyle/>
                    <a:p>
                      <a:r>
                        <a:rPr sz="950" b="0">
                          <a:solidFill>
                            <a:srgbClr val="000000"/>
                          </a:solidFill>
                          <a:latin typeface="Calibri"/>
                        </a:rPr>
                        <a:t>An inventory script defaulted a missing 'optimizer' key to "lbfgs"; Phase 4 was Adam</a:t>
                      </a:r>
                    </a:p>
                  </a:txBody>
                  <a:tcPr marL="45720" marR="45720" marT="9144" marB="9144">
                    <a:solidFill>
                      <a:srgbClr val="FFFFFF"/>
                    </a:solidFill>
                  </a:tcPr>
                </a:tc>
                <a:tc>
                  <a:txBody>
                    <a:bodyPr wrap="square"/>
                    <a:lstStyle/>
                    <a:p>
                      <a:r>
                        <a:rPr sz="950" b="0">
                          <a:solidFill>
                            <a:srgbClr val="000000"/>
                          </a:solidFill>
                          <a:latin typeface="Calibri"/>
                        </a:rPr>
                        <a:t>produced a mechanism claim that was exactly backwards</a:t>
                      </a:r>
                    </a:p>
                  </a:txBody>
                  <a:tcPr marL="45720" marR="45720" marT="9144" marB="9144">
                    <a:solidFill>
                      <a:srgbClr val="FFFFFF"/>
                    </a:solidFill>
                  </a:tcPr>
                </a:tc>
              </a:tr>
              <a:tr h="237744">
                <a:tc>
                  <a:txBody>
                    <a:bodyPr wrap="square"/>
                    <a:lstStyle/>
                    <a:p>
                      <a:r>
                        <a:rPr sz="950" b="0">
                          <a:solidFill>
                            <a:srgbClr val="000000"/>
                          </a:solidFill>
                          <a:latin typeface="Calibri"/>
                        </a:rPr>
                        <a:t>9</a:t>
                      </a:r>
                    </a:p>
                  </a:txBody>
                  <a:tcPr marL="45720" marR="45720" marT="9144" marB="9144">
                    <a:solidFill>
                      <a:srgbClr val="FFFFFF"/>
                    </a:solidFill>
                  </a:tcPr>
                </a:tc>
                <a:tc>
                  <a:txBody>
                    <a:bodyPr wrap="square"/>
                    <a:lstStyle/>
                    <a:p>
                      <a:r>
                        <a:rPr sz="950" b="0">
                          <a:solidFill>
                            <a:srgbClr val="000000"/>
                          </a:solidFill>
                          <a:latin typeface="Calibri"/>
                        </a:rPr>
                        <a:t>Representation test under-converged; its docstring claims float64, the code is float32</a:t>
                      </a:r>
                    </a:p>
                  </a:txBody>
                  <a:tcPr marL="45720" marR="45720" marT="9144" marB="9144">
                    <a:solidFill>
                      <a:srgbClr val="FFFFFF"/>
                    </a:solidFill>
                  </a:tcPr>
                </a:tc>
                <a:tc>
                  <a:txBody>
                    <a:bodyPr wrap="square"/>
                    <a:lstStyle/>
                    <a:p>
                      <a:r>
                        <a:rPr sz="950" b="0">
                          <a:solidFill>
                            <a:srgbClr val="000000"/>
                          </a:solidFill>
                          <a:latin typeface="Calibri"/>
                        </a:rPr>
                        <a:t>reported upper bounds on error as if they were ceilings</a:t>
                      </a:r>
                    </a:p>
                  </a:txBody>
                  <a:tcPr marL="45720" marR="45720" marT="9144" marB="9144">
                    <a:solidFill>
                      <a:srgbClr val="FFFFFF"/>
                    </a:solidFill>
                  </a:tcPr>
                </a:tc>
              </a:tr>
              <a:tr h="237744">
                <a:tc>
                  <a:txBody>
                    <a:bodyPr wrap="square"/>
                    <a:lstStyle/>
                    <a:p>
                      <a:r>
                        <a:rPr sz="950" b="0">
                          <a:solidFill>
                            <a:srgbClr val="000000"/>
                          </a:solidFill>
                          <a:latin typeface="Calibri"/>
                        </a:rPr>
                        <a:t>13</a:t>
                      </a:r>
                    </a:p>
                  </a:txBody>
                  <a:tcPr marL="45720" marR="45720" marT="9144" marB="9144">
                    <a:solidFill>
                      <a:srgbClr val="FFFFFF"/>
                    </a:solidFill>
                  </a:tcPr>
                </a:tc>
                <a:tc>
                  <a:txBody>
                    <a:bodyPr wrap="square"/>
                    <a:lstStyle/>
                    <a:p>
                      <a:r>
                        <a:rPr sz="950" b="0">
                          <a:solidFill>
                            <a:srgbClr val="000000"/>
                          </a:solidFill>
                          <a:latin typeface="Calibri"/>
                        </a:rPr>
                        <a:t>_SplineKANLayer init: B-splines directly on a sigma_B=10 Fourier embedding</a:t>
                      </a:r>
                    </a:p>
                  </a:txBody>
                  <a:tcPr marL="45720" marR="45720" marT="9144" marB="9144">
                    <a:solidFill>
                      <a:srgbClr val="FFFFFF"/>
                    </a:solidFill>
                  </a:tcPr>
                </a:tc>
                <a:tc>
                  <a:txBody>
                    <a:bodyPr wrap="square"/>
                    <a:lstStyle/>
                    <a:p>
                      <a:r>
                        <a:rPr sz="950" b="0">
                          <a:solidFill>
                            <a:srgbClr val="000000"/>
                          </a:solidFill>
                          <a:latin typeface="Calibri"/>
                        </a:rPr>
                        <a:t>max|u_tt| = 1.16e6 vs ~2e2 elsewhere; PDE loss 3.5e10 at step zero</a:t>
                      </a:r>
                    </a:p>
                  </a:txBody>
                  <a:tcPr marL="45720" marR="45720" marT="9144" marB="9144">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Bugs we found UPSTREAM</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In pykan and in PyTorch — all worked around, none reported as ours</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664208"/>
        </p:xfrm>
        <a:graphic>
          <a:graphicData uri="http://schemas.openxmlformats.org/drawingml/2006/table">
            <a:tbl>
              <a:tblPr firstRow="1">
                <a:tableStyleId>{5C22544A-7EE6-4342-B048-85BDC9FD1C3A}</a:tableStyleId>
              </a:tblPr>
              <a:tblGrid>
                <a:gridCol w="914400"/>
                <a:gridCol w="5852160"/>
                <a:gridCol w="4480560"/>
              </a:tblGrid>
              <a:tr h="237744">
                <a:tc>
                  <a:txBody>
                    <a:bodyPr wrap="square"/>
                    <a:lstStyle/>
                    <a:p>
                      <a:r>
                        <a:rPr sz="950" b="1">
                          <a:solidFill>
                            <a:srgbClr val="000000"/>
                          </a:solidFill>
                          <a:latin typeface="Calibri"/>
                        </a:rPr>
                        <a:t>Library</a:t>
                      </a:r>
                    </a:p>
                  </a:txBody>
                  <a:tcPr marL="45720" marR="45720" marT="9144" marB="9144">
                    <a:solidFill>
                      <a:srgbClr val="FFFFFF"/>
                    </a:solidFill>
                  </a:tcPr>
                </a:tc>
                <a:tc>
                  <a:txBody>
                    <a:bodyPr wrap="square"/>
                    <a:lstStyle/>
                    <a:p>
                      <a:r>
                        <a:rPr sz="950" b="1">
                          <a:solidFill>
                            <a:srgbClr val="000000"/>
                          </a:solidFill>
                          <a:latin typeface="Calibri"/>
                        </a:rPr>
                        <a:t>Defect</a:t>
                      </a:r>
                    </a:p>
                  </a:txBody>
                  <a:tcPr marL="45720" marR="45720" marT="9144" marB="9144">
                    <a:solidFill>
                      <a:srgbClr val="FFFFFF"/>
                    </a:solidFill>
                  </a:tcPr>
                </a:tc>
                <a:tc>
                  <a:txBody>
                    <a:bodyPr wrap="square"/>
                    <a:lstStyle/>
                    <a:p>
                      <a:r>
                        <a:rPr sz="950" b="1">
                          <a:solidFill>
                            <a:srgbClr val="000000"/>
                          </a:solidFill>
                          <a:latin typeface="Calibri"/>
                        </a:rPr>
                        <a:t>Measured effect</a:t>
                      </a:r>
                    </a:p>
                  </a:txBody>
                  <a:tcPr marL="45720" marR="45720" marT="9144" marB="9144">
                    <a:solidFill>
                      <a:srgbClr val="FFFFFF"/>
                    </a:solidFill>
                  </a:tcPr>
                </a:tc>
              </a:tr>
              <a:tr h="237744">
                <a:tc>
                  <a:txBody>
                    <a:bodyPr wrap="square"/>
                    <a:lstStyle/>
                    <a:p>
                      <a:r>
                        <a:rPr sz="950" b="0">
                          <a:solidFill>
                            <a:srgbClr val="000000"/>
                          </a:solidFill>
                          <a:latin typeface="Calibri"/>
                        </a:rPr>
                        <a:t>pykan</a:t>
                      </a:r>
                    </a:p>
                  </a:txBody>
                  <a:tcPr marL="45720" marR="45720" marT="9144" marB="9144">
                    <a:solidFill>
                      <a:srgbClr val="FFFFFF"/>
                    </a:solidFill>
                  </a:tcPr>
                </a:tc>
                <a:tc>
                  <a:txBody>
                    <a:bodyPr wrap="square"/>
                    <a:lstStyle/>
                    <a:p>
                      <a:r>
                        <a:rPr sz="950" b="0">
                          <a:solidFill>
                            <a:srgbClr val="000000"/>
                          </a:solidFill>
                          <a:latin typeface="Calibri"/>
                        </a:rPr>
                        <a:t>curve2coef returns NaN on CUDA. torch.linalg.lstsq's only CUDA driver is gels, which assumes full rank and returns NaN WITHOUT RAISING. KAN activations contract with depth, so layers 1–3 are rank-deficient (7/8, 4/8, 4/8).</a:t>
                      </a:r>
                    </a:p>
                  </a:txBody>
                  <a:tcPr marL="45720" marR="45720" marT="9144" marB="9144">
                    <a:solidFill>
                      <a:srgbClr val="FFFFFF"/>
                    </a:solidFill>
                  </a:tcPr>
                </a:tc>
                <a:tc>
                  <a:txBody>
                    <a:bodyPr wrap="square"/>
                    <a:lstStyle/>
                    <a:p>
                      <a:r>
                        <a:rPr sz="950" b="0">
                          <a:solidFill>
                            <a:srgbClr val="000000"/>
                          </a:solidFill>
                          <a:latin typeface="Calibri"/>
                        </a:rPr>
                        <a:t>every grid refinement past layer 0 was silently NaN — the KAN paper's own accuracy mechanism was unusable on GPU</a:t>
                      </a:r>
                    </a:p>
                  </a:txBody>
                  <a:tcPr marL="45720" marR="45720" marT="9144" marB="9144">
                    <a:solidFill>
                      <a:srgbClr val="FFFFFF"/>
                    </a:solidFill>
                  </a:tcPr>
                </a:tc>
              </a:tr>
              <a:tr h="237744">
                <a:tc>
                  <a:txBody>
                    <a:bodyPr wrap="square"/>
                    <a:lstStyle/>
                    <a:p>
                      <a:r>
                        <a:rPr sz="950" b="0">
                          <a:solidFill>
                            <a:srgbClr val="000000"/>
                          </a:solidFill>
                          <a:latin typeface="Calibri"/>
                        </a:rPr>
                        <a:t>pykan</a:t>
                      </a:r>
                    </a:p>
                  </a:txBody>
                  <a:tcPr marL="45720" marR="45720" marT="9144" marB="9144">
                    <a:solidFill>
                      <a:srgbClr val="FFFFFF"/>
                    </a:solidFill>
                  </a:tcPr>
                </a:tc>
                <a:tc>
                  <a:txBody>
                    <a:bodyPr wrap="square"/>
                    <a:lstStyle/>
                    <a:p>
                      <a:r>
                        <a:rPr sz="950" b="0">
                          <a:solidFill>
                            <a:srgbClr val="000000"/>
                          </a:solidFill>
                          <a:latin typeface="Calibri"/>
                        </a:rPr>
                        <a:t>curve2coef unstable at k = 5 even at nominal full rank</a:t>
                      </a:r>
                    </a:p>
                  </a:txBody>
                  <a:tcPr marL="45720" marR="45720" marT="9144" marB="9144">
                    <a:solidFill>
                      <a:srgbClr val="FFFFFF"/>
                    </a:solidFill>
                  </a:tcPr>
                </a:tc>
                <a:tc>
                  <a:txBody>
                    <a:bodyPr wrap="square"/>
                    <a:lstStyle/>
                    <a:p>
                      <a:r>
                        <a:rPr sz="950" b="0">
                          <a:solidFill>
                            <a:srgbClr val="000000"/>
                          </a:solidFill>
                          <a:latin typeface="Calibri"/>
                        </a:rPr>
                        <a:t>LSQ residual 48.22 vs the ridge solve's 0.00197 — a 24,500× error</a:t>
                      </a:r>
                    </a:p>
                  </a:txBody>
                  <a:tcPr marL="45720" marR="45720" marT="9144" marB="9144">
                    <a:solidFill>
                      <a:srgbClr val="FFFFFF"/>
                    </a:solidFill>
                  </a:tcPr>
                </a:tc>
              </a:tr>
              <a:tr h="237744">
                <a:tc>
                  <a:txBody>
                    <a:bodyPr wrap="square"/>
                    <a:lstStyle/>
                    <a:p>
                      <a:r>
                        <a:rPr sz="950" b="0">
                          <a:solidFill>
                            <a:srgbClr val="000000"/>
                          </a:solidFill>
                          <a:latin typeface="Calibri"/>
                        </a:rPr>
                        <a:t>pykan</a:t>
                      </a:r>
                    </a:p>
                  </a:txBody>
                  <a:tcPr marL="45720" marR="45720" marT="9144" marB="9144">
                    <a:solidFill>
                      <a:srgbClr val="FFFFFF"/>
                    </a:solidFill>
                  </a:tcPr>
                </a:tc>
                <a:tc>
                  <a:txBody>
                    <a:bodyPr wrap="square"/>
                    <a:lstStyle/>
                    <a:p>
                      <a:r>
                        <a:rPr sz="950" b="0">
                          <a:solidFill>
                            <a:srgbClr val="000000"/>
                          </a:solidFill>
                          <a:latin typeface="Calibri"/>
                        </a:rPr>
                        <a:t>MultKAN.__init__ calls torch.manual_seed with its OWN seed, overriding the trainer's</a:t>
                      </a:r>
                    </a:p>
                  </a:txBody>
                  <a:tcPr marL="45720" marR="45720" marT="9144" marB="9144">
                    <a:solidFill>
                      <a:srgbClr val="FFFFFF"/>
                    </a:solidFill>
                  </a:tcPr>
                </a:tc>
                <a:tc>
                  <a:txBody>
                    <a:bodyPr wrap="square"/>
                    <a:lstStyle/>
                    <a:p>
                      <a:r>
                        <a:rPr sz="950" b="0">
                          <a:solidFill>
                            <a:srgbClr val="000000"/>
                          </a:solidFill>
                          <a:latin typeface="Calibri"/>
                        </a:rPr>
                        <a:t>seed-0 and seed-2 parameters differed by 1.49e-08 — all three "seeds" were one seed</a:t>
                      </a:r>
                    </a:p>
                  </a:txBody>
                  <a:tcPr marL="45720" marR="45720" marT="9144" marB="9144">
                    <a:solidFill>
                      <a:srgbClr val="FFFFFF"/>
                    </a:solidFill>
                  </a:tcPr>
                </a:tc>
              </a:tr>
              <a:tr h="237744">
                <a:tc>
                  <a:txBody>
                    <a:bodyPr wrap="square"/>
                    <a:lstStyle/>
                    <a:p>
                      <a:r>
                        <a:rPr sz="950" b="0">
                          <a:solidFill>
                            <a:srgbClr val="000000"/>
                          </a:solidFill>
                          <a:latin typeface="Calibri"/>
                        </a:rPr>
                        <a:t>pykan</a:t>
                      </a:r>
                    </a:p>
                  </a:txBody>
                  <a:tcPr marL="45720" marR="45720" marT="9144" marB="9144">
                    <a:solidFill>
                      <a:srgbClr val="FFFFFF"/>
                    </a:solidFill>
                  </a:tcPr>
                </a:tc>
                <a:tc>
                  <a:txBody>
                    <a:bodyPr wrap="square"/>
                    <a:lstStyle/>
                    <a:p>
                      <a:r>
                        <a:rPr sz="950" b="0">
                          <a:solidFill>
                            <a:srgbClr val="000000"/>
                          </a:solidFill>
                          <a:latin typeface="Calibri"/>
                        </a:rPr>
                        <a:t>symbolic branch registered trainable under symbolic_enabled=False</a:t>
                      </a:r>
                    </a:p>
                  </a:txBody>
                  <a:tcPr marL="45720" marR="45720" marT="9144" marB="9144">
                    <a:solidFill>
                      <a:srgbClr val="FFFFFF"/>
                    </a:solidFill>
                  </a:tcPr>
                </a:tc>
                <a:tc>
                  <a:txBody>
                    <a:bodyPr wrap="square"/>
                    <a:lstStyle/>
                    <a:p>
                      <a:r>
                        <a:rPr sz="950" b="0">
                          <a:solidFill>
                            <a:srgbClr val="000000"/>
                          </a:solidFill>
                          <a:latin typeface="Calibri"/>
                        </a:rPr>
                        <a:t>params reported 12,040 vs 8,600 real; every L-BFGS history vector padded with zeros</a:t>
                      </a:r>
                    </a:p>
                  </a:txBody>
                  <a:tcPr marL="45720" marR="45720" marT="9144" marB="9144">
                    <a:solidFill>
                      <a:srgbClr val="FFFFFF"/>
                    </a:solidFill>
                  </a:tcPr>
                </a:tc>
              </a:tr>
              <a:tr h="237744">
                <a:tc>
                  <a:txBody>
                    <a:bodyPr wrap="square"/>
                    <a:lstStyle/>
                    <a:p>
                      <a:r>
                        <a:rPr sz="950" b="0">
                          <a:solidFill>
                            <a:srgbClr val="000000"/>
                          </a:solidFill>
                          <a:latin typeface="Calibri"/>
                        </a:rPr>
                        <a:t>torch</a:t>
                      </a:r>
                    </a:p>
                  </a:txBody>
                  <a:tcPr marL="45720" marR="45720" marT="9144" marB="9144">
                    <a:solidFill>
                      <a:srgbClr val="FFFFFF"/>
                    </a:solidFill>
                  </a:tcPr>
                </a:tc>
                <a:tc>
                  <a:txBody>
                    <a:bodyPr wrap="square"/>
                    <a:lstStyle/>
                    <a:p>
                      <a:r>
                        <a:rPr sz="950" b="0">
                          <a:solidFill>
                            <a:srgbClr val="000000"/>
                          </a:solidFill>
                          <a:latin typeface="Calibri"/>
                        </a:rPr>
                        <a:t>L-BFGS _cubic_interpolate overflows float32: d1² ≈ 2.7e49 → inf/inf → NaN step</a:t>
                      </a:r>
                    </a:p>
                  </a:txBody>
                  <a:tcPr marL="45720" marR="45720" marT="9144" marB="9144">
                    <a:solidFill>
                      <a:srgbClr val="FFFFFF"/>
                    </a:solidFill>
                  </a:tcPr>
                </a:tc>
                <a:tc>
                  <a:txBody>
                    <a:bodyPr wrap="square"/>
                    <a:lstStyle/>
                    <a:p>
                      <a:r>
                        <a:rPr sz="950" b="0">
                          <a:solidFill>
                            <a:srgbClr val="000000"/>
                          </a:solidFill>
                          <a:latin typeface="Calibri"/>
                        </a:rPr>
                        <a:t>WavKAN parameters NaN-ed while the REPORTED loss read a healthy 418.69</a:t>
                      </a:r>
                    </a:p>
                  </a:txBody>
                  <a:tcPr marL="45720" marR="45720" marT="9144" marB="9144">
                    <a:solidFill>
                      <a:srgbClr val="FFFFFF"/>
                    </a:solidFill>
                  </a:tcPr>
                </a:tc>
              </a:tr>
              <a:tr h="237744">
                <a:tc>
                  <a:txBody>
                    <a:bodyPr wrap="square"/>
                    <a:lstStyle/>
                    <a:p>
                      <a:r>
                        <a:rPr sz="950" b="0">
                          <a:solidFill>
                            <a:srgbClr val="000000"/>
                          </a:solidFill>
                          <a:latin typeface="Calibri"/>
                        </a:rPr>
                        <a:t>torch</a:t>
                      </a:r>
                    </a:p>
                  </a:txBody>
                  <a:tcPr marL="45720" marR="45720" marT="9144" marB="9144">
                    <a:solidFill>
                      <a:srgbClr val="FFFFFF"/>
                    </a:solidFill>
                  </a:tcPr>
                </a:tc>
                <a:tc>
                  <a:txBody>
                    <a:bodyPr wrap="square"/>
                    <a:lstStyle/>
                    <a:p>
                      <a:r>
                        <a:rPr sz="950" b="0">
                          <a:solidFill>
                            <a:srgbClr val="000000"/>
                          </a:solidFill>
                          <a:latin typeface="Calibri"/>
                        </a:rPr>
                        <a:t>L-BFGS returns the PRE-step loss</a:t>
                      </a:r>
                    </a:p>
                  </a:txBody>
                  <a:tcPr marL="45720" marR="45720" marT="9144" marB="9144">
                    <a:solidFill>
                      <a:srgbClr val="FFFFFF"/>
                    </a:solidFill>
                  </a:tcPr>
                </a:tc>
                <a:tc>
                  <a:txBody>
                    <a:bodyPr wrap="square"/>
                    <a:lstStyle/>
                    <a:p>
                      <a:r>
                        <a:rPr sz="950" b="0">
                          <a:solidFill>
                            <a:srgbClr val="000000"/>
                          </a:solidFill>
                          <a:latin typeface="Calibri"/>
                        </a:rPr>
                        <a:t>a NaN born in the line search is invisible in the return value — the guard must check parameters</a:t>
                      </a:r>
                    </a:p>
                  </a:txBody>
                  <a:tcPr marL="45720" marR="45720" marT="9144" marB="9144">
                    <a:solidFill>
                      <a:srgbClr val="FFFFFF"/>
                    </a:solidFill>
                  </a:tcPr>
                </a:tc>
              </a:tr>
            </a:tbl>
          </a:graphicData>
        </a:graphic>
      </p:graphicFrame>
      <p:sp>
        <p:nvSpPr>
          <p:cNvPr id="6" name="TextBox 5"/>
          <p:cNvSpPr txBox="1"/>
          <p:nvPr/>
        </p:nvSpPr>
        <p:spPr>
          <a:xfrm>
            <a:off x="502920" y="6263640"/>
            <a:ext cx="11155680" cy="411480"/>
          </a:xfrm>
          <a:prstGeom prst="rect">
            <a:avLst/>
          </a:prstGeom>
          <a:noFill/>
        </p:spPr>
        <p:txBody>
          <a:bodyPr wrap="square">
            <a:spAutoFit/>
          </a:bodyPr>
          <a:lstStyle/>
          <a:p>
            <a:r>
              <a:rPr sz="1050">
                <a:solidFill>
                  <a:srgbClr val="606060"/>
                </a:solidFill>
                <a:latin typeface="Calibri"/>
              </a:rPr>
              <a:t>Both curve2coef defects fixed by a ridge-regularised normal-equation solve — the fallback pykan itself left commented out. Verified identical to pykan wherever pykan is valid.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0"/>
            <a:ext cx="11338560" cy="1280160"/>
          </a:xfrm>
          <a:prstGeom prst="rect">
            <a:avLst/>
          </a:prstGeom>
          <a:noFill/>
        </p:spPr>
        <p:txBody>
          <a:bodyPr wrap="none">
            <a:spAutoFit/>
          </a:bodyPr>
          <a:lstStyle/>
          <a:p>
            <a:r>
              <a:rPr sz="1400">
                <a:solidFill>
                  <a:srgbClr val="606060"/>
                </a:solidFill>
                <a:latin typeface="Calibri"/>
              </a:rPr>
              <a:t>PART E</a:t>
            </a:r>
          </a:p>
          <a:p>
            <a:r>
              <a:rPr sz="3200" b="1">
                <a:solidFill>
                  <a:srgbClr val="000000"/>
                </a:solidFill>
                <a:latin typeface="Calibri"/>
              </a:rPr>
              <a:t>Results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Headline result — homogeneous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Scored against the EXACT d'Alembert solution, n = 11 per arm</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713232"/>
        </p:xfrm>
        <a:graphic>
          <a:graphicData uri="http://schemas.openxmlformats.org/drawingml/2006/table">
            <a:tbl>
              <a:tblPr firstRow="1">
                <a:tableStyleId>{5C22544A-7EE6-4342-B048-85BDC9FD1C3A}</a:tableStyleId>
              </a:tblPr>
              <a:tblGrid>
                <a:gridCol w="2468880"/>
                <a:gridCol w="2103120"/>
                <a:gridCol w="2103120"/>
                <a:gridCol w="914400"/>
                <a:gridCol w="1005840"/>
                <a:gridCol w="914400"/>
                <a:gridCol w="1737360"/>
              </a:tblGrid>
              <a:tr h="237744">
                <a:tc>
                  <a:txBody>
                    <a:bodyPr wrap="square"/>
                    <a:lstStyle/>
                    <a:p>
                      <a:r>
                        <a:rPr sz="1150" b="1">
                          <a:solidFill>
                            <a:srgbClr val="000000"/>
                          </a:solidFill>
                          <a:latin typeface="Calibri"/>
                        </a:rPr>
                        <a:t>Optimiser</a:t>
                      </a:r>
                    </a:p>
                  </a:txBody>
                  <a:tcPr marL="45720" marR="45720" marT="9144" marB="9144">
                    <a:solidFill>
                      <a:srgbClr val="FFFFFF"/>
                    </a:solidFill>
                  </a:tcPr>
                </a:tc>
                <a:tc>
                  <a:txBody>
                    <a:bodyPr wrap="square"/>
                    <a:lstStyle/>
                    <a:p>
                      <a:r>
                        <a:rPr sz="1150" b="1">
                          <a:solidFill>
                            <a:srgbClr val="000000"/>
                          </a:solidFill>
                          <a:latin typeface="Calibri"/>
                        </a:rPr>
                        <a:t>Fourier PINN</a:t>
                      </a:r>
                    </a:p>
                  </a:txBody>
                  <a:tcPr marL="45720" marR="45720" marT="9144" marB="9144">
                    <a:solidFill>
                      <a:srgbClr val="FFFFFF"/>
                    </a:solidFill>
                  </a:tcPr>
                </a:tc>
                <a:tc>
                  <a:txBody>
                    <a:bodyPr wrap="square"/>
                    <a:lstStyle/>
                    <a:p>
                      <a:r>
                        <a:rPr sz="1150" b="1">
                          <a:solidFill>
                            <a:srgbClr val="000000"/>
                          </a:solidFill>
                          <a:latin typeface="Calibri"/>
                        </a:rPr>
                        <a:t>tuned KAN</a:t>
                      </a:r>
                    </a:p>
                  </a:txBody>
                  <a:tcPr marL="45720" marR="45720" marT="9144" marB="9144">
                    <a:solidFill>
                      <a:srgbClr val="FFFFFF"/>
                    </a:solidFill>
                  </a:tcPr>
                </a:tc>
                <a:tc>
                  <a:txBody>
                    <a:bodyPr wrap="square"/>
                    <a:lstStyle/>
                    <a:p>
                      <a:r>
                        <a:rPr sz="1150" b="1">
                          <a:solidFill>
                            <a:srgbClr val="000000"/>
                          </a:solidFill>
                          <a:latin typeface="Calibri"/>
                        </a:rPr>
                        <a:t>gap</a:t>
                      </a:r>
                    </a:p>
                  </a:txBody>
                  <a:tcPr marL="45720" marR="45720" marT="9144" marB="9144">
                    <a:solidFill>
                      <a:srgbClr val="FFFFFF"/>
                    </a:solidFill>
                  </a:tcPr>
                </a:tc>
                <a:tc>
                  <a:txBody>
                    <a:bodyPr wrap="square"/>
                    <a:lstStyle/>
                    <a:p>
                      <a:r>
                        <a:rPr sz="1150" b="1">
                          <a:solidFill>
                            <a:srgbClr val="000000"/>
                          </a:solidFill>
                          <a:latin typeface="Calibri"/>
                        </a:rPr>
                        <a:t>Welch p</a:t>
                      </a:r>
                    </a:p>
                  </a:txBody>
                  <a:tcPr marL="45720" marR="45720" marT="9144" marB="9144">
                    <a:solidFill>
                      <a:srgbClr val="FFFFFF"/>
                    </a:solidFill>
                  </a:tcPr>
                </a:tc>
                <a:tc>
                  <a:txBody>
                    <a:bodyPr wrap="square"/>
                    <a:lstStyle/>
                    <a:p>
                      <a:r>
                        <a:rPr sz="1150" b="1">
                          <a:solidFill>
                            <a:srgbClr val="000000"/>
                          </a:solidFill>
                          <a:latin typeface="Calibri"/>
                        </a:rPr>
                        <a:t>paired</a:t>
                      </a:r>
                    </a:p>
                  </a:txBody>
                  <a:tcPr marL="45720" marR="45720" marT="9144" marB="9144">
                    <a:solidFill>
                      <a:srgbClr val="FFFFFF"/>
                    </a:solidFill>
                  </a:tcPr>
                </a:tc>
                <a:tc>
                  <a:txBody>
                    <a:bodyPr wrap="square"/>
                    <a:lstStyle/>
                    <a:p>
                      <a:r>
                        <a:rPr sz="1150" b="1">
                          <a:solidFill>
                            <a:srgbClr val="000000"/>
                          </a:solidFill>
                          <a:latin typeface="Calibri"/>
                        </a:rPr>
                        <a:t>verdict</a:t>
                      </a:r>
                    </a:p>
                  </a:txBody>
                  <a:tcPr marL="45720" marR="45720" marT="9144" marB="9144">
                    <a:solidFill>
                      <a:srgbClr val="FFFFFF"/>
                    </a:solidFill>
                  </a:tcPr>
                </a:tc>
              </a:tr>
              <a:tr h="237744">
                <a:tc>
                  <a:txBody>
                    <a:bodyPr wrap="square"/>
                    <a:lstStyle/>
                    <a:p>
                      <a:r>
                        <a:rPr sz="1150" b="0">
                          <a:solidFill>
                            <a:srgbClr val="000000"/>
                          </a:solidFill>
                          <a:latin typeface="Calibri"/>
                        </a:rPr>
                        <a:t>pure L-BFGS</a:t>
                      </a:r>
                    </a:p>
                  </a:txBody>
                  <a:tcPr marL="45720" marR="45720" marT="9144" marB="9144">
                    <a:solidFill>
                      <a:srgbClr val="FFFFFF"/>
                    </a:solidFill>
                  </a:tcPr>
                </a:tc>
                <a:tc>
                  <a:txBody>
                    <a:bodyPr wrap="square"/>
                    <a:lstStyle/>
                    <a:p>
                      <a:r>
                        <a:rPr sz="1150" b="0">
                          <a:solidFill>
                            <a:srgbClr val="000000"/>
                          </a:solidFill>
                          <a:latin typeface="Calibri"/>
                        </a:rPr>
                        <a:t>0.0281 ± 0.0073</a:t>
                      </a:r>
                    </a:p>
                  </a:txBody>
                  <a:tcPr marL="45720" marR="45720" marT="9144" marB="9144">
                    <a:solidFill>
                      <a:srgbClr val="FFFFFF"/>
                    </a:solidFill>
                  </a:tcPr>
                </a:tc>
                <a:tc>
                  <a:txBody>
                    <a:bodyPr wrap="square"/>
                    <a:lstStyle/>
                    <a:p>
                      <a:r>
                        <a:rPr sz="1150" b="0">
                          <a:solidFill>
                            <a:srgbClr val="000000"/>
                          </a:solidFill>
                          <a:latin typeface="Calibri"/>
                        </a:rPr>
                        <a:t>0.0313 ± 0.0170</a:t>
                      </a:r>
                    </a:p>
                  </a:txBody>
                  <a:tcPr marL="45720" marR="45720" marT="9144" marB="9144">
                    <a:solidFill>
                      <a:srgbClr val="FFFFFF"/>
                    </a:solidFill>
                  </a:tcPr>
                </a:tc>
                <a:tc>
                  <a:txBody>
                    <a:bodyPr wrap="square"/>
                    <a:lstStyle/>
                    <a:p>
                      <a:r>
                        <a:rPr sz="1150" b="0">
                          <a:solidFill>
                            <a:srgbClr val="000000"/>
                          </a:solidFill>
                          <a:latin typeface="Calibri"/>
                        </a:rPr>
                        <a:t>1.11×</a:t>
                      </a:r>
                    </a:p>
                  </a:txBody>
                  <a:tcPr marL="45720" marR="45720" marT="9144" marB="9144">
                    <a:solidFill>
                      <a:srgbClr val="FFFFFF"/>
                    </a:solidFill>
                  </a:tcPr>
                </a:tc>
                <a:tc>
                  <a:txBody>
                    <a:bodyPr wrap="square"/>
                    <a:lstStyle/>
                    <a:p>
                      <a:r>
                        <a:rPr sz="1150" b="0">
                          <a:solidFill>
                            <a:srgbClr val="000000"/>
                          </a:solidFill>
                          <a:latin typeface="Calibri"/>
                        </a:rPr>
                        <a:t>0.577</a:t>
                      </a:r>
                    </a:p>
                  </a:txBody>
                  <a:tcPr marL="45720" marR="45720" marT="9144" marB="9144">
                    <a:solidFill>
                      <a:srgbClr val="FFFFFF"/>
                    </a:solidFill>
                  </a:tcPr>
                </a:tc>
                <a:tc>
                  <a:txBody>
                    <a:bodyPr wrap="square"/>
                    <a:lstStyle/>
                    <a:p>
                      <a:r>
                        <a:rPr sz="1150" b="0">
                          <a:solidFill>
                            <a:srgbClr val="000000"/>
                          </a:solidFill>
                          <a:latin typeface="Calibri"/>
                        </a:rPr>
                        <a:t>—</a:t>
                      </a:r>
                    </a:p>
                  </a:txBody>
                  <a:tcPr marL="45720" marR="45720" marT="9144" marB="9144">
                    <a:solidFill>
                      <a:srgbClr val="FFFFFF"/>
                    </a:solidFill>
                  </a:tcPr>
                </a:tc>
                <a:tc>
                  <a:txBody>
                    <a:bodyPr wrap="square"/>
                    <a:lstStyle/>
                    <a:p>
                      <a:r>
                        <a:rPr sz="1150" b="0">
                          <a:solidFill>
                            <a:srgbClr val="000000"/>
                          </a:solidFill>
                          <a:latin typeface="Calibri"/>
                        </a:rPr>
                        <a:t>TIE</a:t>
                      </a:r>
                    </a:p>
                  </a:txBody>
                  <a:tcPr marL="45720" marR="45720" marT="9144" marB="9144">
                    <a:solidFill>
                      <a:srgbClr val="FFFFFF"/>
                    </a:solidFill>
                  </a:tcPr>
                </a:tc>
              </a:tr>
              <a:tr h="237744">
                <a:tc>
                  <a:txBody>
                    <a:bodyPr wrap="square"/>
                    <a:lstStyle/>
                    <a:p>
                      <a:r>
                        <a:rPr sz="1150" b="0">
                          <a:solidFill>
                            <a:srgbClr val="000000"/>
                          </a:solidFill>
                          <a:latin typeface="Calibri"/>
                        </a:rPr>
                        <a:t>Adam(700) → L-BFGS</a:t>
                      </a:r>
                    </a:p>
                  </a:txBody>
                  <a:tcPr marL="45720" marR="45720" marT="9144" marB="9144">
                    <a:solidFill>
                      <a:srgbClr val="FFFFFF"/>
                    </a:solidFill>
                  </a:tcPr>
                </a:tc>
                <a:tc>
                  <a:txBody>
                    <a:bodyPr wrap="square"/>
                    <a:lstStyle/>
                    <a:p>
                      <a:r>
                        <a:rPr sz="1150" b="0">
                          <a:solidFill>
                            <a:srgbClr val="000000"/>
                          </a:solidFill>
                          <a:latin typeface="Calibri"/>
                        </a:rPr>
                        <a:t>0.0401 ± 0.0175</a:t>
                      </a:r>
                    </a:p>
                  </a:txBody>
                  <a:tcPr marL="45720" marR="45720" marT="9144" marB="9144">
                    <a:solidFill>
                      <a:srgbClr val="FFFFFF"/>
                    </a:solidFill>
                  </a:tcPr>
                </a:tc>
                <a:tc>
                  <a:txBody>
                    <a:bodyPr wrap="square"/>
                    <a:lstStyle/>
                    <a:p>
                      <a:r>
                        <a:rPr sz="1150" b="0">
                          <a:solidFill>
                            <a:srgbClr val="000000"/>
                          </a:solidFill>
                          <a:latin typeface="Calibri"/>
                        </a:rPr>
                        <a:t>0.0222 ± 0.0139</a:t>
                      </a:r>
                    </a:p>
                  </a:txBody>
                  <a:tcPr marL="45720" marR="45720" marT="9144" marB="9144">
                    <a:solidFill>
                      <a:srgbClr val="FFFFFF"/>
                    </a:solidFill>
                  </a:tcPr>
                </a:tc>
                <a:tc>
                  <a:txBody>
                    <a:bodyPr wrap="square"/>
                    <a:lstStyle/>
                    <a:p>
                      <a:r>
                        <a:rPr sz="1150" b="0">
                          <a:solidFill>
                            <a:srgbClr val="000000"/>
                          </a:solidFill>
                          <a:latin typeface="Calibri"/>
                        </a:rPr>
                        <a:t>1.81×</a:t>
                      </a:r>
                    </a:p>
                  </a:txBody>
                  <a:tcPr marL="45720" marR="45720" marT="9144" marB="9144">
                    <a:solidFill>
                      <a:srgbClr val="FFFFFF"/>
                    </a:solidFill>
                  </a:tcPr>
                </a:tc>
                <a:tc>
                  <a:txBody>
                    <a:bodyPr wrap="square"/>
                    <a:lstStyle/>
                    <a:p>
                      <a:r>
                        <a:rPr sz="1150" b="0">
                          <a:solidFill>
                            <a:srgbClr val="000000"/>
                          </a:solidFill>
                          <a:latin typeface="Calibri"/>
                        </a:rPr>
                        <a:t>0.0154</a:t>
                      </a:r>
                    </a:p>
                  </a:txBody>
                  <a:tcPr marL="45720" marR="45720" marT="9144" marB="9144">
                    <a:solidFill>
                      <a:srgbClr val="FFFFFF"/>
                    </a:solidFill>
                  </a:tcPr>
                </a:tc>
                <a:tc>
                  <a:txBody>
                    <a:bodyPr wrap="square"/>
                    <a:lstStyle/>
                    <a:p>
                      <a:r>
                        <a:rPr sz="1150" b="0">
                          <a:solidFill>
                            <a:srgbClr val="000000"/>
                          </a:solidFill>
                          <a:latin typeface="Calibri"/>
                        </a:rPr>
                        <a:t>9/11</a:t>
                      </a:r>
                    </a:p>
                  </a:txBody>
                  <a:tcPr marL="45720" marR="45720" marT="9144" marB="9144">
                    <a:solidFill>
                      <a:srgbClr val="FFFFFF"/>
                    </a:solidFill>
                  </a:tcPr>
                </a:tc>
                <a:tc>
                  <a:txBody>
                    <a:bodyPr wrap="square"/>
                    <a:lstStyle/>
                    <a:p>
                      <a:r>
                        <a:rPr sz="1150" b="0">
                          <a:solidFill>
                            <a:srgbClr val="000000"/>
                          </a:solidFill>
                          <a:latin typeface="Calibri"/>
                        </a:rPr>
                        <a:t>KAN WINS</a:t>
                      </a:r>
                    </a:p>
                  </a:txBody>
                  <a:tcPr marL="45720" marR="45720" marT="9144" marB="9144">
                    <a:solidFill>
                      <a:srgbClr val="FFFFFF"/>
                    </a:solidFill>
                  </a:tcPr>
                </a:tc>
              </a:tr>
            </a:tbl>
          </a:graphicData>
        </a:graphic>
      </p:graphicFrame>
      <p:sp>
        <p:nvSpPr>
          <p:cNvPr id="6" name="TextBox 5"/>
          <p:cNvSpPr txBox="1"/>
          <p:nvPr/>
        </p:nvSpPr>
        <p:spPr>
          <a:xfrm>
            <a:off x="502920" y="2606039"/>
            <a:ext cx="11247120" cy="3977640"/>
          </a:xfrm>
          <a:prstGeom prst="rect">
            <a:avLst/>
          </a:prstGeom>
          <a:noFill/>
        </p:spPr>
        <p:txBody>
          <a:bodyPr wrap="square">
            <a:spAutoFit/>
          </a:bodyPr>
          <a:lstStyle/>
          <a:p>
            <a:pPr>
              <a:spcAft>
                <a:spcPts val="800"/>
              </a:spcAft>
            </a:pPr>
            <a:r>
              <a:rPr sz="1300" b="1">
                <a:solidFill>
                  <a:srgbClr val="000000"/>
                </a:solidFill>
                <a:latin typeface="Calibri"/>
              </a:rPr>
              <a:t>• Same networks. Same collocation points, byte-identical per seed. Same objective. Only the optimiser differs — and the answer flips.</a:t>
            </a:r>
          </a:p>
          <a:p>
            <a:pPr>
              <a:spcAft>
                <a:spcPts val="800"/>
              </a:spcAft>
            </a:pPr>
            <a:r>
              <a:rPr sz="1300" b="0">
                <a:solidFill>
                  <a:srgbClr val="000000"/>
                </a:solidFill>
                <a:latin typeface="Calibri"/>
              </a:rPr>
              <a:t>• Mann-Whitney p = 0.0126, paired Wilcoxon p = 0.0322 — three concordant tests.</a:t>
            </a:r>
          </a:p>
          <a:p>
            <a:pPr>
              <a:spcAft>
                <a:spcPts val="800"/>
              </a:spcAft>
            </a:pPr>
            <a:r>
              <a:rPr sz="1300" b="1">
                <a:solidFill>
                  <a:srgbClr val="000000"/>
                </a:solidFill>
                <a:latin typeface="Calibri"/>
              </a:rPr>
              <a:t>• The variance argument also reversed. Under pure L-BFGS the KAN carried 5.44× the PINN's seed variance (Levene p = 0.031) — the only statistically significant difference between the families, and the strongest case against KANs. Under the hybrid: 0.87×, p = 0.73. The warm-up did not shift a mean; it removed a failure mode.</a:t>
            </a:r>
          </a:p>
          <a:p>
            <a:pPr>
              <a:spcAft>
                <a:spcPts val="800"/>
              </a:spcAft>
            </a:pPr>
            <a:r>
              <a:rPr sz="1300" b="1">
                <a:solidFill>
                  <a:srgbClr val="000000"/>
                </a:solidFill>
                <a:latin typeface="Calibri"/>
              </a:rPr>
              <a:t>• Under matched parameters (49,729 vs 49,020) the lead narrows to 1.50× and the tests disagree: Welch p = 0.092, Mann-Whitney p = 0.049, paired Wilcoxon p = 0.0068. The paired test suits this design, but the disagreement is reported rather than the favourable test selected.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All models, all materials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Adam→L-BFGS, rel-L2 %, mean ± sd (n), scored at nx = 2048</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139696"/>
        </p:xfrm>
        <a:graphic>
          <a:graphicData uri="http://schemas.openxmlformats.org/drawingml/2006/table">
            <a:tbl>
              <a:tblPr firstRow="1">
                <a:tableStyleId>{5C22544A-7EE6-4342-B048-85BDC9FD1C3A}</a:tableStyleId>
              </a:tblPr>
              <a:tblGrid>
                <a:gridCol w="3017520"/>
                <a:gridCol w="2743200"/>
                <a:gridCol w="2743200"/>
                <a:gridCol w="2743200"/>
              </a:tblGrid>
              <a:tr h="237744">
                <a:tc>
                  <a:txBody>
                    <a:bodyPr wrap="square"/>
                    <a:lstStyle/>
                    <a:p>
                      <a:r>
                        <a:rPr sz="1100" b="1">
                          <a:solidFill>
                            <a:srgbClr val="000000"/>
                          </a:solidFill>
                          <a:latin typeface="Calibri"/>
                        </a:rPr>
                        <a:t>Model</a:t>
                      </a:r>
                    </a:p>
                  </a:txBody>
                  <a:tcPr marL="45720" marR="45720" marT="9144" marB="9144">
                    <a:solidFill>
                      <a:srgbClr val="FFFFFF"/>
                    </a:solidFill>
                  </a:tcPr>
                </a:tc>
                <a:tc>
                  <a:txBody>
                    <a:bodyPr wrap="square"/>
                    <a:lstStyle/>
                    <a:p>
                      <a:r>
                        <a:rPr sz="1100" b="1">
                          <a:solidFill>
                            <a:srgbClr val="000000"/>
                          </a:solidFill>
                          <a:latin typeface="Calibri"/>
                        </a:rPr>
                        <a:t>homogeneous</a:t>
                      </a:r>
                    </a:p>
                  </a:txBody>
                  <a:tcPr marL="45720" marR="45720" marT="9144" marB="9144">
                    <a:solidFill>
                      <a:srgbClr val="FFFFFF"/>
                    </a:solidFill>
                  </a:tcPr>
                </a:tc>
                <a:tc>
                  <a:txBody>
                    <a:bodyPr wrap="square"/>
                    <a:lstStyle/>
                    <a:p>
                      <a:r>
                        <a:rPr sz="1100" b="1">
                          <a:solidFill>
                            <a:srgbClr val="000000"/>
                          </a:solidFill>
                          <a:latin typeface="Calibri"/>
                        </a:rPr>
                        <a:t>twolayer</a:t>
                      </a:r>
                    </a:p>
                  </a:txBody>
                  <a:tcPr marL="45720" marR="45720" marT="9144" marB="9144">
                    <a:solidFill>
                      <a:srgbClr val="FFFFFF"/>
                    </a:solidFill>
                  </a:tcPr>
                </a:tc>
                <a:tc>
                  <a:txBody>
                    <a:bodyPr wrap="square"/>
                    <a:lstStyle/>
                    <a:p>
                      <a:r>
                        <a:rPr sz="1100" b="1">
                          <a:solidFill>
                            <a:srgbClr val="000000"/>
                          </a:solidFill>
                          <a:latin typeface="Calibri"/>
                        </a:rPr>
                        <a:t>multilayer</a:t>
                      </a:r>
                    </a:p>
                  </a:txBody>
                  <a:tcPr marL="45720" marR="45720" marT="9144" marB="9144">
                    <a:solidFill>
                      <a:srgbClr val="FFFFFF"/>
                    </a:solidFill>
                  </a:tcPr>
                </a:tc>
              </a:tr>
              <a:tr h="237744">
                <a:tc>
                  <a:txBody>
                    <a:bodyPr wrap="square"/>
                    <a:lstStyle/>
                    <a:p>
                      <a:r>
                        <a:rPr sz="1100" b="0">
                          <a:solidFill>
                            <a:srgbClr val="000000"/>
                          </a:solidFill>
                          <a:latin typeface="Calibri"/>
                        </a:rPr>
                        <a:t>tuned KAN (charcoords50)</a:t>
                      </a:r>
                    </a:p>
                  </a:txBody>
                  <a:tcPr marL="45720" marR="45720" marT="9144" marB="9144">
                    <a:solidFill>
                      <a:srgbClr val="FFFFFF"/>
                    </a:solidFill>
                  </a:tcPr>
                </a:tc>
                <a:tc>
                  <a:txBody>
                    <a:bodyPr wrap="square"/>
                    <a:lstStyle/>
                    <a:p>
                      <a:r>
                        <a:rPr sz="1100" b="0">
                          <a:solidFill>
                            <a:srgbClr val="000000"/>
                          </a:solidFill>
                          <a:latin typeface="Calibri"/>
                        </a:rPr>
                        <a:t>0.0236 ± 0.0129 (11)</a:t>
                      </a:r>
                    </a:p>
                  </a:txBody>
                  <a:tcPr marL="45720" marR="45720" marT="9144" marB="9144">
                    <a:solidFill>
                      <a:srgbClr val="FFFFFF"/>
                    </a:solidFill>
                  </a:tcPr>
                </a:tc>
                <a:tc>
                  <a:txBody>
                    <a:bodyPr wrap="square"/>
                    <a:lstStyle/>
                    <a:p>
                      <a:r>
                        <a:rPr sz="1100" b="0">
                          <a:solidFill>
                            <a:srgbClr val="000000"/>
                          </a:solidFill>
                          <a:latin typeface="Calibri"/>
                        </a:rPr>
                        <a:t>0.5984 ± 0.3510 (11)</a:t>
                      </a:r>
                    </a:p>
                  </a:txBody>
                  <a:tcPr marL="45720" marR="45720" marT="9144" marB="9144">
                    <a:solidFill>
                      <a:srgbClr val="FFFFFF"/>
                    </a:solidFill>
                  </a:tcPr>
                </a:tc>
                <a:tc>
                  <a:txBody>
                    <a:bodyPr wrap="square"/>
                    <a:lstStyle/>
                    <a:p>
                      <a:r>
                        <a:rPr sz="1100" b="0">
                          <a:solidFill>
                            <a:srgbClr val="000000"/>
                          </a:solidFill>
                          <a:latin typeface="Calibri"/>
                        </a:rPr>
                        <a:t>0.0403 ± 0.0114 (11)</a:t>
                      </a:r>
                    </a:p>
                  </a:txBody>
                  <a:tcPr marL="45720" marR="45720" marT="9144" marB="9144">
                    <a:solidFill>
                      <a:srgbClr val="FFFFFF"/>
                    </a:solidFill>
                  </a:tcPr>
                </a:tc>
              </a:tr>
              <a:tr h="237744">
                <a:tc>
                  <a:txBody>
                    <a:bodyPr wrap="square"/>
                    <a:lstStyle/>
                    <a:p>
                      <a:r>
                        <a:rPr sz="1100" b="0">
                          <a:solidFill>
                            <a:srgbClr val="000000"/>
                          </a:solidFill>
                          <a:latin typeface="Calibri"/>
                        </a:rPr>
                        <a:t>Fourier PINN</a:t>
                      </a:r>
                    </a:p>
                  </a:txBody>
                  <a:tcPr marL="45720" marR="45720" marT="9144" marB="9144">
                    <a:solidFill>
                      <a:srgbClr val="FFFFFF"/>
                    </a:solidFill>
                  </a:tcPr>
                </a:tc>
                <a:tc>
                  <a:txBody>
                    <a:bodyPr wrap="square"/>
                    <a:lstStyle/>
                    <a:p>
                      <a:r>
                        <a:rPr sz="1100" b="0">
                          <a:solidFill>
                            <a:srgbClr val="000000"/>
                          </a:solidFill>
                          <a:latin typeface="Calibri"/>
                        </a:rPr>
                        <a:t>0.0399 ± 0.0138 (11)</a:t>
                      </a:r>
                    </a:p>
                  </a:txBody>
                  <a:tcPr marL="45720" marR="45720" marT="9144" marB="9144">
                    <a:solidFill>
                      <a:srgbClr val="FFFFFF"/>
                    </a:solidFill>
                  </a:tcPr>
                </a:tc>
                <a:tc>
                  <a:txBody>
                    <a:bodyPr wrap="square"/>
                    <a:lstStyle/>
                    <a:p>
                      <a:r>
                        <a:rPr sz="1100" b="0">
                          <a:solidFill>
                            <a:srgbClr val="000000"/>
                          </a:solidFill>
                          <a:latin typeface="Calibri"/>
                        </a:rPr>
                        <a:t>0.9579 ± 0.7969 (11)</a:t>
                      </a:r>
                    </a:p>
                  </a:txBody>
                  <a:tcPr marL="45720" marR="45720" marT="9144" marB="9144">
                    <a:solidFill>
                      <a:srgbClr val="FFFFFF"/>
                    </a:solidFill>
                  </a:tcPr>
                </a:tc>
                <a:tc>
                  <a:txBody>
                    <a:bodyPr wrap="square"/>
                    <a:lstStyle/>
                    <a:p>
                      <a:r>
                        <a:rPr sz="1100" b="0">
                          <a:solidFill>
                            <a:srgbClr val="000000"/>
                          </a:solidFill>
                          <a:latin typeface="Calibri"/>
                        </a:rPr>
                        <a:t>0.0432 ± 0.0115 (11)</a:t>
                      </a:r>
                    </a:p>
                  </a:txBody>
                  <a:tcPr marL="45720" marR="45720" marT="9144" marB="9144">
                    <a:solidFill>
                      <a:srgbClr val="FFFFFF"/>
                    </a:solidFill>
                  </a:tcPr>
                </a:tc>
              </a:tr>
              <a:tr h="237744">
                <a:tc>
                  <a:txBody>
                    <a:bodyPr wrap="square"/>
                    <a:lstStyle/>
                    <a:p>
                      <a:r>
                        <a:rPr sz="1100" b="0">
                          <a:solidFill>
                            <a:srgbClr val="000000"/>
                          </a:solidFill>
                          <a:latin typeface="Calibri"/>
                        </a:rPr>
                        <a:t>plain KAN (pykan_wide)</a:t>
                      </a:r>
                    </a:p>
                  </a:txBody>
                  <a:tcPr marL="45720" marR="45720" marT="9144" marB="9144">
                    <a:solidFill>
                      <a:srgbClr val="FFFFFF"/>
                    </a:solidFill>
                  </a:tcPr>
                </a:tc>
                <a:tc>
                  <a:txBody>
                    <a:bodyPr wrap="square"/>
                    <a:lstStyle/>
                    <a:p>
                      <a:r>
                        <a:rPr sz="1100" b="0">
                          <a:solidFill>
                            <a:srgbClr val="000000"/>
                          </a:solidFill>
                          <a:latin typeface="Calibri"/>
                        </a:rPr>
                        <a:t>0.0849 ± 0.0201 (5)</a:t>
                      </a:r>
                    </a:p>
                  </a:txBody>
                  <a:tcPr marL="45720" marR="45720" marT="9144" marB="9144">
                    <a:solidFill>
                      <a:srgbClr val="FFFFFF"/>
                    </a:solidFill>
                  </a:tcPr>
                </a:tc>
                <a:tc>
                  <a:txBody>
                    <a:bodyPr wrap="square"/>
                    <a:lstStyle/>
                    <a:p>
                      <a:r>
                        <a:rPr sz="1100" b="0">
                          <a:solidFill>
                            <a:srgbClr val="000000"/>
                          </a:solidFill>
                          <a:latin typeface="Calibri"/>
                        </a:rPr>
                        <a:t>1.0340 ± 0.4055 (5)</a:t>
                      </a:r>
                    </a:p>
                  </a:txBody>
                  <a:tcPr marL="45720" marR="45720" marT="9144" marB="9144">
                    <a:solidFill>
                      <a:srgbClr val="FFFFFF"/>
                    </a:solidFill>
                  </a:tcPr>
                </a:tc>
                <a:tc>
                  <a:txBody>
                    <a:bodyPr wrap="square"/>
                    <a:lstStyle/>
                    <a:p>
                      <a:r>
                        <a:rPr sz="1100" b="0">
                          <a:solidFill>
                            <a:srgbClr val="000000"/>
                          </a:solidFill>
                          <a:latin typeface="Calibri"/>
                        </a:rPr>
                        <a:t>0.2320 ± 0.0984 (5)</a:t>
                      </a:r>
                    </a:p>
                  </a:txBody>
                  <a:tcPr marL="45720" marR="45720" marT="9144" marB="9144">
                    <a:solidFill>
                      <a:srgbClr val="FFFFFF"/>
                    </a:solidFill>
                  </a:tcPr>
                </a:tc>
              </a:tr>
              <a:tr h="237744">
                <a:tc>
                  <a:txBody>
                    <a:bodyPr wrap="square"/>
                    <a:lstStyle/>
                    <a:p>
                      <a:r>
                        <a:rPr sz="1100" b="0">
                          <a:solidFill>
                            <a:srgbClr val="000000"/>
                          </a:solidFill>
                          <a:latin typeface="Calibri"/>
                        </a:rPr>
                        <a:t>MLP PINN</a:t>
                      </a:r>
                    </a:p>
                  </a:txBody>
                  <a:tcPr marL="45720" marR="45720" marT="9144" marB="9144">
                    <a:solidFill>
                      <a:srgbClr val="FFFFFF"/>
                    </a:solidFill>
                  </a:tcPr>
                </a:tc>
                <a:tc>
                  <a:txBody>
                    <a:bodyPr wrap="square"/>
                    <a:lstStyle/>
                    <a:p>
                      <a:r>
                        <a:rPr sz="1100" b="0">
                          <a:solidFill>
                            <a:srgbClr val="000000"/>
                          </a:solidFill>
                          <a:latin typeface="Calibri"/>
                        </a:rPr>
                        <a:t>0.2555 ± 0.1232 (5)</a:t>
                      </a:r>
                    </a:p>
                  </a:txBody>
                  <a:tcPr marL="45720" marR="45720" marT="9144" marB="9144">
                    <a:solidFill>
                      <a:srgbClr val="FFFFFF"/>
                    </a:solidFill>
                  </a:tcPr>
                </a:tc>
                <a:tc>
                  <a:txBody>
                    <a:bodyPr wrap="square"/>
                    <a:lstStyle/>
                    <a:p>
                      <a:r>
                        <a:rPr sz="1100" b="0">
                          <a:solidFill>
                            <a:srgbClr val="000000"/>
                          </a:solidFill>
                          <a:latin typeface="Calibri"/>
                        </a:rPr>
                        <a:t>0.4318 ± 0.3070 (11)</a:t>
                      </a:r>
                    </a:p>
                  </a:txBody>
                  <a:tcPr marL="45720" marR="45720" marT="9144" marB="9144">
                    <a:solidFill>
                      <a:srgbClr val="FFFFFF"/>
                    </a:solidFill>
                  </a:tcPr>
                </a:tc>
                <a:tc>
                  <a:txBody>
                    <a:bodyPr wrap="square"/>
                    <a:lstStyle/>
                    <a:p>
                      <a:r>
                        <a:rPr sz="1100" b="0">
                          <a:solidFill>
                            <a:srgbClr val="000000"/>
                          </a:solidFill>
                          <a:latin typeface="Calibri"/>
                        </a:rPr>
                        <a:t>0.6915 ± 0.2701 (11)</a:t>
                      </a:r>
                    </a:p>
                  </a:txBody>
                  <a:tcPr marL="45720" marR="45720" marT="9144" marB="9144">
                    <a:solidFill>
                      <a:srgbClr val="FFFFFF"/>
                    </a:solidFill>
                  </a:tcPr>
                </a:tc>
              </a:tr>
              <a:tr h="237744">
                <a:tc>
                  <a:txBody>
                    <a:bodyPr wrap="square"/>
                    <a:lstStyle/>
                    <a:p>
                      <a:r>
                        <a:rPr sz="1100" b="0">
                          <a:solidFill>
                            <a:srgbClr val="000000"/>
                          </a:solidFill>
                          <a:latin typeface="Calibri"/>
                        </a:rPr>
                        <a:t>Fourier PINN + R3</a:t>
                      </a:r>
                    </a:p>
                  </a:txBody>
                  <a:tcPr marL="45720" marR="45720" marT="9144" marB="9144">
                    <a:solidFill>
                      <a:srgbClr val="FFFFFF"/>
                    </a:solidFill>
                  </a:tcPr>
                </a:tc>
                <a:tc>
                  <a:txBody>
                    <a:bodyPr wrap="square"/>
                    <a:lstStyle/>
                    <a:p>
                      <a:r>
                        <a:rPr sz="1100" b="0">
                          <a:solidFill>
                            <a:srgbClr val="000000"/>
                          </a:solidFill>
                          <a:latin typeface="Calibri"/>
                        </a:rPr>
                        <a:t>0.4476 ± 0.2040 (5)</a:t>
                      </a:r>
                    </a:p>
                  </a:txBody>
                  <a:tcPr marL="45720" marR="45720" marT="9144" marB="9144">
                    <a:solidFill>
                      <a:srgbClr val="FFFFFF"/>
                    </a:solidFill>
                  </a:tcPr>
                </a:tc>
                <a:tc>
                  <a:txBody>
                    <a:bodyPr wrap="square"/>
                    <a:lstStyle/>
                    <a:p>
                      <a:r>
                        <a:rPr sz="1100" b="0">
                          <a:solidFill>
                            <a:srgbClr val="000000"/>
                          </a:solidFill>
                          <a:latin typeface="Calibri"/>
                        </a:rPr>
                        <a:t>1.7670 ± 0.9083 (5)</a:t>
                      </a:r>
                    </a:p>
                  </a:txBody>
                  <a:tcPr marL="45720" marR="45720" marT="9144" marB="9144">
                    <a:solidFill>
                      <a:srgbClr val="FFFFFF"/>
                    </a:solidFill>
                  </a:tcPr>
                </a:tc>
                <a:tc>
                  <a:txBody>
                    <a:bodyPr wrap="square"/>
                    <a:lstStyle/>
                    <a:p>
                      <a:r>
                        <a:rPr sz="1100" b="0">
                          <a:solidFill>
                            <a:srgbClr val="000000"/>
                          </a:solidFill>
                          <a:latin typeface="Calibri"/>
                        </a:rPr>
                        <a:t>0.6688 ± 0.4501 (5)</a:t>
                      </a:r>
                    </a:p>
                  </a:txBody>
                  <a:tcPr marL="45720" marR="45720" marT="9144" marB="9144">
                    <a:solidFill>
                      <a:srgbClr val="FFFFFF"/>
                    </a:solidFill>
                  </a:tcPr>
                </a:tc>
              </a:tr>
              <a:tr h="237744">
                <a:tc>
                  <a:txBody>
                    <a:bodyPr wrap="square"/>
                    <a:lstStyle/>
                    <a:p>
                      <a:r>
                        <a:rPr sz="1100" b="0">
                          <a:solidFill>
                            <a:srgbClr val="000000"/>
                          </a:solidFill>
                          <a:latin typeface="Calibri"/>
                        </a:rPr>
                        <a:t>plain KAN + R3</a:t>
                      </a:r>
                    </a:p>
                  </a:txBody>
                  <a:tcPr marL="45720" marR="45720" marT="9144" marB="9144">
                    <a:solidFill>
                      <a:srgbClr val="FFFFFF"/>
                    </a:solidFill>
                  </a:tcPr>
                </a:tc>
                <a:tc>
                  <a:txBody>
                    <a:bodyPr wrap="square"/>
                    <a:lstStyle/>
                    <a:p>
                      <a:r>
                        <a:rPr sz="1100" b="0">
                          <a:solidFill>
                            <a:srgbClr val="000000"/>
                          </a:solidFill>
                          <a:latin typeface="Calibri"/>
                        </a:rPr>
                        <a:t>1.3053 ± 0.4404 (5)</a:t>
                      </a:r>
                    </a:p>
                  </a:txBody>
                  <a:tcPr marL="45720" marR="45720" marT="9144" marB="9144">
                    <a:solidFill>
                      <a:srgbClr val="FFFFFF"/>
                    </a:solidFill>
                  </a:tcPr>
                </a:tc>
                <a:tc>
                  <a:txBody>
                    <a:bodyPr wrap="square"/>
                    <a:lstStyle/>
                    <a:p>
                      <a:r>
                        <a:rPr sz="1100" b="0">
                          <a:solidFill>
                            <a:srgbClr val="000000"/>
                          </a:solidFill>
                          <a:latin typeface="Calibri"/>
                        </a:rPr>
                        <a:t>2.1286 ± 0.8678 (5)</a:t>
                      </a:r>
                    </a:p>
                  </a:txBody>
                  <a:tcPr marL="45720" marR="45720" marT="9144" marB="9144">
                    <a:solidFill>
                      <a:srgbClr val="FFFFFF"/>
                    </a:solidFill>
                  </a:tcPr>
                </a:tc>
                <a:tc>
                  <a:txBody>
                    <a:bodyPr wrap="square"/>
                    <a:lstStyle/>
                    <a:p>
                      <a:r>
                        <a:rPr sz="1100" b="0">
                          <a:solidFill>
                            <a:srgbClr val="000000"/>
                          </a:solidFill>
                          <a:latin typeface="Calibri"/>
                        </a:rPr>
                        <a:t>4.0246 ± 2.8650 (5)</a:t>
                      </a:r>
                    </a:p>
                  </a:txBody>
                  <a:tcPr marL="45720" marR="45720" marT="9144" marB="9144">
                    <a:solidFill>
                      <a:srgbClr val="FFFFFF"/>
                    </a:solidFill>
                  </a:tcPr>
                </a:tc>
              </a:tr>
              <a:tr h="237744">
                <a:tc>
                  <a:txBody>
                    <a:bodyPr wrap="square"/>
                    <a:lstStyle/>
                    <a:p>
                      <a:r>
                        <a:rPr sz="1100" b="0">
                          <a:solidFill>
                            <a:srgbClr val="000000"/>
                          </a:solidFill>
                          <a:latin typeface="Calibri"/>
                        </a:rPr>
                        <a:t>PIKAN (pykan backend)</a:t>
                      </a:r>
                    </a:p>
                  </a:txBody>
                  <a:tcPr marL="45720" marR="45720" marT="9144" marB="9144">
                    <a:solidFill>
                      <a:srgbClr val="FFFFFF"/>
                    </a:solidFill>
                  </a:tcPr>
                </a:tc>
                <a:tc>
                  <a:txBody>
                    <a:bodyPr wrap="square"/>
                    <a:lstStyle/>
                    <a:p>
                      <a:r>
                        <a:rPr sz="1100" b="0">
                          <a:solidFill>
                            <a:srgbClr val="000000"/>
                          </a:solidFill>
                          <a:latin typeface="Calibri"/>
                        </a:rPr>
                        <a:t>94.98 ± 0.20 (5)</a:t>
                      </a:r>
                    </a:p>
                  </a:txBody>
                  <a:tcPr marL="45720" marR="45720" marT="9144" marB="9144">
                    <a:solidFill>
                      <a:srgbClr val="FFFFFF"/>
                    </a:solidFill>
                  </a:tcPr>
                </a:tc>
                <a:tc>
                  <a:txBody>
                    <a:bodyPr wrap="square"/>
                    <a:lstStyle/>
                    <a:p>
                      <a:r>
                        <a:rPr sz="1100" b="0">
                          <a:solidFill>
                            <a:srgbClr val="000000"/>
                          </a:solidFill>
                          <a:latin typeface="Calibri"/>
                        </a:rPr>
                        <a:t>95.45 ± 0.16 (5)</a:t>
                      </a:r>
                    </a:p>
                  </a:txBody>
                  <a:tcPr marL="45720" marR="45720" marT="9144" marB="9144">
                    <a:solidFill>
                      <a:srgbClr val="FFFFFF"/>
                    </a:solidFill>
                  </a:tcPr>
                </a:tc>
                <a:tc>
                  <a:txBody>
                    <a:bodyPr wrap="square"/>
                    <a:lstStyle/>
                    <a:p>
                      <a:r>
                        <a:rPr sz="1100" b="0">
                          <a:solidFill>
                            <a:srgbClr val="000000"/>
                          </a:solidFill>
                          <a:latin typeface="Calibri"/>
                        </a:rPr>
                        <a:t>96.46 ± 0.23 (5)</a:t>
                      </a:r>
                    </a:p>
                  </a:txBody>
                  <a:tcPr marL="45720" marR="45720" marT="9144" marB="9144">
                    <a:solidFill>
                      <a:srgbClr val="FFFFFF"/>
                    </a:solidFill>
                  </a:tcPr>
                </a:tc>
              </a:tr>
              <a:tr h="237744">
                <a:tc>
                  <a:txBody>
                    <a:bodyPr wrap="square"/>
                    <a:lstStyle/>
                    <a:p>
                      <a:r>
                        <a:rPr sz="1100" b="0">
                          <a:solidFill>
                            <a:srgbClr val="000000"/>
                          </a:solidFill>
                          <a:latin typeface="Calibri"/>
                        </a:rPr>
                        <a:t>PIKAN (ours, as shipped)</a:t>
                      </a:r>
                    </a:p>
                  </a:txBody>
                  <a:tcPr marL="45720" marR="45720" marT="9144" marB="9144">
                    <a:solidFill>
                      <a:srgbClr val="FFFFFF"/>
                    </a:solidFill>
                  </a:tcPr>
                </a:tc>
                <a:tc>
                  <a:txBody>
                    <a:bodyPr wrap="square"/>
                    <a:lstStyle/>
                    <a:p>
                      <a:r>
                        <a:rPr sz="1100" b="0">
                          <a:solidFill>
                            <a:srgbClr val="000000"/>
                          </a:solidFill>
                          <a:latin typeface="Calibri"/>
                        </a:rPr>
                        <a:t>235.6 ± 126.5 (5)</a:t>
                      </a:r>
                    </a:p>
                  </a:txBody>
                  <a:tcPr marL="45720" marR="45720" marT="9144" marB="9144">
                    <a:solidFill>
                      <a:srgbClr val="FFFFFF"/>
                    </a:solidFill>
                  </a:tcPr>
                </a:tc>
                <a:tc>
                  <a:txBody>
                    <a:bodyPr wrap="square"/>
                    <a:lstStyle/>
                    <a:p>
                      <a:r>
                        <a:rPr sz="1100" b="0">
                          <a:solidFill>
                            <a:srgbClr val="000000"/>
                          </a:solidFill>
                          <a:latin typeface="Calibri"/>
                        </a:rPr>
                        <a:t>243.6 ± 132.9 (5)</a:t>
                      </a:r>
                    </a:p>
                  </a:txBody>
                  <a:tcPr marL="45720" marR="45720" marT="9144" marB="9144">
                    <a:solidFill>
                      <a:srgbClr val="FFFFFF"/>
                    </a:solidFill>
                  </a:tcPr>
                </a:tc>
                <a:tc>
                  <a:txBody>
                    <a:bodyPr wrap="square"/>
                    <a:lstStyle/>
                    <a:p>
                      <a:r>
                        <a:rPr sz="1100" b="0">
                          <a:solidFill>
                            <a:srgbClr val="000000"/>
                          </a:solidFill>
                          <a:latin typeface="Calibri"/>
                        </a:rPr>
                        <a:t>266.9 ± 148.4 (5)</a:t>
                      </a:r>
                    </a:p>
                  </a:txBody>
                  <a:tcPr marL="45720" marR="45720" marT="9144" marB="9144">
                    <a:solidFill>
                      <a:srgbClr val="FFFFFF"/>
                    </a:solidFill>
                  </a:tcPr>
                </a:tc>
              </a:tr>
            </a:tbl>
          </a:graphicData>
        </a:graphic>
      </p:graphicFrame>
      <p:sp>
        <p:nvSpPr>
          <p:cNvPr id="6" name="TextBox 5"/>
          <p:cNvSpPr txBox="1"/>
          <p:nvPr/>
        </p:nvSpPr>
        <p:spPr>
          <a:xfrm>
            <a:off x="502920" y="4160520"/>
            <a:ext cx="11247120" cy="2423160"/>
          </a:xfrm>
          <a:prstGeom prst="rect">
            <a:avLst/>
          </a:prstGeom>
          <a:noFill/>
        </p:spPr>
        <p:txBody>
          <a:bodyPr wrap="square">
            <a:spAutoFit/>
          </a:bodyPr>
          <a:lstStyle/>
          <a:p>
            <a:pPr>
              <a:spcAft>
                <a:spcPts val="800"/>
              </a:spcAft>
            </a:pPr>
            <a:r>
              <a:rPr sz="1300" b="1">
                <a:solidFill>
                  <a:srgbClr val="000000"/>
                </a:solidFill>
                <a:latin typeface="Calibri"/>
              </a:rPr>
              <a:t>• Best per material: KAN on homogeneous; MLP PINN on twolayer; KAN on multilayer (a tie, p = 0.571).</a:t>
            </a:r>
          </a:p>
          <a:p>
            <a:pPr>
              <a:spcAft>
                <a:spcPts val="800"/>
              </a:spcAft>
            </a:pPr>
            <a:r>
              <a:rPr sz="1300" b="0">
                <a:solidFill>
                  <a:srgbClr val="000000"/>
                </a:solidFill>
                <a:latin typeface="Calibri"/>
              </a:rPr>
              <a:t>• twolayer at n = 11: PINN ahead 1.39×, p = 0.250 — NOT significant. At n = 5 it read 2.20×, p = 0.056. The fifth finding to dissolve under more seeds.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Why the optimiser matters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Adam explores; L-BFGS refines</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188720"/>
        </p:xfrm>
        <a:graphic>
          <a:graphicData uri="http://schemas.openxmlformats.org/drawingml/2006/table">
            <a:tbl>
              <a:tblPr firstRow="1">
                <a:tableStyleId>{5C22544A-7EE6-4342-B048-85BDC9FD1C3A}</a:tableStyleId>
              </a:tblPr>
              <a:tblGrid>
                <a:gridCol w="2103120"/>
                <a:gridCol w="4206240"/>
                <a:gridCol w="4937760"/>
              </a:tblGrid>
              <a:tr h="237744">
                <a:tc>
                  <a:txBody>
                    <a:bodyPr wrap="square"/>
                    <a:lstStyle/>
                    <a:p>
                      <a:r>
                        <a:rPr sz="1100" b="1">
                          <a:solidFill>
                            <a:srgbClr val="000000"/>
                          </a:solidFill>
                          <a:latin typeface="Calibri"/>
                        </a:rPr>
                        <a:t/>
                      </a:r>
                    </a:p>
                  </a:txBody>
                  <a:tcPr marL="45720" marR="45720" marT="9144" marB="9144">
                    <a:solidFill>
                      <a:srgbClr val="FFFFFF"/>
                    </a:solidFill>
                  </a:tcPr>
                </a:tc>
                <a:tc>
                  <a:txBody>
                    <a:bodyPr wrap="square"/>
                    <a:lstStyle/>
                    <a:p>
                      <a:r>
                        <a:rPr sz="1100" b="1">
                          <a:solidFill>
                            <a:srgbClr val="000000"/>
                          </a:solidFill>
                          <a:latin typeface="Calibri"/>
                        </a:rPr>
                        <a:t>Adam</a:t>
                      </a:r>
                    </a:p>
                  </a:txBody>
                  <a:tcPr marL="45720" marR="45720" marT="9144" marB="9144">
                    <a:solidFill>
                      <a:srgbClr val="FFFFFF"/>
                    </a:solidFill>
                  </a:tcPr>
                </a:tc>
                <a:tc>
                  <a:txBody>
                    <a:bodyPr wrap="square"/>
                    <a:lstStyle/>
                    <a:p>
                      <a:r>
                        <a:rPr sz="1100" b="1">
                          <a:solidFill>
                            <a:srgbClr val="000000"/>
                          </a:solidFill>
                          <a:latin typeface="Calibri"/>
                        </a:rPr>
                        <a:t>L-BFGS</a:t>
                      </a:r>
                    </a:p>
                  </a:txBody>
                  <a:tcPr marL="45720" marR="45720" marT="9144" marB="9144">
                    <a:solidFill>
                      <a:srgbClr val="FFFFFF"/>
                    </a:solidFill>
                  </a:tcPr>
                </a:tc>
              </a:tr>
              <a:tr h="237744">
                <a:tc>
                  <a:txBody>
                    <a:bodyPr wrap="square"/>
                    <a:lstStyle/>
                    <a:p>
                      <a:r>
                        <a:rPr sz="1100" b="0">
                          <a:solidFill>
                            <a:srgbClr val="000000"/>
                          </a:solidFill>
                          <a:latin typeface="Calibri"/>
                        </a:rPr>
                        <a:t>step rule</a:t>
                      </a:r>
                    </a:p>
                  </a:txBody>
                  <a:tcPr marL="45720" marR="45720" marT="9144" marB="9144">
                    <a:solidFill>
                      <a:srgbClr val="FFFFFF"/>
                    </a:solidFill>
                  </a:tcPr>
                </a:tc>
                <a:tc>
                  <a:txBody>
                    <a:bodyPr wrap="square"/>
                    <a:lstStyle/>
                    <a:p>
                      <a:r>
                        <a:rPr sz="1100" b="0">
                          <a:solidFill>
                            <a:srgbClr val="000000"/>
                          </a:solidFill>
                          <a:latin typeface="Calibri"/>
                        </a:rPr>
                        <a:t>≈ lr per parameter, REGARDLESS of gradient size</a:t>
                      </a:r>
                    </a:p>
                  </a:txBody>
                  <a:tcPr marL="45720" marR="45720" marT="9144" marB="9144">
                    <a:solidFill>
                      <a:srgbClr val="FFFFFF"/>
                    </a:solidFill>
                  </a:tcPr>
                </a:tc>
                <a:tc>
                  <a:txBody>
                    <a:bodyPr wrap="square"/>
                    <a:lstStyle/>
                    <a:p>
                      <a:r>
                        <a:rPr sz="1100" b="0">
                          <a:solidFill>
                            <a:srgbClr val="000000"/>
                          </a:solidFill>
                          <a:latin typeface="Calibri"/>
                        </a:rPr>
                        <a:t>quasi-Newton: uses ~100 past gradients to model curvature</a:t>
                      </a:r>
                    </a:p>
                  </a:txBody>
                  <a:tcPr marL="45720" marR="45720" marT="9144" marB="9144">
                    <a:solidFill>
                      <a:srgbClr val="FFFFFF"/>
                    </a:solidFill>
                  </a:tcPr>
                </a:tc>
              </a:tr>
              <a:tr h="237744">
                <a:tc>
                  <a:txBody>
                    <a:bodyPr wrap="square"/>
                    <a:lstStyle/>
                    <a:p>
                      <a:r>
                        <a:rPr sz="1100" b="0">
                          <a:solidFill>
                            <a:srgbClr val="000000"/>
                          </a:solidFill>
                          <a:latin typeface="Calibri"/>
                        </a:rPr>
                        <a:t>first step</a:t>
                      </a:r>
                    </a:p>
                  </a:txBody>
                  <a:tcPr marL="45720" marR="45720" marT="9144" marB="9144">
                    <a:solidFill>
                      <a:srgbClr val="FFFFFF"/>
                    </a:solidFill>
                  </a:tcPr>
                </a:tc>
                <a:tc>
                  <a:txBody>
                    <a:bodyPr wrap="square"/>
                    <a:lstStyle/>
                    <a:p>
                      <a:r>
                        <a:rPr sz="1100" b="0">
                          <a:solidFill>
                            <a:srgbClr val="000000"/>
                          </a:solidFill>
                          <a:latin typeface="Calibri"/>
                        </a:rPr>
                        <a:t>fixed</a:t>
                      </a:r>
                    </a:p>
                  </a:txBody>
                  <a:tcPr marL="45720" marR="45720" marT="9144" marB="9144">
                    <a:solidFill>
                      <a:srgbClr val="FFFFFF"/>
                    </a:solidFill>
                  </a:tcPr>
                </a:tc>
                <a:tc>
                  <a:txBody>
                    <a:bodyPr wrap="square"/>
                    <a:lstStyle/>
                    <a:p>
                      <a:r>
                        <a:rPr sz="1100" b="0">
                          <a:solidFill>
                            <a:srgbClr val="000000"/>
                          </a:solidFill>
                          <a:latin typeface="Calibri"/>
                        </a:rPr>
                        <a:t>min(1, 1/||gradient||)·lr — a big gradient forces a tiny step</a:t>
                      </a:r>
                    </a:p>
                  </a:txBody>
                  <a:tcPr marL="45720" marR="45720" marT="9144" marB="9144">
                    <a:solidFill>
                      <a:srgbClr val="FFFFFF"/>
                    </a:solidFill>
                  </a:tcPr>
                </a:tc>
              </a:tr>
              <a:tr h="237744">
                <a:tc>
                  <a:txBody>
                    <a:bodyPr wrap="square"/>
                    <a:lstStyle/>
                    <a:p>
                      <a:r>
                        <a:rPr sz="1100" b="0">
                          <a:solidFill>
                            <a:srgbClr val="000000"/>
                          </a:solidFill>
                          <a:latin typeface="Calibri"/>
                        </a:rPr>
                        <a:t>behaviour</a:t>
                      </a:r>
                    </a:p>
                  </a:txBody>
                  <a:tcPr marL="45720" marR="45720" marT="9144" marB="9144">
                    <a:solidFill>
                      <a:srgbClr val="FFFFFF"/>
                    </a:solidFill>
                  </a:tcPr>
                </a:tc>
                <a:tc>
                  <a:txBody>
                    <a:bodyPr wrap="square"/>
                    <a:lstStyle/>
                    <a:p>
                      <a:r>
                        <a:rPr sz="1100" b="0">
                          <a:solidFill>
                            <a:srgbClr val="000000"/>
                          </a:solidFill>
                          <a:latin typeface="Calibri"/>
                        </a:rPr>
                        <a:t>wanders across the landscape</a:t>
                      </a:r>
                    </a:p>
                  </a:txBody>
                  <a:tcPr marL="45720" marR="45720" marT="9144" marB="9144">
                    <a:solidFill>
                      <a:srgbClr val="FFFFFF"/>
                    </a:solidFill>
                  </a:tcPr>
                </a:tc>
                <a:tc>
                  <a:txBody>
                    <a:bodyPr wrap="square"/>
                    <a:lstStyle/>
                    <a:p>
                      <a:r>
                        <a:rPr sz="1100" b="0">
                          <a:solidFill>
                            <a:srgbClr val="000000"/>
                          </a:solidFill>
                          <a:latin typeface="Calibri"/>
                        </a:rPr>
                        <a:t>descends efficiently into whichever basin it started in</a:t>
                      </a:r>
                    </a:p>
                  </a:txBody>
                  <a:tcPr marL="45720" marR="45720" marT="9144" marB="9144">
                    <a:solidFill>
                      <a:srgbClr val="FFFFFF"/>
                    </a:solidFill>
                  </a:tcPr>
                </a:tc>
              </a:tr>
              <a:tr h="237744">
                <a:tc>
                  <a:txBody>
                    <a:bodyPr wrap="square"/>
                    <a:lstStyle/>
                    <a:p>
                      <a:r>
                        <a:rPr sz="1100" b="0">
                          <a:solidFill>
                            <a:srgbClr val="000000"/>
                          </a:solidFill>
                          <a:latin typeface="Calibri"/>
                        </a:rPr>
                        <a:t>needs frozen points?</a:t>
                      </a:r>
                    </a:p>
                  </a:txBody>
                  <a:tcPr marL="45720" marR="45720" marT="9144" marB="9144">
                    <a:solidFill>
                      <a:srgbClr val="FFFFFF"/>
                    </a:solidFill>
                  </a:tcPr>
                </a:tc>
                <a:tc>
                  <a:txBody>
                    <a:bodyPr wrap="square"/>
                    <a:lstStyle/>
                    <a:p>
                      <a:r>
                        <a:rPr sz="1100" b="0">
                          <a:solidFill>
                            <a:srgbClr val="000000"/>
                          </a:solidFill>
                          <a:latin typeface="Calibri"/>
                        </a:rPr>
                        <a:t>no</a:t>
                      </a:r>
                    </a:p>
                  </a:txBody>
                  <a:tcPr marL="45720" marR="45720" marT="9144" marB="9144">
                    <a:solidFill>
                      <a:srgbClr val="FFFFFF"/>
                    </a:solidFill>
                  </a:tcPr>
                </a:tc>
                <a:tc>
                  <a:txBody>
                    <a:bodyPr wrap="square"/>
                    <a:lstStyle/>
                    <a:p>
                      <a:r>
                        <a:rPr sz="1100" b="0">
                          <a:solidFill>
                            <a:srgbClr val="000000"/>
                          </a:solidFill>
                          <a:latin typeface="Calibri"/>
                        </a:rPr>
                        <a:t>YES — the curvature model assumes a fixed surface</a:t>
                      </a:r>
                    </a:p>
                  </a:txBody>
                  <a:tcPr marL="45720" marR="45720" marT="9144" marB="9144">
                    <a:solidFill>
                      <a:srgbClr val="FFFFFF"/>
                    </a:solidFill>
                  </a:tcPr>
                </a:tc>
              </a:tr>
            </a:tbl>
          </a:graphicData>
        </a:graphic>
      </p:graphicFrame>
      <p:sp>
        <p:nvSpPr>
          <p:cNvPr id="6" name="TextBox 5"/>
          <p:cNvSpPr txBox="1"/>
          <p:nvPr/>
        </p:nvSpPr>
        <p:spPr>
          <a:xfrm>
            <a:off x="502920" y="2926080"/>
            <a:ext cx="11247120" cy="3657600"/>
          </a:xfrm>
          <a:prstGeom prst="rect">
            <a:avLst/>
          </a:prstGeom>
          <a:noFill/>
        </p:spPr>
        <p:txBody>
          <a:bodyPr wrap="square">
            <a:spAutoFit/>
          </a:bodyPr>
          <a:lstStyle/>
          <a:p>
            <a:pPr>
              <a:spcAft>
                <a:spcPts val="800"/>
              </a:spcAft>
            </a:pPr>
            <a:r>
              <a:rPr sz="1300" b="1">
                <a:solidFill>
                  <a:srgbClr val="000000"/>
                </a:solidFill>
                <a:latin typeface="Calibri"/>
              </a:rPr>
              <a:t>• Measured on splinekan, from an identical initialisation:</a:t>
            </a:r>
          </a:p>
        </p:txBody>
      </p:sp>
      <p:graphicFrame>
        <p:nvGraphicFramePr>
          <p:cNvPr id="7" name="Table 6"/>
          <p:cNvGraphicFramePr>
            <a:graphicFrameLocks noGrp="1"/>
          </p:cNvGraphicFramePr>
          <p:nvPr/>
        </p:nvGraphicFramePr>
        <p:xfrm>
          <a:off x="502920" y="3337560"/>
          <a:ext cx="9875520" cy="950976"/>
        </p:xfrm>
        <a:graphic>
          <a:graphicData uri="http://schemas.openxmlformats.org/drawingml/2006/table">
            <a:tbl>
              <a:tblPr firstRow="1">
                <a:tableStyleId>{5C22544A-7EE6-4342-B048-85BDC9FD1C3A}</a:tableStyleId>
              </a:tblPr>
              <a:tblGrid>
                <a:gridCol w="2560320"/>
                <a:gridCol w="2011680"/>
                <a:gridCol w="2011680"/>
                <a:gridCol w="3291840"/>
              </a:tblGrid>
              <a:tr h="237744">
                <a:tc>
                  <a:txBody>
                    <a:bodyPr wrap="square"/>
                    <a:lstStyle/>
                    <a:p>
                      <a:r>
                        <a:rPr sz="1100" b="1">
                          <a:solidFill>
                            <a:srgbClr val="000000"/>
                          </a:solidFill>
                          <a:latin typeface="Calibri"/>
                        </a:rPr>
                        <a:t>Optimiser</a:t>
                      </a:r>
                    </a:p>
                  </a:txBody>
                  <a:tcPr marL="45720" marR="45720" marT="9144" marB="9144">
                    <a:solidFill>
                      <a:srgbClr val="FFFFFF"/>
                    </a:solidFill>
                  </a:tcPr>
                </a:tc>
                <a:tc>
                  <a:txBody>
                    <a:bodyPr wrap="square"/>
                    <a:lstStyle/>
                    <a:p>
                      <a:r>
                        <a:rPr sz="1100" b="1">
                          <a:solidFill>
                            <a:srgbClr val="000000"/>
                          </a:solidFill>
                          <a:latin typeface="Calibri"/>
                        </a:rPr>
                        <a:t>loss at init</a:t>
                      </a:r>
                    </a:p>
                  </a:txBody>
                  <a:tcPr marL="45720" marR="45720" marT="9144" marB="9144">
                    <a:solidFill>
                      <a:srgbClr val="FFFFFF"/>
                    </a:solidFill>
                  </a:tcPr>
                </a:tc>
                <a:tc>
                  <a:txBody>
                    <a:bodyPr wrap="square"/>
                    <a:lstStyle/>
                    <a:p>
                      <a:r>
                        <a:rPr sz="1100" b="1">
                          <a:solidFill>
                            <a:srgbClr val="000000"/>
                          </a:solidFill>
                          <a:latin typeface="Calibri"/>
                        </a:rPr>
                        <a:t>loss at end</a:t>
                      </a:r>
                    </a:p>
                  </a:txBody>
                  <a:tcPr marL="45720" marR="45720" marT="9144" marB="9144">
                    <a:solidFill>
                      <a:srgbClr val="FFFFFF"/>
                    </a:solidFill>
                  </a:tcPr>
                </a:tc>
                <a:tc>
                  <a:txBody>
                    <a:bodyPr wrap="square"/>
                    <a:lstStyle/>
                    <a:p>
                      <a:r>
                        <a:rPr sz="1100" b="1">
                          <a:solidFill>
                            <a:srgbClr val="000000"/>
                          </a:solidFill>
                          <a:latin typeface="Calibri"/>
                        </a:rPr>
                        <a:t>||Δparameters|| / ||initial||</a:t>
                      </a:r>
                    </a:p>
                  </a:txBody>
                  <a:tcPr marL="45720" marR="45720" marT="9144" marB="9144">
                    <a:solidFill>
                      <a:srgbClr val="FFFFFF"/>
                    </a:solidFill>
                  </a:tcPr>
                </a:tc>
              </a:tr>
              <a:tr h="237744">
                <a:tc>
                  <a:txBody>
                    <a:bodyPr wrap="square"/>
                    <a:lstStyle/>
                    <a:p>
                      <a:r>
                        <a:rPr sz="1100" b="0">
                          <a:solidFill>
                            <a:srgbClr val="000000"/>
                          </a:solidFill>
                          <a:latin typeface="Calibri"/>
                        </a:rPr>
                        <a:t>Adam lr = 1e-3</a:t>
                      </a:r>
                    </a:p>
                  </a:txBody>
                  <a:tcPr marL="45720" marR="45720" marT="9144" marB="9144">
                    <a:solidFill>
                      <a:srgbClr val="FFFFFF"/>
                    </a:solidFill>
                  </a:tcPr>
                </a:tc>
                <a:tc>
                  <a:txBody>
                    <a:bodyPr wrap="square"/>
                    <a:lstStyle/>
                    <a:p>
                      <a:r>
                        <a:rPr sz="1100" b="0">
                          <a:solidFill>
                            <a:srgbClr val="000000"/>
                          </a:solidFill>
                          <a:latin typeface="Calibri"/>
                        </a:rPr>
                        <a:t>3.39e10</a:t>
                      </a:r>
                    </a:p>
                  </a:txBody>
                  <a:tcPr marL="45720" marR="45720" marT="9144" marB="9144">
                    <a:solidFill>
                      <a:srgbClr val="FFFFFF"/>
                    </a:solidFill>
                  </a:tcPr>
                </a:tc>
                <a:tc>
                  <a:txBody>
                    <a:bodyPr wrap="square"/>
                    <a:lstStyle/>
                    <a:p>
                      <a:r>
                        <a:rPr sz="1100" b="0">
                          <a:solidFill>
                            <a:srgbClr val="000000"/>
                          </a:solidFill>
                          <a:latin typeface="Calibri"/>
                        </a:rPr>
                        <a:t>5.17e5</a:t>
                      </a:r>
                    </a:p>
                  </a:txBody>
                  <a:tcPr marL="45720" marR="45720" marT="9144" marB="9144">
                    <a:solidFill>
                      <a:srgbClr val="FFFFFF"/>
                    </a:solidFill>
                  </a:tcPr>
                </a:tc>
                <a:tc>
                  <a:txBody>
                    <a:bodyPr wrap="square"/>
                    <a:lstStyle/>
                    <a:p>
                      <a:r>
                        <a:rPr sz="1100" b="0">
                          <a:solidFill>
                            <a:srgbClr val="000000"/>
                          </a:solidFill>
                          <a:latin typeface="Calibri"/>
                        </a:rPr>
                        <a:t>0.1608</a:t>
                      </a:r>
                    </a:p>
                  </a:txBody>
                  <a:tcPr marL="45720" marR="45720" marT="9144" marB="9144">
                    <a:solidFill>
                      <a:srgbClr val="FFFFFF"/>
                    </a:solidFill>
                  </a:tcPr>
                </a:tc>
              </a:tr>
              <a:tr h="237744">
                <a:tc>
                  <a:txBody>
                    <a:bodyPr wrap="square"/>
                    <a:lstStyle/>
                    <a:p>
                      <a:r>
                        <a:rPr sz="1100" b="0">
                          <a:solidFill>
                            <a:srgbClr val="000000"/>
                          </a:solidFill>
                          <a:latin typeface="Calibri"/>
                        </a:rPr>
                        <a:t>Adam lr = 1e-5</a:t>
                      </a:r>
                    </a:p>
                  </a:txBody>
                  <a:tcPr marL="45720" marR="45720" marT="9144" marB="9144">
                    <a:solidFill>
                      <a:srgbClr val="FFFFFF"/>
                    </a:solidFill>
                  </a:tcPr>
                </a:tc>
                <a:tc>
                  <a:txBody>
                    <a:bodyPr wrap="square"/>
                    <a:lstStyle/>
                    <a:p>
                      <a:r>
                        <a:rPr sz="1100" b="0">
                          <a:solidFill>
                            <a:srgbClr val="000000"/>
                          </a:solidFill>
                          <a:latin typeface="Calibri"/>
                        </a:rPr>
                        <a:t>3.39e10</a:t>
                      </a:r>
                    </a:p>
                  </a:txBody>
                  <a:tcPr marL="45720" marR="45720" marT="9144" marB="9144">
                    <a:solidFill>
                      <a:srgbClr val="FFFFFF"/>
                    </a:solidFill>
                  </a:tcPr>
                </a:tc>
                <a:tc>
                  <a:txBody>
                    <a:bodyPr wrap="square"/>
                    <a:lstStyle/>
                    <a:p>
                      <a:r>
                        <a:rPr sz="1100" b="0">
                          <a:solidFill>
                            <a:srgbClr val="000000"/>
                          </a:solidFill>
                          <a:latin typeface="Calibri"/>
                        </a:rPr>
                        <a:t>2.68e6</a:t>
                      </a:r>
                    </a:p>
                  </a:txBody>
                  <a:tcPr marL="45720" marR="45720" marT="9144" marB="9144">
                    <a:solidFill>
                      <a:srgbClr val="FFFFFF"/>
                    </a:solidFill>
                  </a:tcPr>
                </a:tc>
                <a:tc>
                  <a:txBody>
                    <a:bodyPr wrap="square"/>
                    <a:lstStyle/>
                    <a:p>
                      <a:r>
                        <a:rPr sz="1100" b="0">
                          <a:solidFill>
                            <a:srgbClr val="000000"/>
                          </a:solidFill>
                          <a:latin typeface="Calibri"/>
                        </a:rPr>
                        <a:t>0.0117</a:t>
                      </a:r>
                    </a:p>
                  </a:txBody>
                  <a:tcPr marL="45720" marR="45720" marT="9144" marB="9144">
                    <a:solidFill>
                      <a:srgbClr val="FFFFFF"/>
                    </a:solidFill>
                  </a:tcPr>
                </a:tc>
              </a:tr>
              <a:tr h="237744">
                <a:tc>
                  <a:txBody>
                    <a:bodyPr wrap="square"/>
                    <a:lstStyle/>
                    <a:p>
                      <a:r>
                        <a:rPr sz="1100" b="0">
                          <a:solidFill>
                            <a:srgbClr val="000000"/>
                          </a:solidFill>
                          <a:latin typeface="Calibri"/>
                        </a:rPr>
                        <a:t>L-BFGS, 35 epochs</a:t>
                      </a:r>
                    </a:p>
                  </a:txBody>
                  <a:tcPr marL="45720" marR="45720" marT="9144" marB="9144">
                    <a:solidFill>
                      <a:srgbClr val="FFFFFF"/>
                    </a:solidFill>
                  </a:tcPr>
                </a:tc>
                <a:tc>
                  <a:txBody>
                    <a:bodyPr wrap="square"/>
                    <a:lstStyle/>
                    <a:p>
                      <a:r>
                        <a:rPr sz="1100" b="0">
                          <a:solidFill>
                            <a:srgbClr val="000000"/>
                          </a:solidFill>
                          <a:latin typeface="Calibri"/>
                        </a:rPr>
                        <a:t>3.39e10</a:t>
                      </a:r>
                    </a:p>
                  </a:txBody>
                  <a:tcPr marL="45720" marR="45720" marT="9144" marB="9144">
                    <a:solidFill>
                      <a:srgbClr val="FFFFFF"/>
                    </a:solidFill>
                  </a:tcPr>
                </a:tc>
                <a:tc>
                  <a:txBody>
                    <a:bodyPr wrap="square"/>
                    <a:lstStyle/>
                    <a:p>
                      <a:r>
                        <a:rPr sz="1100" b="0">
                          <a:solidFill>
                            <a:srgbClr val="000000"/>
                          </a:solidFill>
                          <a:latin typeface="Calibri"/>
                        </a:rPr>
                        <a:t>7.89e4</a:t>
                      </a:r>
                    </a:p>
                  </a:txBody>
                  <a:tcPr marL="45720" marR="45720" marT="9144" marB="9144">
                    <a:solidFill>
                      <a:srgbClr val="FFFFFF"/>
                    </a:solidFill>
                  </a:tcPr>
                </a:tc>
                <a:tc>
                  <a:txBody>
                    <a:bodyPr wrap="square"/>
                    <a:lstStyle/>
                    <a:p>
                      <a:r>
                        <a:rPr sz="1100" b="0">
                          <a:solidFill>
                            <a:srgbClr val="000000"/>
                          </a:solidFill>
                          <a:latin typeface="Calibri"/>
                        </a:rPr>
                        <a:t>0.0089</a:t>
                      </a:r>
                    </a:p>
                  </a:txBody>
                  <a:tcPr marL="45720" marR="45720" marT="9144" marB="9144">
                    <a:solidFill>
                      <a:srgbClr val="FFFFFF"/>
                    </a:solidFill>
                  </a:tcPr>
                </a:tc>
              </a:tr>
            </a:tbl>
          </a:graphicData>
        </a:graphic>
      </p:graphicFrame>
      <p:sp>
        <p:nvSpPr>
          <p:cNvPr id="8" name="TextBox 7"/>
          <p:cNvSpPr txBox="1"/>
          <p:nvPr/>
        </p:nvSpPr>
        <p:spPr>
          <a:xfrm>
            <a:off x="502920" y="4617720"/>
            <a:ext cx="11247120" cy="1965960"/>
          </a:xfrm>
          <a:prstGeom prst="rect">
            <a:avLst/>
          </a:prstGeom>
          <a:noFill/>
        </p:spPr>
        <p:txBody>
          <a:bodyPr wrap="square">
            <a:spAutoFit/>
          </a:bodyPr>
          <a:lstStyle/>
          <a:p>
            <a:pPr>
              <a:spcAft>
                <a:spcPts val="800"/>
              </a:spcAft>
            </a:pPr>
            <a:r>
              <a:rPr sz="1300" b="1">
                <a:solidFill>
                  <a:srgbClr val="000000"/>
                </a:solidFill>
                <a:latin typeface="Calibri"/>
              </a:rPr>
              <a:t>• L-BFGS reaches a 6.5× lower loss while travelling 18× less — about 115× more efficient per unit of parameter movement. It is a far better LOCAL optimiser, and that is exactly why it cannot escape a poor starting basin.</a:t>
            </a:r>
          </a:p>
          <a:p>
            <a:pPr>
              <a:spcAft>
                <a:spcPts val="800"/>
              </a:spcAft>
            </a:pPr>
            <a:r>
              <a:rPr sz="1300" b="0">
                <a:solidFill>
                  <a:srgbClr val="000000"/>
                </a:solidFill>
                <a:latin typeface="Calibri"/>
              </a:rPr>
              <a:t>• The KAN's basis fits this solution far better in principle, but that potential lives where a cold quasi-Newton start does not reach. 700 Adam steps get it there.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R3 adaptive resampling — four regimes, zero wins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Daw et al., ICML 2023; verified against the official release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300" b="1">
                <a:solidFill>
                  <a:srgbClr val="000000"/>
                </a:solidFill>
                <a:latin typeface="Calibri"/>
              </a:rPr>
              <a:t>• Two different algorithms had been called "R3" in this project. The published one resamples EVERY iteration (sampler.update() sits inside loss()). Ours fired ONCE on patience exhaustion. The official repo contains NO L-BFGS anywhere — grep returns nothing.</a:t>
            </a:r>
          </a:p>
        </p:txBody>
      </p:sp>
      <p:graphicFrame>
        <p:nvGraphicFramePr>
          <p:cNvPr id="6" name="Table 5"/>
          <p:cNvGraphicFramePr>
            <a:graphicFrameLocks noGrp="1"/>
          </p:cNvGraphicFramePr>
          <p:nvPr/>
        </p:nvGraphicFramePr>
        <p:xfrm>
          <a:off x="502920" y="2423160"/>
          <a:ext cx="11247120" cy="1426464"/>
        </p:xfrm>
        <a:graphic>
          <a:graphicData uri="http://schemas.openxmlformats.org/drawingml/2006/table">
            <a:tbl>
              <a:tblPr firstRow="1">
                <a:tableStyleId>{5C22544A-7EE6-4342-B048-85BDC9FD1C3A}</a:tableStyleId>
              </a:tblPr>
              <a:tblGrid>
                <a:gridCol w="3657600"/>
                <a:gridCol w="1005840"/>
                <a:gridCol w="1463040"/>
                <a:gridCol w="2011680"/>
                <a:gridCol w="1371600"/>
                <a:gridCol w="1737360"/>
              </a:tblGrid>
              <a:tr h="237744">
                <a:tc>
                  <a:txBody>
                    <a:bodyPr wrap="square"/>
                    <a:lstStyle/>
                    <a:p>
                      <a:r>
                        <a:rPr sz="1100" b="1">
                          <a:solidFill>
                            <a:srgbClr val="000000"/>
                          </a:solidFill>
                          <a:latin typeface="Calibri"/>
                        </a:rPr>
                        <a:t>Regime</a:t>
                      </a:r>
                    </a:p>
                  </a:txBody>
                  <a:tcPr marL="45720" marR="45720" marT="9144" marB="9144">
                    <a:solidFill>
                      <a:srgbClr val="FFFFFF"/>
                    </a:solidFill>
                  </a:tcPr>
                </a:tc>
                <a:tc>
                  <a:txBody>
                    <a:bodyPr wrap="square"/>
                    <a:lstStyle/>
                    <a:p>
                      <a:r>
                        <a:rPr sz="1100" b="1">
                          <a:solidFill>
                            <a:srgbClr val="000000"/>
                          </a:solidFill>
                          <a:latin typeface="Calibri"/>
                        </a:rPr>
                        <a:t>pairs</a:t>
                      </a:r>
                    </a:p>
                  </a:txBody>
                  <a:tcPr marL="45720" marR="45720" marT="9144" marB="9144">
                    <a:solidFill>
                      <a:srgbClr val="FFFFFF"/>
                    </a:solidFill>
                  </a:tcPr>
                </a:tc>
                <a:tc>
                  <a:txBody>
                    <a:bodyPr wrap="square"/>
                    <a:lstStyle/>
                    <a:p>
                      <a:r>
                        <a:rPr sz="1100" b="1">
                          <a:solidFill>
                            <a:srgbClr val="000000"/>
                          </a:solidFill>
                          <a:latin typeface="Calibri"/>
                        </a:rPr>
                        <a:t>R3 better</a:t>
                      </a:r>
                    </a:p>
                  </a:txBody>
                  <a:tcPr marL="45720" marR="45720" marT="9144" marB="9144">
                    <a:solidFill>
                      <a:srgbClr val="FFFFFF"/>
                    </a:solidFill>
                  </a:tcPr>
                </a:tc>
                <a:tc>
                  <a:txBody>
                    <a:bodyPr wrap="square"/>
                    <a:lstStyle/>
                    <a:p>
                      <a:r>
                        <a:rPr sz="1100" b="1">
                          <a:solidFill>
                            <a:srgbClr val="000000"/>
                          </a:solidFill>
                          <a:latin typeface="Calibri"/>
                        </a:rPr>
                        <a:t>geo-mean ratio</a:t>
                      </a:r>
                    </a:p>
                  </a:txBody>
                  <a:tcPr marL="45720" marR="45720" marT="9144" marB="9144">
                    <a:solidFill>
                      <a:srgbClr val="FFFFFF"/>
                    </a:solidFill>
                  </a:tcPr>
                </a:tc>
                <a:tc>
                  <a:txBody>
                    <a:bodyPr wrap="square"/>
                    <a:lstStyle/>
                    <a:p>
                      <a:r>
                        <a:rPr sz="1100" b="1">
                          <a:solidFill>
                            <a:srgbClr val="000000"/>
                          </a:solidFill>
                          <a:latin typeface="Calibri"/>
                        </a:rPr>
                        <a:t>p</a:t>
                      </a:r>
                    </a:p>
                  </a:txBody>
                  <a:tcPr marL="45720" marR="45720" marT="9144" marB="9144">
                    <a:solidFill>
                      <a:srgbClr val="FFFFFF"/>
                    </a:solidFill>
                  </a:tcPr>
                </a:tc>
                <a:tc>
                  <a:txBody>
                    <a:bodyPr wrap="square"/>
                    <a:lstStyle/>
                    <a:p>
                      <a:r>
                        <a:rPr sz="1100" b="1">
                          <a:solidFill>
                            <a:srgbClr val="000000"/>
                          </a:solidFill>
                          <a:latin typeface="Calibri"/>
                        </a:rPr>
                        <a:t>verdict</a:t>
                      </a:r>
                    </a:p>
                  </a:txBody>
                  <a:tcPr marL="45720" marR="45720" marT="9144" marB="9144">
                    <a:solidFill>
                      <a:srgbClr val="FFFFFF"/>
                    </a:solidFill>
                  </a:tcPr>
                </a:tc>
              </a:tr>
              <a:tr h="237744">
                <a:tc>
                  <a:txBody>
                    <a:bodyPr wrap="square"/>
                    <a:lstStyle/>
                    <a:p>
                      <a:r>
                        <a:rPr sz="1100" b="0">
                          <a:solidFill>
                            <a:srgbClr val="000000"/>
                          </a:solidFill>
                          <a:latin typeface="Calibri"/>
                        </a:rPr>
                        <a:t>one-shot + pure L-BFGS</a:t>
                      </a:r>
                    </a:p>
                  </a:txBody>
                  <a:tcPr marL="45720" marR="45720" marT="9144" marB="9144">
                    <a:solidFill>
                      <a:srgbClr val="FFFFFF"/>
                    </a:solidFill>
                  </a:tcPr>
                </a:tc>
                <a:tc>
                  <a:txBody>
                    <a:bodyPr wrap="square"/>
                    <a:lstStyle/>
                    <a:p>
                      <a:r>
                        <a:rPr sz="1100" b="0">
                          <a:solidFill>
                            <a:srgbClr val="000000"/>
                          </a:solidFill>
                          <a:latin typeface="Calibri"/>
                        </a:rPr>
                        <a:t>40</a:t>
                      </a:r>
                    </a:p>
                  </a:txBody>
                  <a:tcPr marL="45720" marR="45720" marT="9144" marB="9144">
                    <a:solidFill>
                      <a:srgbClr val="FFFFFF"/>
                    </a:solidFill>
                  </a:tcPr>
                </a:tc>
                <a:tc>
                  <a:txBody>
                    <a:bodyPr wrap="square"/>
                    <a:lstStyle/>
                    <a:p>
                      <a:r>
                        <a:rPr sz="1100" b="0">
                          <a:solidFill>
                            <a:srgbClr val="000000"/>
                          </a:solidFill>
                          <a:latin typeface="Calibri"/>
                        </a:rPr>
                        <a:t>21/40</a:t>
                      </a:r>
                    </a:p>
                  </a:txBody>
                  <a:tcPr marL="45720" marR="45720" marT="9144" marB="9144">
                    <a:solidFill>
                      <a:srgbClr val="FFFFFF"/>
                    </a:solidFill>
                  </a:tcPr>
                </a:tc>
                <a:tc>
                  <a:txBody>
                    <a:bodyPr wrap="square"/>
                    <a:lstStyle/>
                    <a:p>
                      <a:r>
                        <a:rPr sz="1100" b="0">
                          <a:solidFill>
                            <a:srgbClr val="000000"/>
                          </a:solidFill>
                          <a:latin typeface="Calibri"/>
                        </a:rPr>
                        <a:t>0.89×</a:t>
                      </a:r>
                    </a:p>
                  </a:txBody>
                  <a:tcPr marL="45720" marR="45720" marT="9144" marB="9144">
                    <a:solidFill>
                      <a:srgbClr val="FFFFFF"/>
                    </a:solidFill>
                  </a:tcPr>
                </a:tc>
                <a:tc>
                  <a:txBody>
                    <a:bodyPr wrap="square"/>
                    <a:lstStyle/>
                    <a:p>
                      <a:r>
                        <a:rPr sz="1100" b="0">
                          <a:solidFill>
                            <a:srgbClr val="000000"/>
                          </a:solidFill>
                          <a:latin typeface="Calibri"/>
                        </a:rPr>
                        <a:t>0.174</a:t>
                      </a:r>
                    </a:p>
                  </a:txBody>
                  <a:tcPr marL="45720" marR="45720" marT="9144" marB="9144">
                    <a:solidFill>
                      <a:srgbClr val="FFFFFF"/>
                    </a:solidFill>
                  </a:tcPr>
                </a:tc>
                <a:tc>
                  <a:txBody>
                    <a:bodyPr wrap="square"/>
                    <a:lstStyle/>
                    <a:p>
                      <a:r>
                        <a:rPr sz="1100" b="0">
                          <a:solidFill>
                            <a:srgbClr val="000000"/>
                          </a:solidFill>
                          <a:latin typeface="Calibri"/>
                        </a:rPr>
                        <a:t>no effect</a:t>
                      </a:r>
                    </a:p>
                  </a:txBody>
                  <a:tcPr marL="45720" marR="45720" marT="9144" marB="9144">
                    <a:solidFill>
                      <a:srgbClr val="FFFFFF"/>
                    </a:solidFill>
                  </a:tcPr>
                </a:tc>
              </a:tr>
              <a:tr h="237744">
                <a:tc>
                  <a:txBody>
                    <a:bodyPr wrap="square"/>
                    <a:lstStyle/>
                    <a:p>
                      <a:r>
                        <a:rPr sz="1100" b="0">
                          <a:solidFill>
                            <a:srgbClr val="000000"/>
                          </a:solidFill>
                          <a:latin typeface="Calibri"/>
                        </a:rPr>
                        <a:t>  · homogeneous only, n = 11</a:t>
                      </a:r>
                    </a:p>
                  </a:txBody>
                  <a:tcPr marL="45720" marR="45720" marT="9144" marB="9144">
                    <a:solidFill>
                      <a:srgbClr val="FFFFFF"/>
                    </a:solidFill>
                  </a:tcPr>
                </a:tc>
                <a:tc>
                  <a:txBody>
                    <a:bodyPr wrap="square"/>
                    <a:lstStyle/>
                    <a:p>
                      <a:r>
                        <a:rPr sz="1100" b="0">
                          <a:solidFill>
                            <a:srgbClr val="000000"/>
                          </a:solidFill>
                          <a:latin typeface="Calibri"/>
                        </a:rPr>
                        <a:t>11</a:t>
                      </a:r>
                    </a:p>
                  </a:txBody>
                  <a:tcPr marL="45720" marR="45720" marT="9144" marB="9144">
                    <a:solidFill>
                      <a:srgbClr val="FFFFFF"/>
                    </a:solidFill>
                  </a:tcPr>
                </a:tc>
                <a:tc>
                  <a:txBody>
                    <a:bodyPr wrap="square"/>
                    <a:lstStyle/>
                    <a:p>
                      <a:r>
                        <a:rPr sz="1100" b="0">
                          <a:solidFill>
                            <a:srgbClr val="000000"/>
                          </a:solidFill>
                          <a:latin typeface="Calibri"/>
                        </a:rPr>
                        <a:t>2/11</a:t>
                      </a:r>
                    </a:p>
                  </a:txBody>
                  <a:tcPr marL="45720" marR="45720" marT="9144" marB="9144">
                    <a:solidFill>
                      <a:srgbClr val="FFFFFF"/>
                    </a:solidFill>
                  </a:tcPr>
                </a:tc>
                <a:tc>
                  <a:txBody>
                    <a:bodyPr wrap="square"/>
                    <a:lstStyle/>
                    <a:p>
                      <a:r>
                        <a:rPr sz="1100" b="0">
                          <a:solidFill>
                            <a:srgbClr val="000000"/>
                          </a:solidFill>
                          <a:latin typeface="Calibri"/>
                        </a:rPr>
                        <a:t>1.59×</a:t>
                      </a:r>
                    </a:p>
                  </a:txBody>
                  <a:tcPr marL="45720" marR="45720" marT="9144" marB="9144">
                    <a:solidFill>
                      <a:srgbClr val="FFFFFF"/>
                    </a:solidFill>
                  </a:tcPr>
                </a:tc>
                <a:tc>
                  <a:txBody>
                    <a:bodyPr wrap="square"/>
                    <a:lstStyle/>
                    <a:p>
                      <a:r>
                        <a:rPr sz="1100" b="0">
                          <a:solidFill>
                            <a:srgbClr val="000000"/>
                          </a:solidFill>
                          <a:latin typeface="Calibri"/>
                        </a:rPr>
                        <a:t>0.019</a:t>
                      </a:r>
                    </a:p>
                  </a:txBody>
                  <a:tcPr marL="45720" marR="45720" marT="9144" marB="9144">
                    <a:solidFill>
                      <a:srgbClr val="FFFFFF"/>
                    </a:solidFill>
                  </a:tcPr>
                </a:tc>
                <a:tc>
                  <a:txBody>
                    <a:bodyPr wrap="square"/>
                    <a:lstStyle/>
                    <a:p>
                      <a:r>
                        <a:rPr sz="1100" b="0">
                          <a:solidFill>
                            <a:srgbClr val="000000"/>
                          </a:solidFill>
                          <a:latin typeface="Calibri"/>
                        </a:rPr>
                        <a:t>HARMFUL</a:t>
                      </a:r>
                    </a:p>
                  </a:txBody>
                  <a:tcPr marL="45720" marR="45720" marT="9144" marB="9144">
                    <a:solidFill>
                      <a:srgbClr val="FFFFFF"/>
                    </a:solidFill>
                  </a:tcPr>
                </a:tc>
              </a:tr>
              <a:tr h="237744">
                <a:tc>
                  <a:txBody>
                    <a:bodyPr wrap="square"/>
                    <a:lstStyle/>
                    <a:p>
                      <a:r>
                        <a:rPr sz="1100" b="0">
                          <a:solidFill>
                            <a:srgbClr val="000000"/>
                          </a:solidFill>
                          <a:latin typeface="Calibri"/>
                        </a:rPr>
                        <a:t>paper-faithful + Adam→L-BFGS</a:t>
                      </a:r>
                    </a:p>
                  </a:txBody>
                  <a:tcPr marL="45720" marR="45720" marT="9144" marB="9144">
                    <a:solidFill>
                      <a:srgbClr val="FFFFFF"/>
                    </a:solidFill>
                  </a:tcPr>
                </a:tc>
                <a:tc>
                  <a:txBody>
                    <a:bodyPr wrap="square"/>
                    <a:lstStyle/>
                    <a:p>
                      <a:r>
                        <a:rPr sz="1100" b="0">
                          <a:solidFill>
                            <a:srgbClr val="000000"/>
                          </a:solidFill>
                          <a:latin typeface="Calibri"/>
                        </a:rPr>
                        <a:t>45</a:t>
                      </a:r>
                    </a:p>
                  </a:txBody>
                  <a:tcPr marL="45720" marR="45720" marT="9144" marB="9144">
                    <a:solidFill>
                      <a:srgbClr val="FFFFFF"/>
                    </a:solidFill>
                  </a:tcPr>
                </a:tc>
                <a:tc>
                  <a:txBody>
                    <a:bodyPr wrap="square"/>
                    <a:lstStyle/>
                    <a:p>
                      <a:r>
                        <a:rPr sz="1100" b="0">
                          <a:solidFill>
                            <a:srgbClr val="000000"/>
                          </a:solidFill>
                          <a:latin typeface="Calibri"/>
                        </a:rPr>
                        <a:t>4/45</a:t>
                      </a:r>
                    </a:p>
                  </a:txBody>
                  <a:tcPr marL="45720" marR="45720" marT="9144" marB="9144">
                    <a:solidFill>
                      <a:srgbClr val="FFFFFF"/>
                    </a:solidFill>
                  </a:tcPr>
                </a:tc>
                <a:tc>
                  <a:txBody>
                    <a:bodyPr wrap="square"/>
                    <a:lstStyle/>
                    <a:p>
                      <a:r>
                        <a:rPr sz="1100" b="0">
                          <a:solidFill>
                            <a:srgbClr val="000000"/>
                          </a:solidFill>
                          <a:latin typeface="Calibri"/>
                        </a:rPr>
                        <a:t>5.30× worse</a:t>
                      </a:r>
                    </a:p>
                  </a:txBody>
                  <a:tcPr marL="45720" marR="45720" marT="9144" marB="9144">
                    <a:solidFill>
                      <a:srgbClr val="FFFFFF"/>
                    </a:solidFill>
                  </a:tcPr>
                </a:tc>
                <a:tc>
                  <a:txBody>
                    <a:bodyPr wrap="square"/>
                    <a:lstStyle/>
                    <a:p>
                      <a:r>
                        <a:rPr sz="1100" b="0">
                          <a:solidFill>
                            <a:srgbClr val="000000"/>
                          </a:solidFill>
                          <a:latin typeface="Calibri"/>
                        </a:rPr>
                        <a:t>&lt;0.0001</a:t>
                      </a:r>
                    </a:p>
                  </a:txBody>
                  <a:tcPr marL="45720" marR="45720" marT="9144" marB="9144">
                    <a:solidFill>
                      <a:srgbClr val="FFFFFF"/>
                    </a:solidFill>
                  </a:tcPr>
                </a:tc>
                <a:tc>
                  <a:txBody>
                    <a:bodyPr wrap="square"/>
                    <a:lstStyle/>
                    <a:p>
                      <a:r>
                        <a:rPr sz="1100" b="0">
                          <a:solidFill>
                            <a:srgbClr val="000000"/>
                          </a:solidFill>
                          <a:latin typeface="Calibri"/>
                        </a:rPr>
                        <a:t>HARMFUL</a:t>
                      </a:r>
                    </a:p>
                  </a:txBody>
                  <a:tcPr marL="45720" marR="45720" marT="9144" marB="9144">
                    <a:solidFill>
                      <a:srgbClr val="FFFFFF"/>
                    </a:solidFill>
                  </a:tcPr>
                </a:tc>
              </a:tr>
              <a:tr h="237744">
                <a:tc>
                  <a:txBody>
                    <a:bodyPr wrap="square"/>
                    <a:lstStyle/>
                    <a:p>
                      <a:r>
                        <a:rPr sz="1100" b="0">
                          <a:solidFill>
                            <a:srgbClr val="000000"/>
                          </a:solidFill>
                          <a:latin typeface="Calibri"/>
                        </a:rPr>
                        <a:t>paper-faithful + Adam only, hard IC</a:t>
                      </a:r>
                    </a:p>
                  </a:txBody>
                  <a:tcPr marL="45720" marR="45720" marT="9144" marB="9144">
                    <a:solidFill>
                      <a:srgbClr val="FFFFFF"/>
                    </a:solidFill>
                  </a:tcPr>
                </a:tc>
                <a:tc>
                  <a:txBody>
                    <a:bodyPr wrap="square"/>
                    <a:lstStyle/>
                    <a:p>
                      <a:r>
                        <a:rPr sz="1100" b="0">
                          <a:solidFill>
                            <a:srgbClr val="000000"/>
                          </a:solidFill>
                          <a:latin typeface="Calibri"/>
                        </a:rPr>
                        <a:t>6</a:t>
                      </a:r>
                    </a:p>
                  </a:txBody>
                  <a:tcPr marL="45720" marR="45720" marT="9144" marB="9144">
                    <a:solidFill>
                      <a:srgbClr val="FFFFFF"/>
                    </a:solidFill>
                  </a:tcPr>
                </a:tc>
                <a:tc>
                  <a:txBody>
                    <a:bodyPr wrap="square"/>
                    <a:lstStyle/>
                    <a:p>
                      <a:r>
                        <a:rPr sz="1100" b="0">
                          <a:solidFill>
                            <a:srgbClr val="000000"/>
                          </a:solidFill>
                          <a:latin typeface="Calibri"/>
                        </a:rPr>
                        <a:t>0/6</a:t>
                      </a:r>
                    </a:p>
                  </a:txBody>
                  <a:tcPr marL="45720" marR="45720" marT="9144" marB="9144">
                    <a:solidFill>
                      <a:srgbClr val="FFFFFF"/>
                    </a:solidFill>
                  </a:tcPr>
                </a:tc>
                <a:tc>
                  <a:txBody>
                    <a:bodyPr wrap="square"/>
                    <a:lstStyle/>
                    <a:p>
                      <a:r>
                        <a:rPr sz="1100" b="0">
                          <a:solidFill>
                            <a:srgbClr val="000000"/>
                          </a:solidFill>
                          <a:latin typeface="Calibri"/>
                        </a:rPr>
                        <a:t>6.6× worse</a:t>
                      </a:r>
                    </a:p>
                  </a:txBody>
                  <a:tcPr marL="45720" marR="45720" marT="9144" marB="9144">
                    <a:solidFill>
                      <a:srgbClr val="FFFFFF"/>
                    </a:solidFill>
                  </a:tcPr>
                </a:tc>
                <a:tc>
                  <a:txBody>
                    <a:bodyPr wrap="square"/>
                    <a:lstStyle/>
                    <a:p>
                      <a:r>
                        <a:rPr sz="1100" b="0">
                          <a:solidFill>
                            <a:srgbClr val="000000"/>
                          </a:solidFill>
                          <a:latin typeface="Calibri"/>
                        </a:rPr>
                        <a:t>0.086–0.096</a:t>
                      </a:r>
                    </a:p>
                  </a:txBody>
                  <a:tcPr marL="45720" marR="45720" marT="9144" marB="9144">
                    <a:solidFill>
                      <a:srgbClr val="FFFFFF"/>
                    </a:solidFill>
                  </a:tcPr>
                </a:tc>
                <a:tc>
                  <a:txBody>
                    <a:bodyPr wrap="square"/>
                    <a:lstStyle/>
                    <a:p>
                      <a:r>
                        <a:rPr sz="1100" b="0">
                          <a:solidFill>
                            <a:srgbClr val="000000"/>
                          </a:solidFill>
                          <a:latin typeface="Calibri"/>
                        </a:rPr>
                        <a:t>HARMFUL</a:t>
                      </a:r>
                    </a:p>
                  </a:txBody>
                  <a:tcPr marL="45720" marR="45720" marT="9144" marB="9144">
                    <a:solidFill>
                      <a:srgbClr val="FFFFFF"/>
                    </a:solidFill>
                  </a:tcPr>
                </a:tc>
              </a:tr>
              <a:tr h="237744">
                <a:tc>
                  <a:txBody>
                    <a:bodyPr wrap="square"/>
                    <a:lstStyle/>
                    <a:p>
                      <a:r>
                        <a:rPr sz="1100" b="0">
                          <a:solidFill>
                            <a:srgbClr val="000000"/>
                          </a:solidFill>
                          <a:latin typeface="Calibri"/>
                        </a:rPr>
                        <a:t>paper-faithful + Adam only, SOFT IC</a:t>
                      </a:r>
                    </a:p>
                  </a:txBody>
                  <a:tcPr marL="45720" marR="45720" marT="9144" marB="9144">
                    <a:solidFill>
                      <a:srgbClr val="FFFFFF"/>
                    </a:solidFill>
                  </a:tcPr>
                </a:tc>
                <a:tc>
                  <a:txBody>
                    <a:bodyPr wrap="square"/>
                    <a:lstStyle/>
                    <a:p>
                      <a:r>
                        <a:rPr sz="1100" b="0">
                          <a:solidFill>
                            <a:srgbClr val="000000"/>
                          </a:solidFill>
                          <a:latin typeface="Calibri"/>
                        </a:rPr>
                        <a:t>6</a:t>
                      </a:r>
                    </a:p>
                  </a:txBody>
                  <a:tcPr marL="45720" marR="45720" marT="9144" marB="9144">
                    <a:solidFill>
                      <a:srgbClr val="FFFFFF"/>
                    </a:solidFill>
                  </a:tcPr>
                </a:tc>
                <a:tc>
                  <a:txBody>
                    <a:bodyPr wrap="square"/>
                    <a:lstStyle/>
                    <a:p>
                      <a:r>
                        <a:rPr sz="1100" b="0">
                          <a:solidFill>
                            <a:srgbClr val="000000"/>
                          </a:solidFill>
                          <a:latin typeface="Calibri"/>
                        </a:rPr>
                        <a:t>—</a:t>
                      </a:r>
                    </a:p>
                  </a:txBody>
                  <a:tcPr marL="45720" marR="45720" marT="9144" marB="9144">
                    <a:solidFill>
                      <a:srgbClr val="FFFFFF"/>
                    </a:solidFill>
                  </a:tcPr>
                </a:tc>
                <a:tc>
                  <a:txBody>
                    <a:bodyPr wrap="square"/>
                    <a:lstStyle/>
                    <a:p>
                      <a:r>
                        <a:rPr sz="1100" b="0">
                          <a:solidFill>
                            <a:srgbClr val="000000"/>
                          </a:solidFill>
                          <a:latin typeface="Calibri"/>
                        </a:rPr>
                        <a:t>1.37× worse</a:t>
                      </a:r>
                    </a:p>
                  </a:txBody>
                  <a:tcPr marL="45720" marR="45720" marT="9144" marB="9144">
                    <a:solidFill>
                      <a:srgbClr val="FFFFFF"/>
                    </a:solidFill>
                  </a:tcPr>
                </a:tc>
                <a:tc>
                  <a:txBody>
                    <a:bodyPr wrap="square"/>
                    <a:lstStyle/>
                    <a:p>
                      <a:r>
                        <a:rPr sz="1100" b="0">
                          <a:solidFill>
                            <a:srgbClr val="000000"/>
                          </a:solidFill>
                          <a:latin typeface="Calibri"/>
                        </a:rPr>
                        <a:t>0.464</a:t>
                      </a:r>
                    </a:p>
                  </a:txBody>
                  <a:tcPr marL="45720" marR="45720" marT="9144" marB="9144">
                    <a:solidFill>
                      <a:srgbClr val="FFFFFF"/>
                    </a:solidFill>
                  </a:tcPr>
                </a:tc>
                <a:tc>
                  <a:txBody>
                    <a:bodyPr wrap="square"/>
                    <a:lstStyle/>
                    <a:p>
                      <a:r>
                        <a:rPr sz="1100" b="0">
                          <a:solidFill>
                            <a:srgbClr val="000000"/>
                          </a:solidFill>
                          <a:latin typeface="Calibri"/>
                        </a:rPr>
                        <a:t>HARMFUL</a:t>
                      </a:r>
                    </a:p>
                  </a:txBody>
                  <a:tcPr marL="45720" marR="45720" marT="9144" marB="9144">
                    <a:solidFill>
                      <a:srgbClr val="FFFFFF"/>
                    </a:solidFill>
                  </a:tcPr>
                </a:tc>
              </a:tr>
            </a:tbl>
          </a:graphicData>
        </a:graphic>
      </p:graphicFrame>
      <p:sp>
        <p:nvSpPr>
          <p:cNvPr id="7" name="TextBox 6"/>
          <p:cNvSpPr txBox="1"/>
          <p:nvPr/>
        </p:nvSpPr>
        <p:spPr>
          <a:xfrm>
            <a:off x="502920" y="4023360"/>
            <a:ext cx="11247120" cy="2560320"/>
          </a:xfrm>
          <a:prstGeom prst="rect">
            <a:avLst/>
          </a:prstGeom>
          <a:noFill/>
        </p:spPr>
        <p:txBody>
          <a:bodyPr wrap="square">
            <a:spAutoFit/>
          </a:bodyPr>
          <a:lstStyle/>
          <a:p>
            <a:pPr>
              <a:spcAft>
                <a:spcPts val="800"/>
              </a:spcAft>
            </a:pPr>
            <a:r>
              <a:rPr sz="1250" b="1">
                <a:solidFill>
                  <a:srgbClr val="000000"/>
                </a:solidFill>
                <a:latin typeface="Calibri"/>
              </a:rPr>
              <a:t>• The last row removes every excuse: no L-BFGS, the paper's own optimiser, the paper's own soft-constraint formulation.</a:t>
            </a:r>
          </a:p>
          <a:p>
            <a:pPr>
              <a:spcAft>
                <a:spcPts val="800"/>
              </a:spcAft>
            </a:pPr>
            <a:r>
              <a:rPr sz="1250" b="1">
                <a:solidFill>
                  <a:srgbClr val="000000"/>
                </a:solidFill>
                <a:latin typeface="Calibri"/>
              </a:rPr>
              <a:t>• Why it cannot work here. R3 assumes the residual concentrates, so "retain above mean" selects a small set. Measured retention out of 10,000: Fourier PINN 4,997 (exactly 50.0 % — retaining at random), MLP 6,815, plain KAN 6,804, PIKAN 7,125. Retention NEVER drops below half.</a:t>
            </a:r>
          </a:p>
          <a:p>
            <a:pPr>
              <a:spcAft>
                <a:spcPts val="800"/>
              </a:spcAft>
            </a:pPr>
            <a:r>
              <a:rPr sz="1250" b="0">
                <a:solidFill>
                  <a:srgbClr val="000000"/>
                </a:solidFill>
                <a:latin typeface="Calibri"/>
              </a:rPr>
              <a:t>• Our hard ansatz enforces the IC exactly, which deletes the concentrated early-time residual R3 was designed to chase. R3 is solving a problem this formulation already removed.</a:t>
            </a:r>
          </a:p>
          <a:p>
            <a:pPr>
              <a:spcAft>
                <a:spcPts val="800"/>
              </a:spcAft>
            </a:pPr>
            <a:r>
              <a:rPr sz="1250" b="1">
                <a:solidFill>
                  <a:srgbClr val="000000"/>
                </a:solidFill>
                <a:latin typeface="Calibri"/>
              </a:rPr>
              <a:t>• Its one real use is rescue, not accuracy: 4 WavKAN runs pulled out of collapse (95.51 % → 5.20 %), 0 healthy runs ruined.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collapse — representation or optimisation?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Every catastrophic result sits at ~95 %; u ≡ 0 satisfies the PDE and the BCs exactly</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300" b="1">
                <a:solidFill>
                  <a:srgbClr val="000000"/>
                </a:solidFill>
                <a:latin typeface="Calibri"/>
              </a:rPr>
              <a:t>• Test: fit each model to the true solution by supervised regression — no PDE loss at all — then evaluate the ACTUAL training objective at that fitted solution.</a:t>
            </a:r>
          </a:p>
        </p:txBody>
      </p:sp>
      <p:graphicFrame>
        <p:nvGraphicFramePr>
          <p:cNvPr id="6" name="Table 5"/>
          <p:cNvGraphicFramePr>
            <a:graphicFrameLocks noGrp="1"/>
          </p:cNvGraphicFramePr>
          <p:nvPr/>
        </p:nvGraphicFramePr>
        <p:xfrm>
          <a:off x="502920" y="2103120"/>
          <a:ext cx="12161520" cy="713232"/>
        </p:xfrm>
        <a:graphic>
          <a:graphicData uri="http://schemas.openxmlformats.org/drawingml/2006/table">
            <a:tbl>
              <a:tblPr firstRow="1">
                <a:tableStyleId>{5C22544A-7EE6-4342-B048-85BDC9FD1C3A}</a:tableStyleId>
              </a:tblPr>
              <a:tblGrid>
                <a:gridCol w="2377440"/>
                <a:gridCol w="1737360"/>
                <a:gridCol w="3017520"/>
                <a:gridCol w="3017520"/>
                <a:gridCol w="2011680"/>
              </a:tblGrid>
              <a:tr h="237744">
                <a:tc>
                  <a:txBody>
                    <a:bodyPr wrap="square"/>
                    <a:lstStyle/>
                    <a:p>
                      <a:r>
                        <a:rPr sz="1100" b="1">
                          <a:solidFill>
                            <a:srgbClr val="000000"/>
                          </a:solidFill>
                          <a:latin typeface="Calibri"/>
                        </a:rPr>
                        <a:t>Model</a:t>
                      </a:r>
                    </a:p>
                  </a:txBody>
                  <a:tcPr marL="45720" marR="45720" marT="9144" marB="9144">
                    <a:solidFill>
                      <a:srgbClr val="FFFFFF"/>
                    </a:solidFill>
                  </a:tcPr>
                </a:tc>
                <a:tc>
                  <a:txBody>
                    <a:bodyPr wrap="square"/>
                    <a:lstStyle/>
                    <a:p>
                      <a:r>
                        <a:rPr sz="1100" b="1">
                          <a:solidFill>
                            <a:srgbClr val="000000"/>
                          </a:solidFill>
                          <a:latin typeface="Calibri"/>
                        </a:rPr>
                        <a:t>supervised fit</a:t>
                      </a:r>
                    </a:p>
                  </a:txBody>
                  <a:tcPr marL="45720" marR="45720" marT="9144" marB="9144">
                    <a:solidFill>
                      <a:srgbClr val="FFFFFF"/>
                    </a:solidFill>
                  </a:tcPr>
                </a:tc>
                <a:tc>
                  <a:txBody>
                    <a:bodyPr wrap="square"/>
                    <a:lstStyle/>
                    <a:p>
                      <a:r>
                        <a:rPr sz="1100" b="1">
                          <a:solidFill>
                            <a:srgbClr val="000000"/>
                          </a:solidFill>
                          <a:latin typeface="Calibri"/>
                        </a:rPr>
                        <a:t>objective at the CORRECT solution</a:t>
                      </a:r>
                    </a:p>
                  </a:txBody>
                  <a:tcPr marL="45720" marR="45720" marT="9144" marB="9144">
                    <a:solidFill>
                      <a:srgbClr val="FFFFFF"/>
                    </a:solidFill>
                  </a:tcPr>
                </a:tc>
                <a:tc>
                  <a:txBody>
                    <a:bodyPr wrap="square"/>
                    <a:lstStyle/>
                    <a:p>
                      <a:r>
                        <a:rPr sz="1100" b="1">
                          <a:solidFill>
                            <a:srgbClr val="000000"/>
                          </a:solidFill>
                          <a:latin typeface="Calibri"/>
                        </a:rPr>
                        <a:t>objective where physics training lands</a:t>
                      </a:r>
                    </a:p>
                  </a:txBody>
                  <a:tcPr marL="45720" marR="45720" marT="9144" marB="9144">
                    <a:solidFill>
                      <a:srgbClr val="FFFFFF"/>
                    </a:solidFill>
                  </a:tcPr>
                </a:tc>
                <a:tc>
                  <a:txBody>
                    <a:bodyPr wrap="square"/>
                    <a:lstStyle/>
                    <a:p>
                      <a:r>
                        <a:rPr sz="1100" b="1">
                          <a:solidFill>
                            <a:srgbClr val="000000"/>
                          </a:solidFill>
                          <a:latin typeface="Calibri"/>
                        </a:rPr>
                        <a:t>result there</a:t>
                      </a:r>
                    </a:p>
                  </a:txBody>
                  <a:tcPr marL="45720" marR="45720" marT="9144" marB="9144">
                    <a:solidFill>
                      <a:srgbClr val="FFFFFF"/>
                    </a:solidFill>
                  </a:tcPr>
                </a:tc>
              </a:tr>
              <a:tr h="237744">
                <a:tc>
                  <a:txBody>
                    <a:bodyPr wrap="square"/>
                    <a:lstStyle/>
                    <a:p>
                      <a:r>
                        <a:rPr sz="1100" b="0">
                          <a:solidFill>
                            <a:srgbClr val="000000"/>
                          </a:solidFill>
                          <a:latin typeface="Calibri"/>
                        </a:rPr>
                        <a:t>fourier16 (PIKAN)</a:t>
                      </a:r>
                    </a:p>
                  </a:txBody>
                  <a:tcPr marL="45720" marR="45720" marT="9144" marB="9144">
                    <a:solidFill>
                      <a:srgbClr val="FFFFFF"/>
                    </a:solidFill>
                  </a:tcPr>
                </a:tc>
                <a:tc>
                  <a:txBody>
                    <a:bodyPr wrap="square"/>
                    <a:lstStyle/>
                    <a:p>
                      <a:r>
                        <a:rPr sz="1100" b="0">
                          <a:solidFill>
                            <a:srgbClr val="000000"/>
                          </a:solidFill>
                          <a:latin typeface="Calibri"/>
                        </a:rPr>
                        <a:t>0.0431 %</a:t>
                      </a:r>
                    </a:p>
                  </a:txBody>
                  <a:tcPr marL="45720" marR="45720" marT="9144" marB="9144">
                    <a:solidFill>
                      <a:srgbClr val="FFFFFF"/>
                    </a:solidFill>
                  </a:tcPr>
                </a:tc>
                <a:tc>
                  <a:txBody>
                    <a:bodyPr wrap="square"/>
                    <a:lstStyle/>
                    <a:p>
                      <a:r>
                        <a:rPr sz="1100" b="0">
                          <a:solidFill>
                            <a:srgbClr val="000000"/>
                          </a:solidFill>
                          <a:latin typeface="Calibri"/>
                        </a:rPr>
                        <a:t>2.588e+05</a:t>
                      </a:r>
                    </a:p>
                  </a:txBody>
                  <a:tcPr marL="45720" marR="45720" marT="9144" marB="9144">
                    <a:solidFill>
                      <a:srgbClr val="FFFFFF"/>
                    </a:solidFill>
                  </a:tcPr>
                </a:tc>
                <a:tc>
                  <a:txBody>
                    <a:bodyPr wrap="square"/>
                    <a:lstStyle/>
                    <a:p>
                      <a:r>
                        <a:rPr sz="1100" b="0">
                          <a:solidFill>
                            <a:srgbClr val="000000"/>
                          </a:solidFill>
                          <a:latin typeface="Calibri"/>
                        </a:rPr>
                        <a:t>1.536e-05</a:t>
                      </a:r>
                    </a:p>
                  </a:txBody>
                  <a:tcPr marL="45720" marR="45720" marT="9144" marB="9144">
                    <a:solidFill>
                      <a:srgbClr val="FFFFFF"/>
                    </a:solidFill>
                  </a:tcPr>
                </a:tc>
                <a:tc>
                  <a:txBody>
                    <a:bodyPr wrap="square"/>
                    <a:lstStyle/>
                    <a:p>
                      <a:r>
                        <a:rPr sz="1100" b="0">
                          <a:solidFill>
                            <a:srgbClr val="000000"/>
                          </a:solidFill>
                          <a:latin typeface="Calibri"/>
                        </a:rPr>
                        <a:t>94.98 % COLLAPSED</a:t>
                      </a:r>
                    </a:p>
                  </a:txBody>
                  <a:tcPr marL="45720" marR="45720" marT="9144" marB="9144">
                    <a:solidFill>
                      <a:srgbClr val="FFFFFF"/>
                    </a:solidFill>
                  </a:tcPr>
                </a:tc>
              </a:tr>
              <a:tr h="237744">
                <a:tc>
                  <a:txBody>
                    <a:bodyPr wrap="square"/>
                    <a:lstStyle/>
                    <a:p>
                      <a:r>
                        <a:rPr sz="1100" b="0">
                          <a:solidFill>
                            <a:srgbClr val="000000"/>
                          </a:solidFill>
                          <a:latin typeface="Calibri"/>
                        </a:rPr>
                        <a:t>charcoords50 (KAN)</a:t>
                      </a:r>
                    </a:p>
                  </a:txBody>
                  <a:tcPr marL="45720" marR="45720" marT="9144" marB="9144">
                    <a:solidFill>
                      <a:srgbClr val="FFFFFF"/>
                    </a:solidFill>
                  </a:tcPr>
                </a:tc>
                <a:tc>
                  <a:txBody>
                    <a:bodyPr wrap="square"/>
                    <a:lstStyle/>
                    <a:p>
                      <a:r>
                        <a:rPr sz="1100" b="0">
                          <a:solidFill>
                            <a:srgbClr val="000000"/>
                          </a:solidFill>
                          <a:latin typeface="Calibri"/>
                        </a:rPr>
                        <a:t>0.0415 %</a:t>
                      </a:r>
                    </a:p>
                  </a:txBody>
                  <a:tcPr marL="45720" marR="45720" marT="9144" marB="9144">
                    <a:solidFill>
                      <a:srgbClr val="FFFFFF"/>
                    </a:solidFill>
                  </a:tcPr>
                </a:tc>
                <a:tc>
                  <a:txBody>
                    <a:bodyPr wrap="square"/>
                    <a:lstStyle/>
                    <a:p>
                      <a:r>
                        <a:rPr sz="1100" b="0">
                          <a:solidFill>
                            <a:srgbClr val="000000"/>
                          </a:solidFill>
                          <a:latin typeface="Calibri"/>
                        </a:rPr>
                        <a:t>4.525e+01</a:t>
                      </a:r>
                    </a:p>
                  </a:txBody>
                  <a:tcPr marL="45720" marR="45720" marT="9144" marB="9144">
                    <a:solidFill>
                      <a:srgbClr val="FFFFFF"/>
                    </a:solidFill>
                  </a:tcPr>
                </a:tc>
                <a:tc>
                  <a:txBody>
                    <a:bodyPr wrap="square"/>
                    <a:lstStyle/>
                    <a:p>
                      <a:r>
                        <a:rPr sz="1100" b="0">
                          <a:solidFill>
                            <a:srgbClr val="000000"/>
                          </a:solidFill>
                          <a:latin typeface="Calibri"/>
                        </a:rPr>
                        <a:t>1.930e-05</a:t>
                      </a:r>
                    </a:p>
                  </a:txBody>
                  <a:tcPr marL="45720" marR="45720" marT="9144" marB="9144">
                    <a:solidFill>
                      <a:srgbClr val="FFFFFF"/>
                    </a:solidFill>
                  </a:tcPr>
                </a:tc>
                <a:tc>
                  <a:txBody>
                    <a:bodyPr wrap="square"/>
                    <a:lstStyle/>
                    <a:p>
                      <a:r>
                        <a:rPr sz="1100" b="0">
                          <a:solidFill>
                            <a:srgbClr val="000000"/>
                          </a:solidFill>
                          <a:latin typeface="Calibri"/>
                        </a:rPr>
                        <a:t>0.0114 %</a:t>
                      </a:r>
                    </a:p>
                  </a:txBody>
                  <a:tcPr marL="45720" marR="45720" marT="9144" marB="9144">
                    <a:solidFill>
                      <a:srgbClr val="FFFFFF"/>
                    </a:solidFill>
                  </a:tcPr>
                </a:tc>
              </a:tr>
            </a:tbl>
          </a:graphicData>
        </a:graphic>
      </p:graphicFrame>
      <p:sp>
        <p:nvSpPr>
          <p:cNvPr id="7" name="TextBox 6"/>
          <p:cNvSpPr txBox="1"/>
          <p:nvPr/>
        </p:nvSpPr>
        <p:spPr>
          <a:xfrm>
            <a:off x="502920" y="2971800"/>
            <a:ext cx="11247120" cy="3611880"/>
          </a:xfrm>
          <a:prstGeom prst="rect">
            <a:avLst/>
          </a:prstGeom>
          <a:noFill/>
        </p:spPr>
        <p:txBody>
          <a:bodyPr wrap="square">
            <a:spAutoFit/>
          </a:bodyPr>
          <a:lstStyle/>
          <a:p>
            <a:pPr>
              <a:spcAft>
                <a:spcPts val="800"/>
              </a:spcAft>
            </a:pPr>
            <a:r>
              <a:rPr sz="1300" b="1">
                <a:solidFill>
                  <a:srgbClr val="000000"/>
                </a:solidFill>
                <a:latin typeface="Calibri"/>
              </a:rPr>
              <a:t>• fourier16 fits u BETTER than the Fourier PINN does. Its basis is excellent. It is not a representation failure.</a:t>
            </a:r>
          </a:p>
          <a:p>
            <a:pPr>
              <a:spcAft>
                <a:spcPts val="800"/>
              </a:spcAft>
            </a:pPr>
            <a:r>
              <a:rPr sz="1300" b="0">
                <a:solidFill>
                  <a:srgbClr val="000000"/>
                </a:solidFill>
                <a:latin typeface="Calibri"/>
              </a:rPr>
              <a:t>• For fourier16 the trivial answer scores 17 billion times better under our loss than the right answer does.</a:t>
            </a:r>
          </a:p>
          <a:p>
            <a:pPr>
              <a:spcAft>
                <a:spcPts val="800"/>
              </a:spcAft>
            </a:pPr>
            <a:r>
              <a:rPr sz="1300" b="0">
                <a:solidFill>
                  <a:srgbClr val="000000"/>
                </a:solidFill>
                <a:latin typeface="Calibri"/>
              </a:rPr>
              <a:t>• Restart physics training FROM the correct solution: fourier16 abandons it in ONE epoch (→ 95.29 %, amplitude 0.275). charcoords50 recovers (3.02 % → 0.236 % → 0.0160 %, amplitude 1.000).</a:t>
            </a:r>
          </a:p>
          <a:p>
            <a:pPr>
              <a:spcAft>
                <a:spcPts val="800"/>
              </a:spcAft>
            </a:pPr>
            <a:r>
              <a:rPr sz="1300" b="1">
                <a:solidFill>
                  <a:srgbClr val="000000"/>
                </a:solidFill>
                <a:latin typeface="Calibri"/>
              </a:rPr>
              <a:t>• The optimiser is not failing. The loss prefers the wrong answer.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The mechanism — a cancellation to 1 part in 6,696</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single fact that explains every failure in this study</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300" b="0">
                <a:solidFill>
                  <a:srgbClr val="000000"/>
                </a:solidFill>
                <a:latin typeface="Calibri"/>
              </a:rPr>
              <a:t>• On homogeneous the equation is exactly u_tt = u_xx, so the residual IS the failure of that cancellation. Measured on the trained KAN:</a:t>
            </a:r>
          </a:p>
        </p:txBody>
      </p:sp>
      <p:graphicFrame>
        <p:nvGraphicFramePr>
          <p:cNvPr id="6" name="Table 5"/>
          <p:cNvGraphicFramePr>
            <a:graphicFrameLocks noGrp="1"/>
          </p:cNvGraphicFramePr>
          <p:nvPr/>
        </p:nvGraphicFramePr>
        <p:xfrm>
          <a:off x="502920" y="2057400"/>
          <a:ext cx="11247120" cy="1188720"/>
        </p:xfrm>
        <a:graphic>
          <a:graphicData uri="http://schemas.openxmlformats.org/drawingml/2006/table">
            <a:tbl>
              <a:tblPr firstRow="1">
                <a:tableStyleId>{5C22544A-7EE6-4342-B048-85BDC9FD1C3A}</a:tableStyleId>
              </a:tblPr>
              <a:tblGrid>
                <a:gridCol w="2194560"/>
                <a:gridCol w="9052560"/>
              </a:tblGrid>
              <a:tr h="237744">
                <a:tc>
                  <a:txBody>
                    <a:bodyPr wrap="square"/>
                    <a:lstStyle/>
                    <a:p>
                      <a:r>
                        <a:rPr sz="1150" b="1">
                          <a:solidFill>
                            <a:srgbClr val="000000"/>
                          </a:solidFill>
                          <a:latin typeface="Calibri"/>
                        </a:rPr>
                        <a:t>quantity</a:t>
                      </a:r>
                    </a:p>
                  </a:txBody>
                  <a:tcPr marL="45720" marR="45720" marT="9144" marB="9144">
                    <a:solidFill>
                      <a:srgbClr val="FFFFFF"/>
                    </a:solidFill>
                  </a:tcPr>
                </a:tc>
                <a:tc>
                  <a:txBody>
                    <a:bodyPr wrap="square"/>
                    <a:lstStyle/>
                    <a:p>
                      <a:r>
                        <a:rPr sz="1150" b="1">
                          <a:solidFill>
                            <a:srgbClr val="000000"/>
                          </a:solidFill>
                          <a:latin typeface="Calibri"/>
                        </a:rPr>
                        <a:t>value</a:t>
                      </a:r>
                    </a:p>
                  </a:txBody>
                  <a:tcPr marL="45720" marR="45720" marT="9144" marB="9144">
                    <a:solidFill>
                      <a:srgbClr val="FFFFFF"/>
                    </a:solidFill>
                  </a:tcPr>
                </a:tc>
              </a:tr>
              <a:tr h="237744">
                <a:tc>
                  <a:txBody>
                    <a:bodyPr wrap="square"/>
                    <a:lstStyle/>
                    <a:p>
                      <a:r>
                        <a:rPr sz="1150" b="0">
                          <a:solidFill>
                            <a:srgbClr val="000000"/>
                          </a:solidFill>
                          <a:latin typeface="Calibri"/>
                        </a:rPr>
                        <a:t>||u_tt||</a:t>
                      </a:r>
                    </a:p>
                  </a:txBody>
                  <a:tcPr marL="45720" marR="45720" marT="9144" marB="9144">
                    <a:solidFill>
                      <a:srgbClr val="FFFFFF"/>
                    </a:solidFill>
                  </a:tcPr>
                </a:tc>
                <a:tc>
                  <a:txBody>
                    <a:bodyPr wrap="square"/>
                    <a:lstStyle/>
                    <a:p>
                      <a:r>
                        <a:rPr sz="1150" b="0">
                          <a:solidFill>
                            <a:srgbClr val="000000"/>
                          </a:solidFill>
                          <a:latin typeface="Calibri"/>
                        </a:rPr>
                        <a:t>2942</a:t>
                      </a:r>
                    </a:p>
                  </a:txBody>
                  <a:tcPr marL="45720" marR="45720" marT="9144" marB="9144">
                    <a:solidFill>
                      <a:srgbClr val="FFFFFF"/>
                    </a:solidFill>
                  </a:tcPr>
                </a:tc>
              </a:tr>
              <a:tr h="237744">
                <a:tc>
                  <a:txBody>
                    <a:bodyPr wrap="square"/>
                    <a:lstStyle/>
                    <a:p>
                      <a:r>
                        <a:rPr sz="1150" b="0">
                          <a:solidFill>
                            <a:srgbClr val="000000"/>
                          </a:solidFill>
                          <a:latin typeface="Calibri"/>
                        </a:rPr>
                        <a:t>||u_xx||</a:t>
                      </a:r>
                    </a:p>
                  </a:txBody>
                  <a:tcPr marL="45720" marR="45720" marT="9144" marB="9144">
                    <a:solidFill>
                      <a:srgbClr val="FFFFFF"/>
                    </a:solidFill>
                  </a:tcPr>
                </a:tc>
                <a:tc>
                  <a:txBody>
                    <a:bodyPr wrap="square"/>
                    <a:lstStyle/>
                    <a:p>
                      <a:r>
                        <a:rPr sz="1150" b="0">
                          <a:solidFill>
                            <a:srgbClr val="000000"/>
                          </a:solidFill>
                          <a:latin typeface="Calibri"/>
                        </a:rPr>
                        <a:t>2942</a:t>
                      </a:r>
                    </a:p>
                  </a:txBody>
                  <a:tcPr marL="45720" marR="45720" marT="9144" marB="9144">
                    <a:solidFill>
                      <a:srgbClr val="FFFFFF"/>
                    </a:solidFill>
                  </a:tcPr>
                </a:tc>
              </a:tr>
              <a:tr h="237744">
                <a:tc>
                  <a:txBody>
                    <a:bodyPr wrap="square"/>
                    <a:lstStyle/>
                    <a:p>
                      <a:r>
                        <a:rPr sz="1150" b="0">
                          <a:solidFill>
                            <a:srgbClr val="000000"/>
                          </a:solidFill>
                          <a:latin typeface="Calibri"/>
                        </a:rPr>
                        <a:t>||residual||</a:t>
                      </a:r>
                    </a:p>
                  </a:txBody>
                  <a:tcPr marL="45720" marR="45720" marT="9144" marB="9144">
                    <a:solidFill>
                      <a:srgbClr val="FFFFFF"/>
                    </a:solidFill>
                  </a:tcPr>
                </a:tc>
                <a:tc>
                  <a:txBody>
                    <a:bodyPr wrap="square"/>
                    <a:lstStyle/>
                    <a:p>
                      <a:r>
                        <a:rPr sz="1150" b="0">
                          <a:solidFill>
                            <a:srgbClr val="000000"/>
                          </a:solidFill>
                          <a:latin typeface="Calibri"/>
                        </a:rPr>
                        <a:t>0.44</a:t>
                      </a:r>
                    </a:p>
                  </a:txBody>
                  <a:tcPr marL="45720" marR="45720" marT="9144" marB="9144">
                    <a:solidFill>
                      <a:srgbClr val="FFFFFF"/>
                    </a:solidFill>
                  </a:tcPr>
                </a:tc>
              </a:tr>
              <a:tr h="237744">
                <a:tc>
                  <a:txBody>
                    <a:bodyPr wrap="square"/>
                    <a:lstStyle/>
                    <a:p>
                      <a:r>
                        <a:rPr sz="1150" b="0">
                          <a:solidFill>
                            <a:srgbClr val="000000"/>
                          </a:solidFill>
                          <a:latin typeface="Calibri"/>
                        </a:rPr>
                        <a:t>they cancel to</a:t>
                      </a:r>
                    </a:p>
                  </a:txBody>
                  <a:tcPr marL="45720" marR="45720" marT="9144" marB="9144">
                    <a:solidFill>
                      <a:srgbClr val="FFFFFF"/>
                    </a:solidFill>
                  </a:tcPr>
                </a:tc>
                <a:tc>
                  <a:txBody>
                    <a:bodyPr wrap="square"/>
                    <a:lstStyle/>
                    <a:p>
                      <a:r>
                        <a:rPr sz="1150" b="0">
                          <a:solidFill>
                            <a:srgbClr val="000000"/>
                          </a:solidFill>
                          <a:latin typeface="Calibri"/>
                        </a:rPr>
                        <a:t>1 part in 6,696  →  second derivatives must be right to 1.5e-4 RELATIVE</a:t>
                      </a:r>
                    </a:p>
                  </a:txBody>
                  <a:tcPr marL="45720" marR="45720" marT="9144" marB="9144">
                    <a:solidFill>
                      <a:srgbClr val="FFFFFF"/>
                    </a:solidFill>
                  </a:tcPr>
                </a:tc>
              </a:tr>
            </a:tbl>
          </a:graphicData>
        </a:graphic>
      </p:graphicFrame>
      <p:sp>
        <p:nvSpPr>
          <p:cNvPr id="7" name="TextBox 6"/>
          <p:cNvSpPr txBox="1"/>
          <p:nvPr/>
        </p:nvSpPr>
        <p:spPr>
          <a:xfrm>
            <a:off x="502920" y="3291839"/>
            <a:ext cx="11247120" cy="3291840"/>
          </a:xfrm>
          <a:prstGeom prst="rect">
            <a:avLst/>
          </a:prstGeom>
          <a:noFill/>
        </p:spPr>
        <p:txBody>
          <a:bodyPr wrap="square">
            <a:spAutoFit/>
          </a:bodyPr>
          <a:lstStyle/>
          <a:p>
            <a:pPr>
              <a:spcAft>
                <a:spcPts val="800"/>
              </a:spcAft>
            </a:pPr>
            <a:r>
              <a:rPr sz="1250" b="1">
                <a:solidFill>
                  <a:srgbClr val="000000"/>
                </a:solidFill>
                <a:latin typeface="Calibri"/>
              </a:rPr>
              <a:t>• A physics-informed loss does not measure how well a network fits the solution. It measures how well its high-order derivatives CANCEL. Fitting u to 0.04 % guarantees nothing — differentiating twice amplifies error by k².</a:t>
            </a:r>
          </a:p>
          <a:p>
            <a:pPr>
              <a:spcAft>
                <a:spcPts val="800"/>
              </a:spcAft>
            </a:pPr>
            <a:r>
              <a:rPr sz="1250" b="1">
                <a:solidFill>
                  <a:srgbClr val="000000"/>
                </a:solidFill>
                <a:latin typeface="Calibri"/>
              </a:rPr>
              <a:t>• This explains three failures that looked unrelated:</a:t>
            </a:r>
          </a:p>
          <a:p>
            <a:pPr lvl="1">
              <a:spcAft>
                <a:spcPts val="500"/>
              </a:spcAft>
            </a:pPr>
            <a:r>
              <a:rPr sz="1100" b="0">
                <a:solidFill>
                  <a:srgbClr val="606060"/>
                </a:solidFill>
                <a:latin typeface="Calibri"/>
              </a:rPr>
              <a:t>– update_grid: perturbs u_xx by 2.28 % — 153× coarser than the cancellation tolerates → objective ×19,000 → collapse, 8/8</a:t>
            </a:r>
          </a:p>
          <a:p>
            <a:pPr lvl="1">
              <a:spcAft>
                <a:spcPts val="500"/>
              </a:spcAft>
            </a:pPr>
            <a:r>
              <a:rPr sz="1100" b="0">
                <a:solidFill>
                  <a:srgbClr val="606060"/>
                </a:solidFill>
                <a:latin typeface="Calibri"/>
              </a:rPr>
              <a:t>– Fourier-embedded KANs: at matched fit quality ||u_tt|| = 3.38e4 vs ||u_xx|| = 4.57e3 — not even the same magnitude, cancelling 1:1, i.e. not at all</a:t>
            </a:r>
          </a:p>
          <a:p>
            <a:pPr lvl="1">
              <a:spcAft>
                <a:spcPts val="500"/>
              </a:spcAft>
            </a:pPr>
            <a:r>
              <a:rPr sz="1100" b="0">
                <a:solidFill>
                  <a:srgbClr val="606060"/>
                </a:solidFill>
                <a:latin typeface="Calibri"/>
              </a:rPr>
              <a:t>– The tuned KAN wins because in characteristic coordinates the operator is ∂ξ∂η, so F(ξ)+G(η) cancels IDENTICALLY — structurally, not learned. It achieves 7:1 straight out of a value fit.</a:t>
            </a:r>
          </a:p>
          <a:p>
            <a:pPr>
              <a:spcAft>
                <a:spcPts val="800"/>
              </a:spcAft>
            </a:pPr>
            <a:r>
              <a:rPr sz="1250" b="1">
                <a:solidFill>
                  <a:srgbClr val="000000"/>
                </a:solidFill>
                <a:latin typeface="Calibri"/>
              </a:rPr>
              <a:t>• Consequence for our own earlier claim: the "233× separable-basis advantage" in BASIS_VS_OPTIMISER.md is a VALUE-space measurement, and is therefore the wrong quantity. The right one is the cancellation ratio.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pykan's own grid refinement is incompatible with PINN training</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 finding that generalises beyond this study</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300" b="0">
                <a:solidFill>
                  <a:srgbClr val="000000"/>
                </a:solidFill>
                <a:latin typeface="Calibri"/>
              </a:rPr>
              <a:t>• update_grid moves the spline knots to match the activations, then re-fits coefficients. pykan's fit() calls it 10 times by default — it is central to how KANs are meant to gain accuracy.</a:t>
            </a:r>
          </a:p>
          <a:p>
            <a:pPr>
              <a:spcAft>
                <a:spcPts val="800"/>
              </a:spcAft>
            </a:pPr>
            <a:r>
              <a:rPr sz="1300" b="1">
                <a:solidFill>
                  <a:srgbClr val="000000"/>
                </a:solidFill>
                <a:latin typeface="Calibri"/>
              </a:rPr>
              <a:t>• One call on a trained, working model:</a:t>
            </a:r>
          </a:p>
        </p:txBody>
      </p:sp>
      <p:graphicFrame>
        <p:nvGraphicFramePr>
          <p:cNvPr id="6" name="Table 5"/>
          <p:cNvGraphicFramePr>
            <a:graphicFrameLocks noGrp="1"/>
          </p:cNvGraphicFramePr>
          <p:nvPr/>
        </p:nvGraphicFramePr>
        <p:xfrm>
          <a:off x="502920" y="2423160"/>
          <a:ext cx="8778240" cy="713232"/>
        </p:xfrm>
        <a:graphic>
          <a:graphicData uri="http://schemas.openxmlformats.org/drawingml/2006/table">
            <a:tbl>
              <a:tblPr firstRow="1">
                <a:tableStyleId>{5C22544A-7EE6-4342-B048-85BDC9FD1C3A}</a:tableStyleId>
              </a:tblPr>
              <a:tblGrid>
                <a:gridCol w="1828800"/>
                <a:gridCol w="2194560"/>
                <a:gridCol w="4754880"/>
              </a:tblGrid>
              <a:tr h="237744">
                <a:tc>
                  <a:txBody>
                    <a:bodyPr wrap="square"/>
                    <a:lstStyle/>
                    <a:p>
                      <a:r>
                        <a:rPr sz="1150" b="1">
                          <a:solidFill>
                            <a:srgbClr val="000000"/>
                          </a:solidFill>
                          <a:latin typeface="Calibri"/>
                        </a:rPr>
                        <a:t/>
                      </a:r>
                    </a:p>
                  </a:txBody>
                  <a:tcPr marL="45720" marR="45720" marT="9144" marB="9144">
                    <a:solidFill>
                      <a:srgbClr val="FFFFFF"/>
                    </a:solidFill>
                  </a:tcPr>
                </a:tc>
                <a:tc>
                  <a:txBody>
                    <a:bodyPr wrap="square"/>
                    <a:lstStyle/>
                    <a:p>
                      <a:r>
                        <a:rPr sz="1150" b="1">
                          <a:solidFill>
                            <a:srgbClr val="000000"/>
                          </a:solidFill>
                          <a:latin typeface="Calibri"/>
                        </a:rPr>
                        <a:t>rel-L2</a:t>
                      </a:r>
                    </a:p>
                  </a:txBody>
                  <a:tcPr marL="45720" marR="45720" marT="9144" marB="9144">
                    <a:solidFill>
                      <a:srgbClr val="FFFFFF"/>
                    </a:solidFill>
                  </a:tcPr>
                </a:tc>
                <a:tc>
                  <a:txBody>
                    <a:bodyPr wrap="square"/>
                    <a:lstStyle/>
                    <a:p>
                      <a:r>
                        <a:rPr sz="1150" b="1">
                          <a:solidFill>
                            <a:srgbClr val="000000"/>
                          </a:solidFill>
                          <a:latin typeface="Calibri"/>
                        </a:rPr>
                        <a:t>training objective</a:t>
                      </a:r>
                    </a:p>
                  </a:txBody>
                  <a:tcPr marL="45720" marR="45720" marT="9144" marB="9144">
                    <a:solidFill>
                      <a:srgbClr val="FFFFFF"/>
                    </a:solidFill>
                  </a:tcPr>
                </a:tc>
              </a:tr>
              <a:tr h="237744">
                <a:tc>
                  <a:txBody>
                    <a:bodyPr wrap="square"/>
                    <a:lstStyle/>
                    <a:p>
                      <a:r>
                        <a:rPr sz="1150" b="0">
                          <a:solidFill>
                            <a:srgbClr val="000000"/>
                          </a:solidFill>
                          <a:latin typeface="Calibri"/>
                        </a:rPr>
                        <a:t>before</a:t>
                      </a:r>
                    </a:p>
                  </a:txBody>
                  <a:tcPr marL="45720" marR="45720" marT="9144" marB="9144">
                    <a:solidFill>
                      <a:srgbClr val="FFFFFF"/>
                    </a:solidFill>
                  </a:tcPr>
                </a:tc>
                <a:tc>
                  <a:txBody>
                    <a:bodyPr wrap="square"/>
                    <a:lstStyle/>
                    <a:p>
                      <a:r>
                        <a:rPr sz="1150" b="0">
                          <a:solidFill>
                            <a:srgbClr val="000000"/>
                          </a:solidFill>
                          <a:latin typeface="Calibri"/>
                        </a:rPr>
                        <a:t>0.0114 %</a:t>
                      </a:r>
                    </a:p>
                  </a:txBody>
                  <a:tcPr marL="45720" marR="45720" marT="9144" marB="9144">
                    <a:solidFill>
                      <a:srgbClr val="FFFFFF"/>
                    </a:solidFill>
                  </a:tcPr>
                </a:tc>
                <a:tc>
                  <a:txBody>
                    <a:bodyPr wrap="square"/>
                    <a:lstStyle/>
                    <a:p>
                      <a:r>
                        <a:rPr sz="1150" b="0">
                          <a:solidFill>
                            <a:srgbClr val="000000"/>
                          </a:solidFill>
                          <a:latin typeface="Calibri"/>
                        </a:rPr>
                        <a:t>1.930e-05</a:t>
                      </a:r>
                    </a:p>
                  </a:txBody>
                  <a:tcPr marL="45720" marR="45720" marT="9144" marB="9144">
                    <a:solidFill>
                      <a:srgbClr val="FFFFFF"/>
                    </a:solidFill>
                  </a:tcPr>
                </a:tc>
              </a:tr>
              <a:tr h="237744">
                <a:tc>
                  <a:txBody>
                    <a:bodyPr wrap="square"/>
                    <a:lstStyle/>
                    <a:p>
                      <a:r>
                        <a:rPr sz="1150" b="0">
                          <a:solidFill>
                            <a:srgbClr val="000000"/>
                          </a:solidFill>
                          <a:latin typeface="Calibri"/>
                        </a:rPr>
                        <a:t>after</a:t>
                      </a:r>
                    </a:p>
                  </a:txBody>
                  <a:tcPr marL="45720" marR="45720" marT="9144" marB="9144">
                    <a:solidFill>
                      <a:srgbClr val="FFFFFF"/>
                    </a:solidFill>
                  </a:tcPr>
                </a:tc>
                <a:tc>
                  <a:txBody>
                    <a:bodyPr wrap="square"/>
                    <a:lstStyle/>
                    <a:p>
                      <a:r>
                        <a:rPr sz="1150" b="0">
                          <a:solidFill>
                            <a:srgbClr val="000000"/>
                          </a:solidFill>
                          <a:latin typeface="Calibri"/>
                        </a:rPr>
                        <a:t>0.2272 %</a:t>
                      </a:r>
                    </a:p>
                  </a:txBody>
                  <a:tcPr marL="45720" marR="45720" marT="9144" marB="9144">
                    <a:solidFill>
                      <a:srgbClr val="FFFFFF"/>
                    </a:solidFill>
                  </a:tcPr>
                </a:tc>
                <a:tc>
                  <a:txBody>
                    <a:bodyPr wrap="square"/>
                    <a:lstStyle/>
                    <a:p>
                      <a:r>
                        <a:rPr sz="1150" b="0">
                          <a:solidFill>
                            <a:srgbClr val="000000"/>
                          </a:solidFill>
                          <a:latin typeface="Calibri"/>
                        </a:rPr>
                        <a:t>3.683e-01     ← 19,000× worse</a:t>
                      </a:r>
                    </a:p>
                  </a:txBody>
                  <a:tcPr marL="45720" marR="45720" marT="9144" marB="9144">
                    <a:solidFill>
                      <a:srgbClr val="FFFFFF"/>
                    </a:solidFill>
                  </a:tcPr>
                </a:tc>
              </a:tr>
            </a:tbl>
          </a:graphicData>
        </a:graphic>
      </p:graphicFrame>
      <p:graphicFrame>
        <p:nvGraphicFramePr>
          <p:cNvPr id="7" name="Table 6"/>
          <p:cNvGraphicFramePr>
            <a:graphicFrameLocks noGrp="1"/>
          </p:cNvGraphicFramePr>
          <p:nvPr/>
        </p:nvGraphicFramePr>
        <p:xfrm>
          <a:off x="502920" y="3474720"/>
          <a:ext cx="8778240" cy="1188720"/>
        </p:xfrm>
        <a:graphic>
          <a:graphicData uri="http://schemas.openxmlformats.org/drawingml/2006/table">
            <a:tbl>
              <a:tblPr firstRow="1">
                <a:tableStyleId>{5C22544A-7EE6-4342-B048-85BDC9FD1C3A}</a:tableStyleId>
              </a:tblPr>
              <a:tblGrid>
                <a:gridCol w="1828800"/>
                <a:gridCol w="2194560"/>
                <a:gridCol w="4754880"/>
              </a:tblGrid>
              <a:tr h="237744">
                <a:tc>
                  <a:txBody>
                    <a:bodyPr wrap="square"/>
                    <a:lstStyle/>
                    <a:p>
                      <a:r>
                        <a:rPr sz="1150" b="1">
                          <a:solidFill>
                            <a:srgbClr val="000000"/>
                          </a:solidFill>
                          <a:latin typeface="Calibri"/>
                        </a:rPr>
                        <a:t>quantity</a:t>
                      </a:r>
                    </a:p>
                  </a:txBody>
                  <a:tcPr marL="45720" marR="45720" marT="9144" marB="9144">
                    <a:solidFill>
                      <a:srgbClr val="FFFFFF"/>
                    </a:solidFill>
                  </a:tcPr>
                </a:tc>
                <a:tc>
                  <a:txBody>
                    <a:bodyPr wrap="square"/>
                    <a:lstStyle/>
                    <a:p>
                      <a:r>
                        <a:rPr sz="1150" b="1">
                          <a:solidFill>
                            <a:srgbClr val="000000"/>
                          </a:solidFill>
                          <a:latin typeface="Calibri"/>
                        </a:rPr>
                        <a:t>||before||</a:t>
                      </a:r>
                    </a:p>
                  </a:txBody>
                  <a:tcPr marL="45720" marR="45720" marT="9144" marB="9144">
                    <a:solidFill>
                      <a:srgbClr val="FFFFFF"/>
                    </a:solidFill>
                  </a:tcPr>
                </a:tc>
                <a:tc>
                  <a:txBody>
                    <a:bodyPr wrap="square"/>
                    <a:lstStyle/>
                    <a:p>
                      <a:r>
                        <a:rPr sz="1150" b="1">
                          <a:solidFill>
                            <a:srgbClr val="000000"/>
                          </a:solidFill>
                          <a:latin typeface="Calibri"/>
                        </a:rPr>
                        <a:t>relative change after update_grid</a:t>
                      </a:r>
                    </a:p>
                  </a:txBody>
                  <a:tcPr marL="45720" marR="45720" marT="9144" marB="9144">
                    <a:solidFill>
                      <a:srgbClr val="FFFFFF"/>
                    </a:solidFill>
                  </a:tcPr>
                </a:tc>
              </a:tr>
              <a:tr h="237744">
                <a:tc>
                  <a:txBody>
                    <a:bodyPr wrap="square"/>
                    <a:lstStyle/>
                    <a:p>
                      <a:r>
                        <a:rPr sz="1150" b="0">
                          <a:solidFill>
                            <a:srgbClr val="000000"/>
                          </a:solidFill>
                          <a:latin typeface="Calibri"/>
                        </a:rPr>
                        <a:t>u</a:t>
                      </a:r>
                    </a:p>
                  </a:txBody>
                  <a:tcPr marL="45720" marR="45720" marT="9144" marB="9144">
                    <a:solidFill>
                      <a:srgbClr val="FFFFFF"/>
                    </a:solidFill>
                  </a:tcPr>
                </a:tc>
                <a:tc>
                  <a:txBody>
                    <a:bodyPr wrap="square"/>
                    <a:lstStyle/>
                    <a:p>
                      <a:r>
                        <a:rPr sz="1150" b="0">
                          <a:solidFill>
                            <a:srgbClr val="000000"/>
                          </a:solidFill>
                          <a:latin typeface="Calibri"/>
                        </a:rPr>
                        <a:t>1.508e+01</a:t>
                      </a:r>
                    </a:p>
                  </a:txBody>
                  <a:tcPr marL="45720" marR="45720" marT="9144" marB="9144">
                    <a:solidFill>
                      <a:srgbClr val="FFFFFF"/>
                    </a:solidFill>
                  </a:tcPr>
                </a:tc>
                <a:tc>
                  <a:txBody>
                    <a:bodyPr wrap="square"/>
                    <a:lstStyle/>
                    <a:p>
                      <a:r>
                        <a:rPr sz="1150" b="0">
                          <a:solidFill>
                            <a:srgbClr val="000000"/>
                          </a:solidFill>
                          <a:latin typeface="Calibri"/>
                        </a:rPr>
                        <a:t>0.10 %</a:t>
                      </a:r>
                    </a:p>
                  </a:txBody>
                  <a:tcPr marL="45720" marR="45720" marT="9144" marB="9144">
                    <a:solidFill>
                      <a:srgbClr val="FFFFFF"/>
                    </a:solidFill>
                  </a:tcPr>
                </a:tc>
              </a:tr>
              <a:tr h="237744">
                <a:tc>
                  <a:txBody>
                    <a:bodyPr wrap="square"/>
                    <a:lstStyle/>
                    <a:p>
                      <a:r>
                        <a:rPr sz="1150" b="0">
                          <a:solidFill>
                            <a:srgbClr val="000000"/>
                          </a:solidFill>
                          <a:latin typeface="Calibri"/>
                        </a:rPr>
                        <a:t>u_x</a:t>
                      </a:r>
                    </a:p>
                  </a:txBody>
                  <a:tcPr marL="45720" marR="45720" marT="9144" marB="9144">
                    <a:solidFill>
                      <a:srgbClr val="FFFFFF"/>
                    </a:solidFill>
                  </a:tcPr>
                </a:tc>
                <a:tc>
                  <a:txBody>
                    <a:bodyPr wrap="square"/>
                    <a:lstStyle/>
                    <a:p>
                      <a:r>
                        <a:rPr sz="1150" b="0">
                          <a:solidFill>
                            <a:srgbClr val="000000"/>
                          </a:solidFill>
                          <a:latin typeface="Calibri"/>
                        </a:rPr>
                        <a:t>1.863e+02</a:t>
                      </a:r>
                    </a:p>
                  </a:txBody>
                  <a:tcPr marL="45720" marR="45720" marT="9144" marB="9144">
                    <a:solidFill>
                      <a:srgbClr val="FFFFFF"/>
                    </a:solidFill>
                  </a:tcPr>
                </a:tc>
                <a:tc>
                  <a:txBody>
                    <a:bodyPr wrap="square"/>
                    <a:lstStyle/>
                    <a:p>
                      <a:r>
                        <a:rPr sz="1150" b="0">
                          <a:solidFill>
                            <a:srgbClr val="000000"/>
                          </a:solidFill>
                          <a:latin typeface="Calibri"/>
                        </a:rPr>
                        <a:t>0.59 %</a:t>
                      </a:r>
                    </a:p>
                  </a:txBody>
                  <a:tcPr marL="45720" marR="45720" marT="9144" marB="9144">
                    <a:solidFill>
                      <a:srgbClr val="FFFFFF"/>
                    </a:solidFill>
                  </a:tcPr>
                </a:tc>
              </a:tr>
              <a:tr h="237744">
                <a:tc>
                  <a:txBody>
                    <a:bodyPr wrap="square"/>
                    <a:lstStyle/>
                    <a:p>
                      <a:r>
                        <a:rPr sz="1150" b="0">
                          <a:solidFill>
                            <a:srgbClr val="000000"/>
                          </a:solidFill>
                          <a:latin typeface="Calibri"/>
                        </a:rPr>
                        <a:t>u_xx</a:t>
                      </a:r>
                    </a:p>
                  </a:txBody>
                  <a:tcPr marL="45720" marR="45720" marT="9144" marB="9144">
                    <a:solidFill>
                      <a:srgbClr val="FFFFFF"/>
                    </a:solidFill>
                  </a:tcPr>
                </a:tc>
                <a:tc>
                  <a:txBody>
                    <a:bodyPr wrap="square"/>
                    <a:lstStyle/>
                    <a:p>
                      <a:r>
                        <a:rPr sz="1150" b="0">
                          <a:solidFill>
                            <a:srgbClr val="000000"/>
                          </a:solidFill>
                          <a:latin typeface="Calibri"/>
                        </a:rPr>
                        <a:t>2.942e+03</a:t>
                      </a:r>
                    </a:p>
                  </a:txBody>
                  <a:tcPr marL="45720" marR="45720" marT="9144" marB="9144">
                    <a:solidFill>
                      <a:srgbClr val="FFFFFF"/>
                    </a:solidFill>
                  </a:tcPr>
                </a:tc>
                <a:tc>
                  <a:txBody>
                    <a:bodyPr wrap="square"/>
                    <a:lstStyle/>
                    <a:p>
                      <a:r>
                        <a:rPr sz="1150" b="0">
                          <a:solidFill>
                            <a:srgbClr val="000000"/>
                          </a:solidFill>
                          <a:latin typeface="Calibri"/>
                        </a:rPr>
                        <a:t>2.28 %</a:t>
                      </a:r>
                    </a:p>
                  </a:txBody>
                  <a:tcPr marL="45720" marR="45720" marT="9144" marB="9144">
                    <a:solidFill>
                      <a:srgbClr val="FFFFFF"/>
                    </a:solidFill>
                  </a:tcPr>
                </a:tc>
              </a:tr>
              <a:tr h="237744">
                <a:tc>
                  <a:txBody>
                    <a:bodyPr wrap="square"/>
                    <a:lstStyle/>
                    <a:p>
                      <a:r>
                        <a:rPr sz="1150" b="0">
                          <a:solidFill>
                            <a:srgbClr val="000000"/>
                          </a:solidFill>
                          <a:latin typeface="Calibri"/>
                        </a:rPr>
                        <a:t>u_tt</a:t>
                      </a:r>
                    </a:p>
                  </a:txBody>
                  <a:tcPr marL="45720" marR="45720" marT="9144" marB="9144">
                    <a:solidFill>
                      <a:srgbClr val="FFFFFF"/>
                    </a:solidFill>
                  </a:tcPr>
                </a:tc>
                <a:tc>
                  <a:txBody>
                    <a:bodyPr wrap="square"/>
                    <a:lstStyle/>
                    <a:p>
                      <a:r>
                        <a:rPr sz="1150" b="0">
                          <a:solidFill>
                            <a:srgbClr val="000000"/>
                          </a:solidFill>
                          <a:latin typeface="Calibri"/>
                        </a:rPr>
                        <a:t>2.942e+03</a:t>
                      </a:r>
                    </a:p>
                  </a:txBody>
                  <a:tcPr marL="45720" marR="45720" marT="9144" marB="9144">
                    <a:solidFill>
                      <a:srgbClr val="FFFFFF"/>
                    </a:solidFill>
                  </a:tcPr>
                </a:tc>
                <a:tc>
                  <a:txBody>
                    <a:bodyPr wrap="square"/>
                    <a:lstStyle/>
                    <a:p>
                      <a:r>
                        <a:rPr sz="1150" b="0">
                          <a:solidFill>
                            <a:srgbClr val="000000"/>
                          </a:solidFill>
                          <a:latin typeface="Calibri"/>
                        </a:rPr>
                        <a:t>2.29 %</a:t>
                      </a:r>
                    </a:p>
                  </a:txBody>
                  <a:tcPr marL="45720" marR="45720" marT="9144" marB="9144">
                    <a:solidFill>
                      <a:srgbClr val="FFFFFF"/>
                    </a:solidFill>
                  </a:tcPr>
                </a:tc>
              </a:tr>
            </a:tbl>
          </a:graphicData>
        </a:graphic>
      </p:graphicFrame>
      <p:sp>
        <p:nvSpPr>
          <p:cNvPr id="8" name="TextBox 7"/>
          <p:cNvSpPr txBox="1"/>
          <p:nvPr/>
        </p:nvSpPr>
        <p:spPr>
          <a:xfrm>
            <a:off x="502920" y="4754880"/>
            <a:ext cx="11247120" cy="1828800"/>
          </a:xfrm>
          <a:prstGeom prst="rect">
            <a:avLst/>
          </a:prstGeom>
          <a:noFill/>
        </p:spPr>
        <p:txBody>
          <a:bodyPr wrap="square">
            <a:spAutoFit/>
          </a:bodyPr>
          <a:lstStyle/>
          <a:p>
            <a:pPr>
              <a:spcAft>
                <a:spcPts val="800"/>
              </a:spcAft>
            </a:pPr>
            <a:r>
              <a:rPr sz="1300" b="0">
                <a:solidFill>
                  <a:srgbClr val="000000"/>
                </a:solidFill>
                <a:latin typeface="Calibri"/>
              </a:rPr>
              <a:t>• curve2coef re-fits to FUNCTION VALUES. Nothing constrains derivatives. Predicted blow-up 47,000×, measured 19,000× — within 2.5×, on the correct side.</a:t>
            </a:r>
          </a:p>
          <a:p>
            <a:pPr>
              <a:spcAft>
                <a:spcPts val="800"/>
              </a:spcAft>
            </a:pPr>
            <a:r>
              <a:rPr sz="1300" b="1">
                <a:solidFill>
                  <a:srgbClr val="000000"/>
                </a:solidFill>
                <a:latin typeface="Calibri"/>
              </a:rPr>
              <a:t>• Not a bug in pykan. Grid adaptation is correct for regression, where only values matter. It is silently wrong for any loss built from high-order derivatives — so anyone building a PIKAN on pykan's default fit() hits this without warning.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Hard vs soft initial conditions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The literature uses soft; we use hard. We measured both.</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1247120" cy="5029200"/>
          </a:xfrm>
          <a:prstGeom prst="rect">
            <a:avLst/>
          </a:prstGeom>
          <a:noFill/>
        </p:spPr>
        <p:txBody>
          <a:bodyPr wrap="square">
            <a:spAutoFit/>
          </a:bodyPr>
          <a:lstStyle/>
          <a:p>
            <a:pPr>
              <a:spcAft>
                <a:spcPts val="800"/>
              </a:spcAft>
            </a:pPr>
            <a:r>
              <a:rPr sz="1300" b="0">
                <a:solidFill>
                  <a:srgbClr val="000000"/>
                </a:solidFill>
                <a:latin typeface="Calibri"/>
              </a:rPr>
              <a:t>• Soft IC should delete the u ≡ 0 basin: the network becomes u directly, and a penalty mean((u(x,0)−g(x))²) + mean(u_t(x,0)²) is added.</a:t>
            </a:r>
          </a:p>
          <a:p>
            <a:pPr>
              <a:spcAft>
                <a:spcPts val="800"/>
              </a:spcAft>
            </a:pPr>
            <a:r>
              <a:rPr sz="1300" b="1">
                <a:solidFill>
                  <a:srgbClr val="000000"/>
                </a:solidFill>
                <a:latin typeface="Calibri"/>
              </a:rPr>
              <a:t>• The arithmetic works: the basin costs 0.1204 unweighted; gradient-norm balancing assigns the IC term a weight of 55.6 (a 110× ratio, independently rediscovering the ~100× the literature picks by hand), making the basin cost 6.70 against a converged PDE loss of ~1e-3.</a:t>
            </a:r>
          </a:p>
        </p:txBody>
      </p:sp>
      <p:graphicFrame>
        <p:nvGraphicFramePr>
          <p:cNvPr id="6" name="Table 5"/>
          <p:cNvGraphicFramePr>
            <a:graphicFrameLocks noGrp="1"/>
          </p:cNvGraphicFramePr>
          <p:nvPr/>
        </p:nvGraphicFramePr>
        <p:xfrm>
          <a:off x="502920" y="2788920"/>
          <a:ext cx="11155680" cy="1426464"/>
        </p:xfrm>
        <a:graphic>
          <a:graphicData uri="http://schemas.openxmlformats.org/drawingml/2006/table">
            <a:tbl>
              <a:tblPr firstRow="1">
                <a:tableStyleId>{5C22544A-7EE6-4342-B048-85BDC9FD1C3A}</a:tableStyleId>
              </a:tblPr>
              <a:tblGrid>
                <a:gridCol w="2377440"/>
                <a:gridCol w="2377440"/>
                <a:gridCol w="2377440"/>
                <a:gridCol w="4023360"/>
              </a:tblGrid>
              <a:tr h="237744">
                <a:tc>
                  <a:txBody>
                    <a:bodyPr wrap="square"/>
                    <a:lstStyle/>
                    <a:p>
                      <a:r>
                        <a:rPr sz="1100" b="1">
                          <a:solidFill>
                            <a:srgbClr val="000000"/>
                          </a:solidFill>
                          <a:latin typeface="Calibri"/>
                        </a:rPr>
                        <a:t>Model</a:t>
                      </a:r>
                    </a:p>
                  </a:txBody>
                  <a:tcPr marL="45720" marR="45720" marT="9144" marB="9144">
                    <a:solidFill>
                      <a:srgbClr val="FFFFFF"/>
                    </a:solidFill>
                  </a:tcPr>
                </a:tc>
                <a:tc>
                  <a:txBody>
                    <a:bodyPr wrap="square"/>
                    <a:lstStyle/>
                    <a:p>
                      <a:r>
                        <a:rPr sz="1100" b="1">
                          <a:solidFill>
                            <a:srgbClr val="000000"/>
                          </a:solidFill>
                          <a:latin typeface="Calibri"/>
                        </a:rPr>
                        <a:t>hard ansatz</a:t>
                      </a:r>
                    </a:p>
                  </a:txBody>
                  <a:tcPr marL="45720" marR="45720" marT="9144" marB="9144">
                    <a:solidFill>
                      <a:srgbClr val="FFFFFF"/>
                    </a:solidFill>
                  </a:tcPr>
                </a:tc>
                <a:tc>
                  <a:txBody>
                    <a:bodyPr wrap="square"/>
                    <a:lstStyle/>
                    <a:p>
                      <a:r>
                        <a:rPr sz="1100" b="1">
                          <a:solidFill>
                            <a:srgbClr val="000000"/>
                          </a:solidFill>
                          <a:latin typeface="Calibri"/>
                        </a:rPr>
                        <a:t>soft IC</a:t>
                      </a:r>
                    </a:p>
                  </a:txBody>
                  <a:tcPr marL="45720" marR="45720" marT="9144" marB="9144">
                    <a:solidFill>
                      <a:srgbClr val="FFFFFF"/>
                    </a:solidFill>
                  </a:tcPr>
                </a:tc>
                <a:tc>
                  <a:txBody>
                    <a:bodyPr wrap="square"/>
                    <a:lstStyle/>
                    <a:p>
                      <a:r>
                        <a:rPr sz="1100" b="1">
                          <a:solidFill>
                            <a:srgbClr val="000000"/>
                          </a:solidFill>
                          <a:latin typeface="Calibri"/>
                        </a:rPr>
                        <a:t>effect</a:t>
                      </a:r>
                    </a:p>
                  </a:txBody>
                  <a:tcPr marL="45720" marR="45720" marT="9144" marB="9144">
                    <a:solidFill>
                      <a:srgbClr val="FFFFFF"/>
                    </a:solidFill>
                  </a:tcPr>
                </a:tc>
              </a:tr>
              <a:tr h="237744">
                <a:tc>
                  <a:txBody>
                    <a:bodyPr wrap="square"/>
                    <a:lstStyle/>
                    <a:p>
                      <a:r>
                        <a:rPr sz="1100" b="0">
                          <a:solidFill>
                            <a:srgbClr val="000000"/>
                          </a:solidFill>
                          <a:latin typeface="Calibri"/>
                        </a:rPr>
                        <a:t>Fourier PINN</a:t>
                      </a:r>
                    </a:p>
                  </a:txBody>
                  <a:tcPr marL="45720" marR="45720" marT="9144" marB="9144">
                    <a:solidFill>
                      <a:srgbClr val="FFFFFF"/>
                    </a:solidFill>
                  </a:tcPr>
                </a:tc>
                <a:tc>
                  <a:txBody>
                    <a:bodyPr wrap="square"/>
                    <a:lstStyle/>
                    <a:p>
                      <a:r>
                        <a:rPr sz="1100" b="0">
                          <a:solidFill>
                            <a:srgbClr val="000000"/>
                          </a:solidFill>
                          <a:latin typeface="Calibri"/>
                        </a:rPr>
                        <a:t>0.0399 ± 0.0138</a:t>
                      </a:r>
                    </a:p>
                  </a:txBody>
                  <a:tcPr marL="45720" marR="45720" marT="9144" marB="9144">
                    <a:solidFill>
                      <a:srgbClr val="FFFFFF"/>
                    </a:solidFill>
                  </a:tcPr>
                </a:tc>
                <a:tc>
                  <a:txBody>
                    <a:bodyPr wrap="square"/>
                    <a:lstStyle/>
                    <a:p>
                      <a:r>
                        <a:rPr sz="1100" b="0">
                          <a:solidFill>
                            <a:srgbClr val="000000"/>
                          </a:solidFill>
                          <a:latin typeface="Calibri"/>
                        </a:rPr>
                        <a:t>0.2140 ± 0.1107</a:t>
                      </a:r>
                    </a:p>
                  </a:txBody>
                  <a:tcPr marL="45720" marR="45720" marT="9144" marB="9144">
                    <a:solidFill>
                      <a:srgbClr val="FFFFFF"/>
                    </a:solidFill>
                  </a:tcPr>
                </a:tc>
                <a:tc>
                  <a:txBody>
                    <a:bodyPr wrap="square"/>
                    <a:lstStyle/>
                    <a:p>
                      <a:r>
                        <a:rPr sz="1100" b="0">
                          <a:solidFill>
                            <a:srgbClr val="000000"/>
                          </a:solidFill>
                          <a:latin typeface="Calibri"/>
                        </a:rPr>
                        <a:t>5.5× WORSE</a:t>
                      </a:r>
                    </a:p>
                  </a:txBody>
                  <a:tcPr marL="45720" marR="45720" marT="9144" marB="9144">
                    <a:solidFill>
                      <a:srgbClr val="FFFFFF"/>
                    </a:solidFill>
                  </a:tcPr>
                </a:tc>
              </a:tr>
              <a:tr h="237744">
                <a:tc>
                  <a:txBody>
                    <a:bodyPr wrap="square"/>
                    <a:lstStyle/>
                    <a:p>
                      <a:r>
                        <a:rPr sz="1100" b="0">
                          <a:solidFill>
                            <a:srgbClr val="000000"/>
                          </a:solidFill>
                          <a:latin typeface="Calibri"/>
                        </a:rPr>
                        <a:t>tuned KAN</a:t>
                      </a:r>
                    </a:p>
                  </a:txBody>
                  <a:tcPr marL="45720" marR="45720" marT="9144" marB="9144">
                    <a:solidFill>
                      <a:srgbClr val="FFFFFF"/>
                    </a:solidFill>
                  </a:tcPr>
                </a:tc>
                <a:tc>
                  <a:txBody>
                    <a:bodyPr wrap="square"/>
                    <a:lstStyle/>
                    <a:p>
                      <a:r>
                        <a:rPr sz="1100" b="0">
                          <a:solidFill>
                            <a:srgbClr val="000000"/>
                          </a:solidFill>
                          <a:latin typeface="Calibri"/>
                        </a:rPr>
                        <a:t>0.0236 ± 0.0129</a:t>
                      </a:r>
                    </a:p>
                  </a:txBody>
                  <a:tcPr marL="45720" marR="45720" marT="9144" marB="9144">
                    <a:solidFill>
                      <a:srgbClr val="FFFFFF"/>
                    </a:solidFill>
                  </a:tcPr>
                </a:tc>
                <a:tc>
                  <a:txBody>
                    <a:bodyPr wrap="square"/>
                    <a:lstStyle/>
                    <a:p>
                      <a:r>
                        <a:rPr sz="1100" b="0">
                          <a:solidFill>
                            <a:srgbClr val="000000"/>
                          </a:solidFill>
                          <a:latin typeface="Calibri"/>
                        </a:rPr>
                        <a:t>0.0479 ± 0.0278</a:t>
                      </a:r>
                    </a:p>
                  </a:txBody>
                  <a:tcPr marL="45720" marR="45720" marT="9144" marB="9144">
                    <a:solidFill>
                      <a:srgbClr val="FFFFFF"/>
                    </a:solidFill>
                  </a:tcPr>
                </a:tc>
                <a:tc>
                  <a:txBody>
                    <a:bodyPr wrap="square"/>
                    <a:lstStyle/>
                    <a:p>
                      <a:r>
                        <a:rPr sz="1100" b="0">
                          <a:solidFill>
                            <a:srgbClr val="000000"/>
                          </a:solidFill>
                          <a:latin typeface="Calibri"/>
                        </a:rPr>
                        <a:t>2.0× WORSE</a:t>
                      </a:r>
                    </a:p>
                  </a:txBody>
                  <a:tcPr marL="45720" marR="45720" marT="9144" marB="9144">
                    <a:solidFill>
                      <a:srgbClr val="FFFFFF"/>
                    </a:solidFill>
                  </a:tcPr>
                </a:tc>
              </a:tr>
              <a:tr h="237744">
                <a:tc>
                  <a:txBody>
                    <a:bodyPr wrap="square"/>
                    <a:lstStyle/>
                    <a:p>
                      <a:r>
                        <a:rPr sz="1100" b="0">
                          <a:solidFill>
                            <a:srgbClr val="000000"/>
                          </a:solidFill>
                          <a:latin typeface="Calibri"/>
                        </a:rPr>
                        <a:t>PIKAN (pykan)</a:t>
                      </a:r>
                    </a:p>
                  </a:txBody>
                  <a:tcPr marL="45720" marR="45720" marT="9144" marB="9144">
                    <a:solidFill>
                      <a:srgbClr val="FFFFFF"/>
                    </a:solidFill>
                  </a:tcPr>
                </a:tc>
                <a:tc>
                  <a:txBody>
                    <a:bodyPr wrap="square"/>
                    <a:lstStyle/>
                    <a:p>
                      <a:r>
                        <a:rPr sz="1100" b="0">
                          <a:solidFill>
                            <a:srgbClr val="000000"/>
                          </a:solidFill>
                          <a:latin typeface="Calibri"/>
                        </a:rPr>
                        <a:t>94.98</a:t>
                      </a:r>
                    </a:p>
                  </a:txBody>
                  <a:tcPr marL="45720" marR="45720" marT="9144" marB="9144">
                    <a:solidFill>
                      <a:srgbClr val="FFFFFF"/>
                    </a:solidFill>
                  </a:tcPr>
                </a:tc>
                <a:tc>
                  <a:txBody>
                    <a:bodyPr wrap="square"/>
                    <a:lstStyle/>
                    <a:p>
                      <a:r>
                        <a:rPr sz="1100" b="0">
                          <a:solidFill>
                            <a:srgbClr val="000000"/>
                          </a:solidFill>
                          <a:latin typeface="Calibri"/>
                        </a:rPr>
                        <a:t>100.62 ± 3.02</a:t>
                      </a:r>
                    </a:p>
                  </a:txBody>
                  <a:tcPr marL="45720" marR="45720" marT="9144" marB="9144">
                    <a:solidFill>
                      <a:srgbClr val="FFFFFF"/>
                    </a:solidFill>
                  </a:tcPr>
                </a:tc>
                <a:tc>
                  <a:txBody>
                    <a:bodyPr wrap="square"/>
                    <a:lstStyle/>
                    <a:p>
                      <a:r>
                        <a:rPr sz="1100" b="0">
                          <a:solidFill>
                            <a:srgbClr val="000000"/>
                          </a:solidFill>
                          <a:latin typeface="Calibri"/>
                        </a:rPr>
                        <a:t>still dead</a:t>
                      </a:r>
                    </a:p>
                  </a:txBody>
                  <a:tcPr marL="45720" marR="45720" marT="9144" marB="9144">
                    <a:solidFill>
                      <a:srgbClr val="FFFFFF"/>
                    </a:solidFill>
                  </a:tcPr>
                </a:tc>
              </a:tr>
              <a:tr h="237744">
                <a:tc>
                  <a:txBody>
                    <a:bodyPr wrap="square"/>
                    <a:lstStyle/>
                    <a:p>
                      <a:r>
                        <a:rPr sz="1100" b="0">
                          <a:solidFill>
                            <a:srgbClr val="000000"/>
                          </a:solidFill>
                          <a:latin typeface="Calibri"/>
                        </a:rPr>
                        <a:t>PIKAN (ours)</a:t>
                      </a:r>
                    </a:p>
                  </a:txBody>
                  <a:tcPr marL="45720" marR="45720" marT="9144" marB="9144">
                    <a:solidFill>
                      <a:srgbClr val="FFFFFF"/>
                    </a:solidFill>
                  </a:tcPr>
                </a:tc>
                <a:tc>
                  <a:txBody>
                    <a:bodyPr wrap="square"/>
                    <a:lstStyle/>
                    <a:p>
                      <a:r>
                        <a:rPr sz="1100" b="0">
                          <a:solidFill>
                            <a:srgbClr val="000000"/>
                          </a:solidFill>
                          <a:latin typeface="Calibri"/>
                        </a:rPr>
                        <a:t>235.6</a:t>
                      </a:r>
                    </a:p>
                  </a:txBody>
                  <a:tcPr marL="45720" marR="45720" marT="9144" marB="9144">
                    <a:solidFill>
                      <a:srgbClr val="FFFFFF"/>
                    </a:solidFill>
                  </a:tcPr>
                </a:tc>
                <a:tc>
                  <a:txBody>
                    <a:bodyPr wrap="square"/>
                    <a:lstStyle/>
                    <a:p>
                      <a:r>
                        <a:rPr sz="1100" b="0">
                          <a:solidFill>
                            <a:srgbClr val="000000"/>
                          </a:solidFill>
                          <a:latin typeface="Calibri"/>
                        </a:rPr>
                        <a:t>372.9 ± 321.6</a:t>
                      </a:r>
                    </a:p>
                  </a:txBody>
                  <a:tcPr marL="45720" marR="45720" marT="9144" marB="9144">
                    <a:solidFill>
                      <a:srgbClr val="FFFFFF"/>
                    </a:solidFill>
                  </a:tcPr>
                </a:tc>
                <a:tc>
                  <a:txBody>
                    <a:bodyPr wrap="square"/>
                    <a:lstStyle/>
                    <a:p>
                      <a:r>
                        <a:rPr sz="1100" b="0">
                          <a:solidFill>
                            <a:srgbClr val="000000"/>
                          </a:solidFill>
                          <a:latin typeface="Calibri"/>
                        </a:rPr>
                        <a:t>still dead</a:t>
                      </a:r>
                    </a:p>
                  </a:txBody>
                  <a:tcPr marL="45720" marR="45720" marT="9144" marB="9144">
                    <a:solidFill>
                      <a:srgbClr val="FFFFFF"/>
                    </a:solidFill>
                  </a:tcPr>
                </a:tc>
              </a:tr>
              <a:tr h="237744">
                <a:tc>
                  <a:txBody>
                    <a:bodyPr wrap="square"/>
                    <a:lstStyle/>
                    <a:p>
                      <a:r>
                        <a:rPr sz="1100" b="0">
                          <a:solidFill>
                            <a:srgbClr val="000000"/>
                          </a:solidFill>
                          <a:latin typeface="Calibri"/>
                        </a:rPr>
                        <a:t>MLP, Adam-only</a:t>
                      </a:r>
                    </a:p>
                  </a:txBody>
                  <a:tcPr marL="45720" marR="45720" marT="9144" marB="9144">
                    <a:solidFill>
                      <a:srgbClr val="FFFFFF"/>
                    </a:solidFill>
                  </a:tcPr>
                </a:tc>
                <a:tc>
                  <a:txBody>
                    <a:bodyPr wrap="square"/>
                    <a:lstStyle/>
                    <a:p>
                      <a:r>
                        <a:rPr sz="1100" b="0">
                          <a:solidFill>
                            <a:srgbClr val="000000"/>
                          </a:solidFill>
                          <a:latin typeface="Calibri"/>
                        </a:rPr>
                        <a:t>0.7392</a:t>
                      </a:r>
                    </a:p>
                  </a:txBody>
                  <a:tcPr marL="45720" marR="45720" marT="9144" marB="9144">
                    <a:solidFill>
                      <a:srgbClr val="FFFFFF"/>
                    </a:solidFill>
                  </a:tcPr>
                </a:tc>
                <a:tc>
                  <a:txBody>
                    <a:bodyPr wrap="square"/>
                    <a:lstStyle/>
                    <a:p>
                      <a:r>
                        <a:rPr sz="1100" b="0">
                          <a:solidFill>
                            <a:srgbClr val="000000"/>
                          </a:solidFill>
                          <a:latin typeface="Calibri"/>
                        </a:rPr>
                        <a:t>99.63</a:t>
                      </a:r>
                    </a:p>
                  </a:txBody>
                  <a:tcPr marL="45720" marR="45720" marT="9144" marB="9144">
                    <a:solidFill>
                      <a:srgbClr val="FFFFFF"/>
                    </a:solidFill>
                  </a:tcPr>
                </a:tc>
                <a:tc>
                  <a:txBody>
                    <a:bodyPr wrap="square"/>
                    <a:lstStyle/>
                    <a:p>
                      <a:r>
                        <a:rPr sz="1100" b="0">
                          <a:solidFill>
                            <a:srgbClr val="000000"/>
                          </a:solidFill>
                          <a:latin typeface="Calibri"/>
                        </a:rPr>
                        <a:t>fails outright, 5/6 runs</a:t>
                      </a:r>
                    </a:p>
                  </a:txBody>
                  <a:tcPr marL="45720" marR="45720" marT="9144" marB="9144">
                    <a:solidFill>
                      <a:srgbClr val="FFFFFF"/>
                    </a:solidFill>
                  </a:tcPr>
                </a:tc>
              </a:tr>
            </a:tbl>
          </a:graphicData>
        </a:graphic>
      </p:graphicFrame>
      <p:sp>
        <p:nvSpPr>
          <p:cNvPr id="7" name="TextBox 6"/>
          <p:cNvSpPr txBox="1"/>
          <p:nvPr/>
        </p:nvSpPr>
        <p:spPr>
          <a:xfrm>
            <a:off x="502920" y="4617720"/>
            <a:ext cx="11247120" cy="1965960"/>
          </a:xfrm>
          <a:prstGeom prst="rect">
            <a:avLst/>
          </a:prstGeom>
          <a:noFill/>
        </p:spPr>
        <p:txBody>
          <a:bodyPr wrap="square">
            <a:spAutoFit/>
          </a:bodyPr>
          <a:lstStyle/>
          <a:p>
            <a:pPr>
              <a:spcAft>
                <a:spcPts val="800"/>
              </a:spcAft>
            </a:pPr>
            <a:r>
              <a:rPr sz="1300" b="1">
                <a:solidFill>
                  <a:srgbClr val="000000"/>
                </a:solidFill>
                <a:latin typeface="Calibri"/>
              </a:rPr>
              <a:t>• It rescues nothing and costs a great deal. The PIKANs stay dead — direct evidence their collapse was never about the basin being cheap.</a:t>
            </a:r>
          </a:p>
          <a:p>
            <a:pPr>
              <a:spcAft>
                <a:spcPts val="800"/>
              </a:spcAft>
            </a:pPr>
            <a:r>
              <a:rPr sz="1300" b="1">
                <a:solidFill>
                  <a:srgbClr val="000000"/>
                </a:solidFill>
                <a:latin typeface="Calibri"/>
              </a:rPr>
              <a:t>• One informative asymmetry: the KAN degrades 2.0× where the PINN degrades 5.5×, so under soft constraints the KAN's lead WIDENS from 1.69× to 4.47× (3/3 paired). The headline is not an artefact of the hard ansatz — if anything the hard ansatz flatters the PINN.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Retracted claims</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Recorded because each was asserted before it was checked</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139696"/>
        </p:xfrm>
        <a:graphic>
          <a:graphicData uri="http://schemas.openxmlformats.org/drawingml/2006/table">
            <a:tbl>
              <a:tblPr firstRow="1">
                <a:tableStyleId>{5C22544A-7EE6-4342-B048-85BDC9FD1C3A}</a:tableStyleId>
              </a:tblPr>
              <a:tblGrid>
                <a:gridCol w="3931920"/>
                <a:gridCol w="1280160"/>
                <a:gridCol w="6035040"/>
              </a:tblGrid>
              <a:tr h="237744">
                <a:tc>
                  <a:txBody>
                    <a:bodyPr wrap="square"/>
                    <a:lstStyle/>
                    <a:p>
                      <a:r>
                        <a:rPr sz="950" b="1">
                          <a:solidFill>
                            <a:srgbClr val="000000"/>
                          </a:solidFill>
                          <a:latin typeface="Calibri"/>
                        </a:rPr>
                        <a:t>Claim</a:t>
                      </a:r>
                    </a:p>
                  </a:txBody>
                  <a:tcPr marL="45720" marR="45720" marT="9144" marB="9144">
                    <a:solidFill>
                      <a:srgbClr val="FFFFFF"/>
                    </a:solidFill>
                  </a:tcPr>
                </a:tc>
                <a:tc>
                  <a:txBody>
                    <a:bodyPr wrap="square"/>
                    <a:lstStyle/>
                    <a:p>
                      <a:r>
                        <a:rPr sz="950" b="1">
                          <a:solidFill>
                            <a:srgbClr val="000000"/>
                          </a:solidFill>
                          <a:latin typeface="Calibri"/>
                        </a:rPr>
                        <a:t>Status</a:t>
                      </a:r>
                    </a:p>
                  </a:txBody>
                  <a:tcPr marL="45720" marR="45720" marT="9144" marB="9144">
                    <a:solidFill>
                      <a:srgbClr val="FFFFFF"/>
                    </a:solidFill>
                  </a:tcPr>
                </a:tc>
                <a:tc>
                  <a:txBody>
                    <a:bodyPr wrap="square"/>
                    <a:lstStyle/>
                    <a:p>
                      <a:r>
                        <a:rPr sz="950" b="1">
                          <a:solidFill>
                            <a:srgbClr val="000000"/>
                          </a:solidFill>
                          <a:latin typeface="Calibri"/>
                        </a:rPr>
                        <a:t>What was actually true</a:t>
                      </a:r>
                    </a:p>
                  </a:txBody>
                  <a:tcPr marL="45720" marR="45720" marT="9144" marB="9144">
                    <a:solidFill>
                      <a:srgbClr val="FFFFFF"/>
                    </a:solidFill>
                  </a:tcPr>
                </a:tc>
              </a:tr>
              <a:tr h="237744">
                <a:tc>
                  <a:txBody>
                    <a:bodyPr wrap="square"/>
                    <a:lstStyle/>
                    <a:p>
                      <a:r>
                        <a:rPr sz="950" b="0">
                          <a:solidFill>
                            <a:srgbClr val="000000"/>
                          </a:solidFill>
                          <a:latin typeface="Calibri"/>
                        </a:rPr>
                        <a:t>"The KAN beats the PINN by 1.42×"</a:t>
                      </a:r>
                    </a:p>
                  </a:txBody>
                  <a:tcPr marL="45720" marR="45720" marT="9144" marB="9144">
                    <a:solidFill>
                      <a:srgbClr val="FFFFFF"/>
                    </a:solidFill>
                  </a:tcPr>
                </a:tc>
                <a:tc>
                  <a:txBody>
                    <a:bodyPr wrap="square"/>
                    <a:lstStyle/>
                    <a:p>
                      <a:r>
                        <a:rPr sz="950" b="0">
                          <a:solidFill>
                            <a:srgbClr val="000000"/>
                          </a:solidFill>
                          <a:latin typeface="Calibri"/>
                        </a:rPr>
                        <a:t>retracted</a:t>
                      </a:r>
                    </a:p>
                  </a:txBody>
                  <a:tcPr marL="45720" marR="45720" marT="9144" marB="9144">
                    <a:solidFill>
                      <a:srgbClr val="FFFFFF"/>
                    </a:solidFill>
                  </a:tcPr>
                </a:tc>
                <a:tc>
                  <a:txBody>
                    <a:bodyPr wrap="square"/>
                    <a:lstStyle/>
                    <a:p>
                      <a:r>
                        <a:rPr sz="950" b="0">
                          <a:solidFill>
                            <a:srgbClr val="000000"/>
                          </a:solidFill>
                          <a:latin typeface="Calibri"/>
                        </a:rPr>
                        <a:t>three seeds. At n = 11: p = 0.577, a tie. The KAN does win, but only under the hybrid — a different claim on different data.</a:t>
                      </a:r>
                    </a:p>
                  </a:txBody>
                  <a:tcPr marL="45720" marR="45720" marT="9144" marB="9144">
                    <a:solidFill>
                      <a:srgbClr val="FFFFFF"/>
                    </a:solidFill>
                  </a:tcPr>
                </a:tc>
              </a:tr>
              <a:tr h="237744">
                <a:tc>
                  <a:txBody>
                    <a:bodyPr wrap="square"/>
                    <a:lstStyle/>
                    <a:p>
                      <a:r>
                        <a:rPr sz="950" b="0">
                          <a:solidFill>
                            <a:srgbClr val="000000"/>
                          </a:solidFill>
                          <a:latin typeface="Calibri"/>
                        </a:rPr>
                        <a:t>"The PINN wins on twolayer by 2.20×"</a:t>
                      </a:r>
                    </a:p>
                  </a:txBody>
                  <a:tcPr marL="45720" marR="45720" marT="9144" marB="9144">
                    <a:solidFill>
                      <a:srgbClr val="FFFFFF"/>
                    </a:solidFill>
                  </a:tcPr>
                </a:tc>
                <a:tc>
                  <a:txBody>
                    <a:bodyPr wrap="square"/>
                    <a:lstStyle/>
                    <a:p>
                      <a:r>
                        <a:rPr sz="950" b="0">
                          <a:solidFill>
                            <a:srgbClr val="000000"/>
                          </a:solidFill>
                          <a:latin typeface="Calibri"/>
                        </a:rPr>
                        <a:t>retracted</a:t>
                      </a:r>
                    </a:p>
                  </a:txBody>
                  <a:tcPr marL="45720" marR="45720" marT="9144" marB="9144">
                    <a:solidFill>
                      <a:srgbClr val="FFFFFF"/>
                    </a:solidFill>
                  </a:tcPr>
                </a:tc>
                <a:tc>
                  <a:txBody>
                    <a:bodyPr wrap="square"/>
                    <a:lstStyle/>
                    <a:p>
                      <a:r>
                        <a:rPr sz="950" b="0">
                          <a:solidFill>
                            <a:srgbClr val="000000"/>
                          </a:solidFill>
                          <a:latin typeface="Calibri"/>
                        </a:rPr>
                        <a:t>five seeds, p = 0.056. At n = 11: 1.39×, p = 0.250. This also removed the interface-sharpness story built to explain it.</a:t>
                      </a:r>
                    </a:p>
                  </a:txBody>
                  <a:tcPr marL="45720" marR="45720" marT="9144" marB="9144">
                    <a:solidFill>
                      <a:srgbClr val="FFFFFF"/>
                    </a:solidFill>
                  </a:tcPr>
                </a:tc>
              </a:tr>
              <a:tr h="237744">
                <a:tc>
                  <a:txBody>
                    <a:bodyPr wrap="square"/>
                    <a:lstStyle/>
                    <a:p>
                      <a:r>
                        <a:rPr sz="950" b="0">
                          <a:solidFill>
                            <a:srgbClr val="000000"/>
                          </a:solidFill>
                          <a:latin typeface="Calibri"/>
                        </a:rPr>
                        <a:t>"PIKAN scored 95.5 % under pure L-BFGS"</a:t>
                      </a:r>
                    </a:p>
                  </a:txBody>
                  <a:tcPr marL="45720" marR="45720" marT="9144" marB="9144">
                    <a:solidFill>
                      <a:srgbClr val="FFFFFF"/>
                    </a:solidFill>
                  </a:tcPr>
                </a:tc>
                <a:tc>
                  <a:txBody>
                    <a:bodyPr wrap="square"/>
                    <a:lstStyle/>
                    <a:p>
                      <a:r>
                        <a:rPr sz="950" b="0">
                          <a:solidFill>
                            <a:srgbClr val="000000"/>
                          </a:solidFill>
                          <a:latin typeface="Calibri"/>
                        </a:rPr>
                        <a:t>wrong</a:t>
                      </a:r>
                    </a:p>
                  </a:txBody>
                  <a:tcPr marL="45720" marR="45720" marT="9144" marB="9144">
                    <a:solidFill>
                      <a:srgbClr val="FFFFFF"/>
                    </a:solidFill>
                  </a:tcPr>
                </a:tc>
                <a:tc>
                  <a:txBody>
                    <a:bodyPr wrap="square"/>
                    <a:lstStyle/>
                    <a:p>
                      <a:r>
                        <a:rPr sz="950" b="0">
                          <a:solidFill>
                            <a:srgbClr val="000000"/>
                          </a:solidFill>
                          <a:latin typeface="Calibri"/>
                        </a:rPr>
                        <a:t>a dict default mislabelled Phase 4 (Adam) as L-BFGS. The real control gives 275–626 %. The mechanism inferred from it was backwards.</a:t>
                      </a:r>
                    </a:p>
                  </a:txBody>
                  <a:tcPr marL="45720" marR="45720" marT="9144" marB="9144">
                    <a:solidFill>
                      <a:srgbClr val="FFFFFF"/>
                    </a:solidFill>
                  </a:tcPr>
                </a:tc>
              </a:tr>
              <a:tr h="237744">
                <a:tc>
                  <a:txBody>
                    <a:bodyPr wrap="square"/>
                    <a:lstStyle/>
                    <a:p>
                      <a:r>
                        <a:rPr sz="950" b="0">
                          <a:solidFill>
                            <a:srgbClr val="000000"/>
                          </a:solidFill>
                          <a:latin typeface="Calibri"/>
                        </a:rPr>
                        <a:t>"The R3 arm implements Daw et al."</a:t>
                      </a:r>
                    </a:p>
                  </a:txBody>
                  <a:tcPr marL="45720" marR="45720" marT="9144" marB="9144">
                    <a:solidFill>
                      <a:srgbClr val="FFFFFF"/>
                    </a:solidFill>
                  </a:tcPr>
                </a:tc>
                <a:tc>
                  <a:txBody>
                    <a:bodyPr wrap="square"/>
                    <a:lstStyle/>
                    <a:p>
                      <a:r>
                        <a:rPr sz="950" b="0">
                          <a:solidFill>
                            <a:srgbClr val="000000"/>
                          </a:solidFill>
                          <a:latin typeface="Calibri"/>
                        </a:rPr>
                        <a:t>retracted</a:t>
                      </a:r>
                    </a:p>
                  </a:txBody>
                  <a:tcPr marL="45720" marR="45720" marT="9144" marB="9144">
                    <a:solidFill>
                      <a:srgbClr val="FFFFFF"/>
                    </a:solidFill>
                  </a:tcPr>
                </a:tc>
                <a:tc>
                  <a:txBody>
                    <a:bodyPr wrap="square"/>
                    <a:lstStyle/>
                    <a:p>
                      <a:r>
                        <a:rPr sz="950" b="0">
                          <a:solidFill>
                            <a:srgbClr val="000000"/>
                          </a:solidFill>
                          <a:latin typeface="Calibri"/>
                        </a:rPr>
                        <a:t>it fires once on patience exhaustion; the published algorithm resamples every iteration and never uses L-BFGS</a:t>
                      </a:r>
                    </a:p>
                  </a:txBody>
                  <a:tcPr marL="45720" marR="45720" marT="9144" marB="9144">
                    <a:solidFill>
                      <a:srgbClr val="FFFFFF"/>
                    </a:solidFill>
                  </a:tcPr>
                </a:tc>
              </a:tr>
              <a:tr h="237744">
                <a:tc>
                  <a:txBody>
                    <a:bodyPr wrap="square"/>
                    <a:lstStyle/>
                    <a:p>
                      <a:r>
                        <a:rPr sz="950" b="0">
                          <a:solidFill>
                            <a:srgbClr val="000000"/>
                          </a:solidFill>
                          <a:latin typeface="Calibri"/>
                        </a:rPr>
                        <a:t>"R3 helps on twolayer"</a:t>
                      </a:r>
                    </a:p>
                  </a:txBody>
                  <a:tcPr marL="45720" marR="45720" marT="9144" marB="9144">
                    <a:solidFill>
                      <a:srgbClr val="FFFFFF"/>
                    </a:solidFill>
                  </a:tcPr>
                </a:tc>
                <a:tc>
                  <a:txBody>
                    <a:bodyPr wrap="square"/>
                    <a:lstStyle/>
                    <a:p>
                      <a:r>
                        <a:rPr sz="950" b="0">
                          <a:solidFill>
                            <a:srgbClr val="000000"/>
                          </a:solidFill>
                          <a:latin typeface="Calibri"/>
                        </a:rPr>
                        <a:t>not significant</a:t>
                      </a:r>
                    </a:p>
                  </a:txBody>
                  <a:tcPr marL="45720" marR="45720" marT="9144" marB="9144">
                    <a:solidFill>
                      <a:srgbClr val="FFFFFF"/>
                    </a:solidFill>
                  </a:tcPr>
                </a:tc>
                <a:tc>
                  <a:txBody>
                    <a:bodyPr wrap="square"/>
                    <a:lstStyle/>
                    <a:p>
                      <a:r>
                        <a:rPr sz="950" b="0">
                          <a:solidFill>
                            <a:srgbClr val="000000"/>
                          </a:solidFill>
                          <a:latin typeface="Calibri"/>
                        </a:rPr>
                        <a:t>10/14 paired, p = 0.18; at n = 11, p = 0.23. The quoted 0.3944 % was the best single cell out of 45.</a:t>
                      </a:r>
                    </a:p>
                  </a:txBody>
                  <a:tcPr marL="45720" marR="45720" marT="9144" marB="9144">
                    <a:solidFill>
                      <a:srgbClr val="FFFFFF"/>
                    </a:solidFill>
                  </a:tcPr>
                </a:tc>
              </a:tr>
              <a:tr h="237744">
                <a:tc>
                  <a:txBody>
                    <a:bodyPr wrap="square"/>
                    <a:lstStyle/>
                    <a:p>
                      <a:r>
                        <a:rPr sz="950" b="0">
                          <a:solidFill>
                            <a:srgbClr val="000000"/>
                          </a:solidFill>
                          <a:latin typeface="Calibri"/>
                        </a:rPr>
                        <a:t>"MLP cannot represent a wavefront crossing an interface (spectral bias)"</a:t>
                      </a:r>
                    </a:p>
                  </a:txBody>
                  <a:tcPr marL="45720" marR="45720" marT="9144" marB="9144">
                    <a:solidFill>
                      <a:srgbClr val="FFFFFF"/>
                    </a:solidFill>
                  </a:tcPr>
                </a:tc>
                <a:tc>
                  <a:txBody>
                    <a:bodyPr wrap="square"/>
                    <a:lstStyle/>
                    <a:p>
                      <a:r>
                        <a:rPr sz="950" b="0">
                          <a:solidFill>
                            <a:srgbClr val="000000"/>
                          </a:solidFill>
                          <a:latin typeface="Calibri"/>
                        </a:rPr>
                        <a:t>wrong</a:t>
                      </a:r>
                    </a:p>
                  </a:txBody>
                  <a:tcPr marL="45720" marR="45720" marT="9144" marB="9144">
                    <a:solidFill>
                      <a:srgbClr val="FFFFFF"/>
                    </a:solidFill>
                  </a:tcPr>
                </a:tc>
                <a:tc>
                  <a:txBody>
                    <a:bodyPr wrap="square"/>
                    <a:lstStyle/>
                    <a:p>
                      <a:r>
                        <a:rPr sz="950" b="0">
                          <a:solidFill>
                            <a:srgbClr val="000000"/>
                          </a:solidFill>
                          <a:latin typeface="Calibri"/>
                        </a:rPr>
                        <a:t>it was the D6 normalisation bug. The MLP is in fact the BEST model on twolayer.</a:t>
                      </a:r>
                    </a:p>
                  </a:txBody>
                  <a:tcPr marL="45720" marR="45720" marT="9144" marB="9144">
                    <a:solidFill>
                      <a:srgbClr val="FFFFFF"/>
                    </a:solidFill>
                  </a:tcPr>
                </a:tc>
              </a:tr>
              <a:tr h="237744">
                <a:tc>
                  <a:txBody>
                    <a:bodyPr wrap="square"/>
                    <a:lstStyle/>
                    <a:p>
                      <a:r>
                        <a:rPr sz="950" b="0">
                          <a:solidFill>
                            <a:srgbClr val="000000"/>
                          </a:solidFill>
                          <a:latin typeface="Calibri"/>
                        </a:rPr>
                        <a:t>"KAN variance is only 1.2× the PINN's"</a:t>
                      </a:r>
                    </a:p>
                  </a:txBody>
                  <a:tcPr marL="45720" marR="45720" marT="9144" marB="9144">
                    <a:solidFill>
                      <a:srgbClr val="FFFFFF"/>
                    </a:solidFill>
                  </a:tcPr>
                </a:tc>
                <a:tc>
                  <a:txBody>
                    <a:bodyPr wrap="square"/>
                    <a:lstStyle/>
                    <a:p>
                      <a:r>
                        <a:rPr sz="950" b="0">
                          <a:solidFill>
                            <a:srgbClr val="000000"/>
                          </a:solidFill>
                          <a:latin typeface="Calibri"/>
                        </a:rPr>
                        <a:t>wrong</a:t>
                      </a:r>
                    </a:p>
                  </a:txBody>
                  <a:tcPr marL="45720" marR="45720" marT="9144" marB="9144">
                    <a:solidFill>
                      <a:srgbClr val="FFFFFF"/>
                    </a:solidFill>
                  </a:tcPr>
                </a:tc>
                <a:tc>
                  <a:txBody>
                    <a:bodyPr wrap="square"/>
                    <a:lstStyle/>
                    <a:p>
                      <a:r>
                        <a:rPr sz="950" b="0">
                          <a:solidFill>
                            <a:srgbClr val="000000"/>
                          </a:solidFill>
                          <a:latin typeface="Calibri"/>
                        </a:rPr>
                        <a:t>compared a settled n=8 PINN against a 3-seed KAN. At matched n = 11 it is 5.44×. The original claim was right — a retraction can itself be an error.</a:t>
                      </a:r>
                    </a:p>
                  </a:txBody>
                  <a:tcPr marL="45720" marR="45720" marT="9144" marB="9144">
                    <a:solidFill>
                      <a:srgbClr val="FFFFFF"/>
                    </a:solidFill>
                  </a:tcPr>
                </a:tc>
              </a:tr>
              <a:tr h="237744">
                <a:tc>
                  <a:txBody>
                    <a:bodyPr wrap="square"/>
                    <a:lstStyle/>
                    <a:p>
                      <a:r>
                        <a:rPr sz="950" b="0">
                          <a:solidFill>
                            <a:srgbClr val="000000"/>
                          </a:solidFill>
                          <a:latin typeface="Calibri"/>
                        </a:rPr>
                        <a:t>"Capacity shows the KAN is representation-limited"</a:t>
                      </a:r>
                    </a:p>
                  </a:txBody>
                  <a:tcPr marL="45720" marR="45720" marT="9144" marB="9144">
                    <a:solidFill>
                      <a:srgbClr val="FFFFFF"/>
                    </a:solidFill>
                  </a:tcPr>
                </a:tc>
                <a:tc>
                  <a:txBody>
                    <a:bodyPr wrap="square"/>
                    <a:lstStyle/>
                    <a:p>
                      <a:r>
                        <a:rPr sz="950" b="0">
                          <a:solidFill>
                            <a:srgbClr val="000000"/>
                          </a:solidFill>
                          <a:latin typeface="Calibri"/>
                        </a:rPr>
                        <a:t>withdrawn</a:t>
                      </a:r>
                    </a:p>
                  </a:txBody>
                  <a:tcPr marL="45720" marR="45720" marT="9144" marB="9144">
                    <a:solidFill>
                      <a:srgbClr val="FFFFFF"/>
                    </a:solidFill>
                  </a:tcPr>
                </a:tc>
                <a:tc>
                  <a:txBody>
                    <a:bodyPr wrap="square"/>
                    <a:lstStyle/>
                    <a:p>
                      <a:r>
                        <a:rPr sz="950" b="0">
                          <a:solidFill>
                            <a:srgbClr val="000000"/>
                          </a:solidFill>
                          <a:latin typeface="Calibri"/>
                        </a:rPr>
                        <a:t>four successive designs failed. Redone properly: representation was never the limit.</a:t>
                      </a:r>
                    </a:p>
                  </a:txBody>
                  <a:tcPr marL="45720" marR="45720" marT="9144" marB="9144">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Predictions we made that the measurements refuted</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A distinct failure mode: a mechanism proposed before it was measured</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139696"/>
        </p:xfrm>
        <a:graphic>
          <a:graphicData uri="http://schemas.openxmlformats.org/drawingml/2006/table">
            <a:tbl>
              <a:tblPr firstRow="1">
                <a:tableStyleId>{5C22544A-7EE6-4342-B048-85BDC9FD1C3A}</a:tableStyleId>
              </a:tblPr>
              <a:tblGrid>
                <a:gridCol w="5669280"/>
                <a:gridCol w="5577840"/>
              </a:tblGrid>
              <a:tr h="237744">
                <a:tc>
                  <a:txBody>
                    <a:bodyPr wrap="square"/>
                    <a:lstStyle/>
                    <a:p>
                      <a:r>
                        <a:rPr sz="1050" b="1">
                          <a:solidFill>
                            <a:srgbClr val="000000"/>
                          </a:solidFill>
                          <a:latin typeface="Calibri"/>
                        </a:rPr>
                        <a:t>Prediction</a:t>
                      </a:r>
                    </a:p>
                  </a:txBody>
                  <a:tcPr marL="45720" marR="45720" marT="9144" marB="9144">
                    <a:solidFill>
                      <a:srgbClr val="FFFFFF"/>
                    </a:solidFill>
                  </a:tcPr>
                </a:tc>
                <a:tc>
                  <a:txBody>
                    <a:bodyPr wrap="square"/>
                    <a:lstStyle/>
                    <a:p>
                      <a:r>
                        <a:rPr sz="1050" b="1">
                          <a:solidFill>
                            <a:srgbClr val="000000"/>
                          </a:solidFill>
                          <a:latin typeface="Calibri"/>
                        </a:rPr>
                        <a:t>Outcome</a:t>
                      </a:r>
                    </a:p>
                  </a:txBody>
                  <a:tcPr marL="45720" marR="45720" marT="9144" marB="9144">
                    <a:solidFill>
                      <a:srgbClr val="FFFFFF"/>
                    </a:solidFill>
                  </a:tcPr>
                </a:tc>
              </a:tr>
              <a:tr h="237744">
                <a:tc>
                  <a:txBody>
                    <a:bodyPr wrap="square"/>
                    <a:lstStyle/>
                    <a:p>
                      <a:r>
                        <a:rPr sz="1050" b="0">
                          <a:solidFill>
                            <a:srgbClr val="000000"/>
                          </a:solidFill>
                          <a:latin typeface="Calibri"/>
                        </a:rPr>
                        <a:t>"charcoords50 will fail on multilayer"</a:t>
                      </a:r>
                    </a:p>
                  </a:txBody>
                  <a:tcPr marL="45720" marR="45720" marT="9144" marB="9144">
                    <a:solidFill>
                      <a:srgbClr val="FFFFFF"/>
                    </a:solidFill>
                  </a:tcPr>
                </a:tc>
                <a:tc>
                  <a:txBody>
                    <a:bodyPr wrap="square"/>
                    <a:lstStyle/>
                    <a:p>
                      <a:r>
                        <a:rPr sz="1050" b="0">
                          <a:solidFill>
                            <a:srgbClr val="000000"/>
                          </a:solidFill>
                          <a:latin typeface="Calibri"/>
                        </a:rPr>
                        <a:t>it tied the best PINN (0.0403 % vs 0.0432 %)</a:t>
                      </a:r>
                    </a:p>
                  </a:txBody>
                  <a:tcPr marL="45720" marR="45720" marT="9144" marB="9144">
                    <a:solidFill>
                      <a:srgbClr val="FFFFFF"/>
                    </a:solidFill>
                  </a:tcPr>
                </a:tc>
              </a:tr>
              <a:tr h="237744">
                <a:tc>
                  <a:txBody>
                    <a:bodyPr wrap="square"/>
                    <a:lstStyle/>
                    <a:p>
                      <a:r>
                        <a:rPr sz="1050" b="0">
                          <a:solidFill>
                            <a:srgbClr val="000000"/>
                          </a:solidFill>
                          <a:latin typeface="Calibri"/>
                        </a:rPr>
                        <a:t>"k = 5 collapses"</a:t>
                      </a:r>
                    </a:p>
                  </a:txBody>
                  <a:tcPr marL="45720" marR="45720" marT="9144" marB="9144">
                    <a:solidFill>
                      <a:srgbClr val="FFFFFF"/>
                    </a:solidFill>
                  </a:tcPr>
                </a:tc>
                <a:tc>
                  <a:txBody>
                    <a:bodyPr wrap="square"/>
                    <a:lstStyle/>
                    <a:p>
                      <a:r>
                        <a:rPr sz="1050" b="0">
                          <a:solidFill>
                            <a:srgbClr val="000000"/>
                          </a:solidFill>
                          <a:latin typeface="Calibri"/>
                        </a:rPr>
                        <a:t>0.1590 % on homogeneous — it is material-dependent</a:t>
                      </a:r>
                    </a:p>
                  </a:txBody>
                  <a:tcPr marL="45720" marR="45720" marT="9144" marB="9144">
                    <a:solidFill>
                      <a:srgbClr val="FFFFFF"/>
                    </a:solidFill>
                  </a:tcPr>
                </a:tc>
              </a:tr>
              <a:tr h="237744">
                <a:tc>
                  <a:txBody>
                    <a:bodyPr wrap="square"/>
                    <a:lstStyle/>
                    <a:p>
                      <a:r>
                        <a:rPr sz="1050" b="0">
                          <a:solidFill>
                            <a:srgbClr val="000000"/>
                          </a:solidFill>
                          <a:latin typeface="Calibri"/>
                        </a:rPr>
                        <a:t>"Characteristic coordinates didn't pay off"</a:t>
                      </a:r>
                    </a:p>
                  </a:txBody>
                  <a:tcPr marL="45720" marR="45720" marT="9144" marB="9144">
                    <a:solidFill>
                      <a:srgbClr val="FFFFFF"/>
                    </a:solidFill>
                  </a:tcPr>
                </a:tc>
                <a:tc>
                  <a:txBody>
                    <a:bodyPr wrap="square"/>
                    <a:lstStyle/>
                    <a:p>
                      <a:r>
                        <a:rPr sz="1050" b="0">
                          <a:solidFill>
                            <a:srgbClr val="000000"/>
                          </a:solidFill>
                          <a:latin typeface="Calibri"/>
                        </a:rPr>
                        <a:t>they produced the best KAN in the study</a:t>
                      </a:r>
                    </a:p>
                  </a:txBody>
                  <a:tcPr marL="45720" marR="45720" marT="9144" marB="9144">
                    <a:solidFill>
                      <a:srgbClr val="FFFFFF"/>
                    </a:solidFill>
                  </a:tcPr>
                </a:tc>
              </a:tr>
              <a:tr h="237744">
                <a:tc>
                  <a:txBody>
                    <a:bodyPr wrap="square"/>
                    <a:lstStyle/>
                    <a:p>
                      <a:r>
                        <a:rPr sz="1050" b="0">
                          <a:solidFill>
                            <a:srgbClr val="000000"/>
                          </a:solidFill>
                          <a:latin typeface="Calibri"/>
                        </a:rPr>
                        <a:t>"Spectral bias explains the MLP's interface failure"</a:t>
                      </a:r>
                    </a:p>
                  </a:txBody>
                  <a:tcPr marL="45720" marR="45720" marT="9144" marB="9144">
                    <a:solidFill>
                      <a:srgbClr val="FFFFFF"/>
                    </a:solidFill>
                  </a:tcPr>
                </a:tc>
                <a:tc>
                  <a:txBody>
                    <a:bodyPr wrap="square"/>
                    <a:lstStyle/>
                    <a:p>
                      <a:r>
                        <a:rPr sz="1050" b="0">
                          <a:solidFill>
                            <a:srgbClr val="000000"/>
                          </a:solidFill>
                          <a:latin typeface="Calibri"/>
                        </a:rPr>
                        <a:t>it was the D6 normalisation bug</a:t>
                      </a:r>
                    </a:p>
                  </a:txBody>
                  <a:tcPr marL="45720" marR="45720" marT="9144" marB="9144">
                    <a:solidFill>
                      <a:srgbClr val="FFFFFF"/>
                    </a:solidFill>
                  </a:tcPr>
                </a:tc>
              </a:tr>
              <a:tr h="237744">
                <a:tc>
                  <a:txBody>
                    <a:bodyPr wrap="square"/>
                    <a:lstStyle/>
                    <a:p>
                      <a:r>
                        <a:rPr sz="1050" b="0">
                          <a:solidFill>
                            <a:srgbClr val="000000"/>
                          </a:solidFill>
                          <a:latin typeface="Calibri"/>
                        </a:rPr>
                        <a:t>"Spectral bias limits the MLP's supervised fit"</a:t>
                      </a:r>
                    </a:p>
                  </a:txBody>
                  <a:tcPr marL="45720" marR="45720" marT="9144" marB="9144">
                    <a:solidFill>
                      <a:srgbClr val="FFFFFF"/>
                    </a:solidFill>
                  </a:tcPr>
                </a:tc>
                <a:tc>
                  <a:txBody>
                    <a:bodyPr wrap="square"/>
                    <a:lstStyle/>
                    <a:p>
                      <a:r>
                        <a:rPr sz="1050" b="0">
                          <a:solidFill>
                            <a:srgbClr val="000000"/>
                          </a:solidFill>
                          <a:latin typeface="Calibri"/>
                        </a:rPr>
                        <a:t>it was the epoch cap</a:t>
                      </a:r>
                    </a:p>
                  </a:txBody>
                  <a:tcPr marL="45720" marR="45720" marT="9144" marB="9144">
                    <a:solidFill>
                      <a:srgbClr val="FFFFFF"/>
                    </a:solidFill>
                  </a:tcPr>
                </a:tc>
              </a:tr>
              <a:tr h="237744">
                <a:tc>
                  <a:txBody>
                    <a:bodyPr wrap="square"/>
                    <a:lstStyle/>
                    <a:p>
                      <a:r>
                        <a:rPr sz="1050" b="0">
                          <a:solidFill>
                            <a:srgbClr val="000000"/>
                          </a:solidFill>
                          <a:latin typeface="Calibri"/>
                        </a:rPr>
                        <a:t>"Sharpness, not interface count, explains twolayer"</a:t>
                      </a:r>
                    </a:p>
                  </a:txBody>
                  <a:tcPr marL="45720" marR="45720" marT="9144" marB="9144">
                    <a:solidFill>
                      <a:srgbClr val="FFFFFF"/>
                    </a:solidFill>
                  </a:tcPr>
                </a:tc>
                <a:tc>
                  <a:txBody>
                    <a:bodyPr wrap="square"/>
                    <a:lstStyle/>
                    <a:p>
                      <a:r>
                        <a:rPr sz="1050" b="0">
                          <a:solidFill>
                            <a:srgbClr val="000000"/>
                          </a:solidFill>
                          <a:latin typeface="Calibri"/>
                        </a:rPr>
                        <a:t>the twolayer result it explained evaporated at n = 11</a:t>
                      </a:r>
                    </a:p>
                  </a:txBody>
                  <a:tcPr marL="45720" marR="45720" marT="9144" marB="9144">
                    <a:solidFill>
                      <a:srgbClr val="FFFFFF"/>
                    </a:solidFill>
                  </a:tcPr>
                </a:tc>
              </a:tr>
              <a:tr h="237744">
                <a:tc>
                  <a:txBody>
                    <a:bodyPr wrap="square"/>
                    <a:lstStyle/>
                    <a:p>
                      <a:r>
                        <a:rPr sz="1050" b="0">
                          <a:solidFill>
                            <a:srgbClr val="000000"/>
                          </a:solidFill>
                          <a:latin typeface="Calibri"/>
                        </a:rPr>
                        <a:t>"Adam marches PIKAN's bad init too far; L-BFGS is protected"</a:t>
                      </a:r>
                    </a:p>
                  </a:txBody>
                  <a:tcPr marL="45720" marR="45720" marT="9144" marB="9144">
                    <a:solidFill>
                      <a:srgbClr val="FFFFFF"/>
                    </a:solidFill>
                  </a:tcPr>
                </a:tc>
                <a:tc>
                  <a:txBody>
                    <a:bodyPr wrap="square"/>
                    <a:lstStyle/>
                    <a:p>
                      <a:r>
                        <a:rPr sz="1050" b="0">
                          <a:solidFill>
                            <a:srgbClr val="000000"/>
                          </a:solidFill>
                          <a:latin typeface="Calibri"/>
                        </a:rPr>
                        <a:t>backwards — pure L-BFGS is the WORST of the three</a:t>
                      </a:r>
                    </a:p>
                  </a:txBody>
                  <a:tcPr marL="45720" marR="45720" marT="9144" marB="9144">
                    <a:solidFill>
                      <a:srgbClr val="FFFFFF"/>
                    </a:solidFill>
                  </a:tcPr>
                </a:tc>
              </a:tr>
              <a:tr h="237744">
                <a:tc>
                  <a:txBody>
                    <a:bodyPr wrap="square"/>
                    <a:lstStyle/>
                    <a:p>
                      <a:r>
                        <a:rPr sz="1050" b="0">
                          <a:solidFill>
                            <a:srgbClr val="000000"/>
                          </a:solidFill>
                          <a:latin typeface="Calibri"/>
                        </a:rPr>
                        <a:t>"The Fourier embedding kills KANs because they cannot express the solution"</a:t>
                      </a:r>
                    </a:p>
                  </a:txBody>
                  <a:tcPr marL="45720" marR="45720" marT="9144" marB="9144">
                    <a:solidFill>
                      <a:srgbClr val="FFFFFF"/>
                    </a:solidFill>
                  </a:tcPr>
                </a:tc>
                <a:tc>
                  <a:txBody>
                    <a:bodyPr wrap="square"/>
                    <a:lstStyle/>
                    <a:p>
                      <a:r>
                        <a:rPr sz="1050" b="0">
                          <a:solidFill>
                            <a:srgbClr val="000000"/>
                          </a:solidFill>
                          <a:latin typeface="Calibri"/>
                        </a:rPr>
                        <a:t>they express it to 0.0431 %, better than the PINN</a:t>
                      </a:r>
                    </a:p>
                  </a:txBody>
                  <a:tcPr marL="45720" marR="45720" marT="9144" marB="9144">
                    <a:solidFill>
                      <a:srgbClr val="FFFFFF"/>
                    </a:solidFill>
                  </a:tcPr>
                </a:tc>
              </a:tr>
            </a:tbl>
          </a:graphicData>
        </a:graphic>
      </p:graphicFrame>
      <p:sp>
        <p:nvSpPr>
          <p:cNvPr id="6" name="TextBox 5"/>
          <p:cNvSpPr txBox="1"/>
          <p:nvPr/>
        </p:nvSpPr>
        <p:spPr>
          <a:xfrm>
            <a:off x="502920" y="4023360"/>
            <a:ext cx="11247120" cy="2560320"/>
          </a:xfrm>
          <a:prstGeom prst="rect">
            <a:avLst/>
          </a:prstGeom>
          <a:noFill/>
        </p:spPr>
        <p:txBody>
          <a:bodyPr wrap="square">
            <a:spAutoFit/>
          </a:bodyPr>
          <a:lstStyle/>
          <a:p>
            <a:pPr>
              <a:spcAft>
                <a:spcPts val="800"/>
              </a:spcAft>
            </a:pPr>
            <a:r>
              <a:rPr sz="1300" b="1">
                <a:solidFill>
                  <a:srgbClr val="000000"/>
                </a:solidFill>
                <a:latin typeface="Calibri"/>
              </a:rPr>
              <a:t>• Eight offered, eight refuted. The pattern is consistent: an explanation was proposed to account for a number before the explanation itself was measured.</a:t>
            </a:r>
          </a:p>
          <a:p>
            <a:pPr>
              <a:spcAft>
                <a:spcPts val="800"/>
              </a:spcAft>
            </a:pPr>
            <a:r>
              <a:rPr sz="1300" b="0">
                <a:solidFill>
                  <a:srgbClr val="000000"/>
                </a:solidFill>
                <a:latin typeface="Calibri"/>
              </a:rPr>
              <a:t>• Every explanatory claim in this study should be checked for whether it was MEASURED or INFERRED.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What we are confident in, and what we are not</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Graded by how hard each claim was attacked, not by p-value</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2377440"/>
        </p:xfrm>
        <a:graphic>
          <a:graphicData uri="http://schemas.openxmlformats.org/drawingml/2006/table">
            <a:tbl>
              <a:tblPr firstRow="1">
                <a:tableStyleId>{5C22544A-7EE6-4342-B048-85BDC9FD1C3A}</a:tableStyleId>
              </a:tblPr>
              <a:tblGrid>
                <a:gridCol w="4846320"/>
                <a:gridCol w="1737360"/>
                <a:gridCol w="4663440"/>
              </a:tblGrid>
              <a:tr h="237744">
                <a:tc>
                  <a:txBody>
                    <a:bodyPr wrap="square"/>
                    <a:lstStyle/>
                    <a:p>
                      <a:r>
                        <a:rPr sz="1050" b="1">
                          <a:solidFill>
                            <a:srgbClr val="000000"/>
                          </a:solidFill>
                          <a:latin typeface="Calibri"/>
                        </a:rPr>
                        <a:t>Claim</a:t>
                      </a:r>
                    </a:p>
                  </a:txBody>
                  <a:tcPr marL="45720" marR="45720" marT="9144" marB="9144">
                    <a:solidFill>
                      <a:srgbClr val="FFFFFF"/>
                    </a:solidFill>
                  </a:tcPr>
                </a:tc>
                <a:tc>
                  <a:txBody>
                    <a:bodyPr wrap="square"/>
                    <a:lstStyle/>
                    <a:p>
                      <a:r>
                        <a:rPr sz="1050" b="1">
                          <a:solidFill>
                            <a:srgbClr val="000000"/>
                          </a:solidFill>
                          <a:latin typeface="Calibri"/>
                        </a:rPr>
                        <a:t>Confidence</a:t>
                      </a:r>
                    </a:p>
                  </a:txBody>
                  <a:tcPr marL="45720" marR="45720" marT="9144" marB="9144">
                    <a:solidFill>
                      <a:srgbClr val="FFFFFF"/>
                    </a:solidFill>
                  </a:tcPr>
                </a:tc>
                <a:tc>
                  <a:txBody>
                    <a:bodyPr wrap="square"/>
                    <a:lstStyle/>
                    <a:p>
                      <a:r>
                        <a:rPr sz="1050" b="1">
                          <a:solidFill>
                            <a:srgbClr val="000000"/>
                          </a:solidFill>
                          <a:latin typeface="Calibri"/>
                        </a:rPr>
                        <a:t>Basis</a:t>
                      </a:r>
                    </a:p>
                  </a:txBody>
                  <a:tcPr marL="45720" marR="45720" marT="9144" marB="9144">
                    <a:solidFill>
                      <a:srgbClr val="FFFFFF"/>
                    </a:solidFill>
                  </a:tcPr>
                </a:tc>
              </a:tr>
              <a:tr h="237744">
                <a:tc>
                  <a:txBody>
                    <a:bodyPr wrap="square"/>
                    <a:lstStyle/>
                    <a:p>
                      <a:r>
                        <a:rPr sz="1050" b="0">
                          <a:solidFill>
                            <a:srgbClr val="000000"/>
                          </a:solidFill>
                          <a:latin typeface="Calibri"/>
                        </a:rPr>
                        <a:t>KAN never worse than the PINN on homogeneous</a:t>
                      </a:r>
                    </a:p>
                  </a:txBody>
                  <a:tcPr marL="45720" marR="45720" marT="9144" marB="9144">
                    <a:solidFill>
                      <a:srgbClr val="FFFFFF"/>
                    </a:solidFill>
                  </a:tcPr>
                </a:tc>
                <a:tc>
                  <a:txBody>
                    <a:bodyPr wrap="square"/>
                    <a:lstStyle/>
                    <a:p>
                      <a:r>
                        <a:rPr sz="1050" b="0">
                          <a:solidFill>
                            <a:srgbClr val="000000"/>
                          </a:solidFill>
                          <a:latin typeface="Calibri"/>
                        </a:rPr>
                        <a:t>VERY STRONG</a:t>
                      </a:r>
                    </a:p>
                  </a:txBody>
                  <a:tcPr marL="45720" marR="45720" marT="9144" marB="9144">
                    <a:solidFill>
                      <a:srgbClr val="FFFFFF"/>
                    </a:solidFill>
                  </a:tcPr>
                </a:tc>
                <a:tc>
                  <a:txBody>
                    <a:bodyPr wrap="square"/>
                    <a:lstStyle/>
                    <a:p>
                      <a:r>
                        <a:rPr sz="1050" b="0">
                          <a:solidFill>
                            <a:srgbClr val="000000"/>
                          </a:solidFill>
                          <a:latin typeface="Calibri"/>
                        </a:rPr>
                        <a:t>9/11 paired, every parameter budget, every reference</a:t>
                      </a:r>
                    </a:p>
                  </a:txBody>
                  <a:tcPr marL="45720" marR="45720" marT="9144" marB="9144">
                    <a:solidFill>
                      <a:srgbClr val="FFFFFF"/>
                    </a:solidFill>
                  </a:tcPr>
                </a:tc>
              </a:tr>
              <a:tr h="237744">
                <a:tc>
                  <a:txBody>
                    <a:bodyPr wrap="square"/>
                    <a:lstStyle/>
                    <a:p>
                      <a:r>
                        <a:rPr sz="1050" b="0">
                          <a:solidFill>
                            <a:srgbClr val="000000"/>
                          </a:solidFill>
                          <a:latin typeface="Calibri"/>
                        </a:rPr>
                        <a:t>R3 fails in all four regimes</a:t>
                      </a:r>
                    </a:p>
                  </a:txBody>
                  <a:tcPr marL="45720" marR="45720" marT="9144" marB="9144">
                    <a:solidFill>
                      <a:srgbClr val="FFFFFF"/>
                    </a:solidFill>
                  </a:tcPr>
                </a:tc>
                <a:tc>
                  <a:txBody>
                    <a:bodyPr wrap="square"/>
                    <a:lstStyle/>
                    <a:p>
                      <a:r>
                        <a:rPr sz="1050" b="0">
                          <a:solidFill>
                            <a:srgbClr val="000000"/>
                          </a:solidFill>
                          <a:latin typeface="Calibri"/>
                        </a:rPr>
                        <a:t>VERY STRONG</a:t>
                      </a:r>
                    </a:p>
                  </a:txBody>
                  <a:tcPr marL="45720" marR="45720" marT="9144" marB="9144">
                    <a:solidFill>
                      <a:srgbClr val="FFFFFF"/>
                    </a:solidFill>
                  </a:tcPr>
                </a:tc>
                <a:tc>
                  <a:txBody>
                    <a:bodyPr wrap="square"/>
                    <a:lstStyle/>
                    <a:p>
                      <a:r>
                        <a:rPr sz="1050" b="0">
                          <a:solidFill>
                            <a:srgbClr val="000000"/>
                          </a:solidFill>
                          <a:latin typeface="Calibri"/>
                        </a:rPr>
                        <a:t>~100 paired cells; mechanism measured (retention never below 50 %)</a:t>
                      </a:r>
                    </a:p>
                  </a:txBody>
                  <a:tcPr marL="45720" marR="45720" marT="9144" marB="9144">
                    <a:solidFill>
                      <a:srgbClr val="FFFFFF"/>
                    </a:solidFill>
                  </a:tcPr>
                </a:tc>
              </a:tr>
              <a:tr h="237744">
                <a:tc>
                  <a:txBody>
                    <a:bodyPr wrap="square"/>
                    <a:lstStyle/>
                    <a:p>
                      <a:r>
                        <a:rPr sz="1050" b="0">
                          <a:solidFill>
                            <a:srgbClr val="000000"/>
                          </a:solidFill>
                          <a:latin typeface="Calibri"/>
                        </a:rPr>
                        <a:t>update_grid is incompatible with physics-informed training</a:t>
                      </a:r>
                    </a:p>
                  </a:txBody>
                  <a:tcPr marL="45720" marR="45720" marT="9144" marB="9144">
                    <a:solidFill>
                      <a:srgbClr val="FFFFFF"/>
                    </a:solidFill>
                  </a:tcPr>
                </a:tc>
                <a:tc>
                  <a:txBody>
                    <a:bodyPr wrap="square"/>
                    <a:lstStyle/>
                    <a:p>
                      <a:r>
                        <a:rPr sz="1050" b="0">
                          <a:solidFill>
                            <a:srgbClr val="000000"/>
                          </a:solidFill>
                          <a:latin typeface="Calibri"/>
                        </a:rPr>
                        <a:t>STRONG</a:t>
                      </a:r>
                    </a:p>
                  </a:txBody>
                  <a:tcPr marL="45720" marR="45720" marT="9144" marB="9144">
                    <a:solidFill>
                      <a:srgbClr val="FFFFFF"/>
                    </a:solidFill>
                  </a:tcPr>
                </a:tc>
                <a:tc>
                  <a:txBody>
                    <a:bodyPr wrap="square"/>
                    <a:lstStyle/>
                    <a:p>
                      <a:r>
                        <a:rPr sz="1050" b="0">
                          <a:solidFill>
                            <a:srgbClr val="000000"/>
                          </a:solidFill>
                          <a:latin typeface="Calibri"/>
                        </a:rPr>
                        <a:t>quantitative prediction matched measurement within 2.5×</a:t>
                      </a:r>
                    </a:p>
                  </a:txBody>
                  <a:tcPr marL="45720" marR="45720" marT="9144" marB="9144">
                    <a:solidFill>
                      <a:srgbClr val="FFFFFF"/>
                    </a:solidFill>
                  </a:tcPr>
                </a:tc>
              </a:tr>
              <a:tr h="237744">
                <a:tc>
                  <a:txBody>
                    <a:bodyPr wrap="square"/>
                    <a:lstStyle/>
                    <a:p>
                      <a:r>
                        <a:rPr sz="1050" b="0">
                          <a:solidFill>
                            <a:srgbClr val="000000"/>
                          </a:solidFill>
                          <a:latin typeface="Calibri"/>
                        </a:rPr>
                        <a:t>The collapse is loss-driven, not representational</a:t>
                      </a:r>
                    </a:p>
                  </a:txBody>
                  <a:tcPr marL="45720" marR="45720" marT="9144" marB="9144">
                    <a:solidFill>
                      <a:srgbClr val="FFFFFF"/>
                    </a:solidFill>
                  </a:tcPr>
                </a:tc>
                <a:tc>
                  <a:txBody>
                    <a:bodyPr wrap="square"/>
                    <a:lstStyle/>
                    <a:p>
                      <a:r>
                        <a:rPr sz="1050" b="0">
                          <a:solidFill>
                            <a:srgbClr val="000000"/>
                          </a:solidFill>
                          <a:latin typeface="Calibri"/>
                        </a:rPr>
                        <a:t>STRONG</a:t>
                      </a:r>
                    </a:p>
                  </a:txBody>
                  <a:tcPr marL="45720" marR="45720" marT="9144" marB="9144">
                    <a:solidFill>
                      <a:srgbClr val="FFFFFF"/>
                    </a:solidFill>
                  </a:tcPr>
                </a:tc>
                <a:tc>
                  <a:txBody>
                    <a:bodyPr wrap="square"/>
                    <a:lstStyle/>
                    <a:p>
                      <a:r>
                        <a:rPr sz="1050" b="0">
                          <a:solidFill>
                            <a:srgbClr val="000000"/>
                          </a:solidFill>
                          <a:latin typeface="Calibri"/>
                        </a:rPr>
                        <a:t>measured three independent ways</a:t>
                      </a:r>
                    </a:p>
                  </a:txBody>
                  <a:tcPr marL="45720" marR="45720" marT="9144" marB="9144">
                    <a:solidFill>
                      <a:srgbClr val="FFFFFF"/>
                    </a:solidFill>
                  </a:tcPr>
                </a:tc>
              </a:tr>
              <a:tr h="237744">
                <a:tc>
                  <a:txBody>
                    <a:bodyPr wrap="square"/>
                    <a:lstStyle/>
                    <a:p>
                      <a:r>
                        <a:rPr sz="1050" b="0">
                          <a:solidFill>
                            <a:srgbClr val="000000"/>
                          </a:solidFill>
                          <a:latin typeface="Calibri"/>
                        </a:rPr>
                        <a:t>The cancellation mechanism</a:t>
                      </a:r>
                    </a:p>
                  </a:txBody>
                  <a:tcPr marL="45720" marR="45720" marT="9144" marB="9144">
                    <a:solidFill>
                      <a:srgbClr val="FFFFFF"/>
                    </a:solidFill>
                  </a:tcPr>
                </a:tc>
                <a:tc>
                  <a:txBody>
                    <a:bodyPr wrap="square"/>
                    <a:lstStyle/>
                    <a:p>
                      <a:r>
                        <a:rPr sz="1050" b="0">
                          <a:solidFill>
                            <a:srgbClr val="000000"/>
                          </a:solidFill>
                          <a:latin typeface="Calibri"/>
                        </a:rPr>
                        <a:t>STRONG</a:t>
                      </a:r>
                    </a:p>
                  </a:txBody>
                  <a:tcPr marL="45720" marR="45720" marT="9144" marB="9144">
                    <a:solidFill>
                      <a:srgbClr val="FFFFFF"/>
                    </a:solidFill>
                  </a:tcPr>
                </a:tc>
                <a:tc>
                  <a:txBody>
                    <a:bodyPr wrap="square"/>
                    <a:lstStyle/>
                    <a:p>
                      <a:r>
                        <a:rPr sz="1050" b="0">
                          <a:solidFill>
                            <a:srgbClr val="000000"/>
                          </a:solidFill>
                          <a:latin typeface="Calibri"/>
                        </a:rPr>
                        <a:t>directly measured; explains three separate failures</a:t>
                      </a:r>
                    </a:p>
                  </a:txBody>
                  <a:tcPr marL="45720" marR="45720" marT="9144" marB="9144">
                    <a:solidFill>
                      <a:srgbClr val="FFFFFF"/>
                    </a:solidFill>
                  </a:tcPr>
                </a:tc>
              </a:tr>
              <a:tr h="237744">
                <a:tc>
                  <a:txBody>
                    <a:bodyPr wrap="square"/>
                    <a:lstStyle/>
                    <a:p>
                      <a:r>
                        <a:rPr sz="1050" b="0">
                          <a:solidFill>
                            <a:srgbClr val="000000"/>
                          </a:solidFill>
                          <a:latin typeface="Calibri"/>
                        </a:rPr>
                        <a:t>KAN beats the DEFAULT 128-wide PINN, 1.81×</a:t>
                      </a:r>
                    </a:p>
                  </a:txBody>
                  <a:tcPr marL="45720" marR="45720" marT="9144" marB="9144">
                    <a:solidFill>
                      <a:srgbClr val="FFFFFF"/>
                    </a:solidFill>
                  </a:tcPr>
                </a:tc>
                <a:tc>
                  <a:txBody>
                    <a:bodyPr wrap="square"/>
                    <a:lstStyle/>
                    <a:p>
                      <a:r>
                        <a:rPr sz="1050" b="0">
                          <a:solidFill>
                            <a:srgbClr val="000000"/>
                          </a:solidFill>
                          <a:latin typeface="Calibri"/>
                        </a:rPr>
                        <a:t>STRONG</a:t>
                      </a:r>
                    </a:p>
                  </a:txBody>
                  <a:tcPr marL="45720" marR="45720" marT="9144" marB="9144">
                    <a:solidFill>
                      <a:srgbClr val="FFFFFF"/>
                    </a:solidFill>
                  </a:tcPr>
                </a:tc>
                <a:tc>
                  <a:txBody>
                    <a:bodyPr wrap="square"/>
                    <a:lstStyle/>
                    <a:p>
                      <a:r>
                        <a:rPr sz="1050" b="0">
                          <a:solidFill>
                            <a:srgbClr val="000000"/>
                          </a:solidFill>
                          <a:latin typeface="Calibri"/>
                        </a:rPr>
                        <a:t>three concordant tests, exact reference, n = 11</a:t>
                      </a:r>
                    </a:p>
                  </a:txBody>
                  <a:tcPr marL="45720" marR="45720" marT="9144" marB="9144">
                    <a:solidFill>
                      <a:srgbClr val="FFFFFF"/>
                    </a:solidFill>
                  </a:tcPr>
                </a:tc>
              </a:tr>
              <a:tr h="237744">
                <a:tc>
                  <a:txBody>
                    <a:bodyPr wrap="square"/>
                    <a:lstStyle/>
                    <a:p>
                      <a:r>
                        <a:rPr sz="1050" b="0">
                          <a:solidFill>
                            <a:srgbClr val="000000"/>
                          </a:solidFill>
                          <a:latin typeface="Calibri"/>
                        </a:rPr>
                        <a:t>KAN beats a MATCHED-parameter PINN, 1.50×</a:t>
                      </a:r>
                    </a:p>
                  </a:txBody>
                  <a:tcPr marL="45720" marR="45720" marT="9144" marB="9144">
                    <a:solidFill>
                      <a:srgbClr val="FFFFFF"/>
                    </a:solidFill>
                  </a:tcPr>
                </a:tc>
                <a:tc>
                  <a:txBody>
                    <a:bodyPr wrap="square"/>
                    <a:lstStyle/>
                    <a:p>
                      <a:r>
                        <a:rPr sz="1050" b="0">
                          <a:solidFill>
                            <a:srgbClr val="000000"/>
                          </a:solidFill>
                          <a:latin typeface="Calibri"/>
                        </a:rPr>
                        <a:t>MODERATE</a:t>
                      </a:r>
                    </a:p>
                  </a:txBody>
                  <a:tcPr marL="45720" marR="45720" marT="9144" marB="9144">
                    <a:solidFill>
                      <a:srgbClr val="FFFFFF"/>
                    </a:solidFill>
                  </a:tcPr>
                </a:tc>
                <a:tc>
                  <a:txBody>
                    <a:bodyPr wrap="square"/>
                    <a:lstStyle/>
                    <a:p>
                      <a:r>
                        <a:rPr sz="1050" b="0">
                          <a:solidFill>
                            <a:srgbClr val="000000"/>
                          </a:solidFill>
                          <a:latin typeface="Calibri"/>
                        </a:rPr>
                        <a:t>paired significant (p = 0.0068), unpaired not (p = 0.092)</a:t>
                      </a:r>
                    </a:p>
                  </a:txBody>
                  <a:tcPr marL="45720" marR="45720" marT="9144" marB="9144">
                    <a:solidFill>
                      <a:srgbClr val="FFFFFF"/>
                    </a:solidFill>
                  </a:tcPr>
                </a:tc>
              </a:tr>
              <a:tr h="237744">
                <a:tc>
                  <a:txBody>
                    <a:bodyPr wrap="square"/>
                    <a:lstStyle/>
                    <a:p>
                      <a:r>
                        <a:rPr sz="1050" b="0">
                          <a:solidFill>
                            <a:srgbClr val="000000"/>
                          </a:solidFill>
                          <a:latin typeface="Calibri"/>
                        </a:rPr>
                        <a:t>twolayer and multilayer are ties</a:t>
                      </a:r>
                    </a:p>
                  </a:txBody>
                  <a:tcPr marL="45720" marR="45720" marT="9144" marB="9144">
                    <a:solidFill>
                      <a:srgbClr val="FFFFFF"/>
                    </a:solidFill>
                  </a:tcPr>
                </a:tc>
                <a:tc>
                  <a:txBody>
                    <a:bodyPr wrap="square"/>
                    <a:lstStyle/>
                    <a:p>
                      <a:r>
                        <a:rPr sz="1050" b="0">
                          <a:solidFill>
                            <a:srgbClr val="000000"/>
                          </a:solidFill>
                          <a:latin typeface="Calibri"/>
                        </a:rPr>
                        <a:t>MODERATE</a:t>
                      </a:r>
                    </a:p>
                  </a:txBody>
                  <a:tcPr marL="45720" marR="45720" marT="9144" marB="9144">
                    <a:solidFill>
                      <a:srgbClr val="FFFFFF"/>
                    </a:solidFill>
                  </a:tcPr>
                </a:tc>
                <a:tc>
                  <a:txBody>
                    <a:bodyPr wrap="square"/>
                    <a:lstStyle/>
                    <a:p>
                      <a:r>
                        <a:rPr sz="1050" b="0">
                          <a:solidFill>
                            <a:srgbClr val="000000"/>
                          </a:solidFill>
                          <a:latin typeface="Calibri"/>
                        </a:rPr>
                        <a:t>n = 11, but wide variance</a:t>
                      </a:r>
                    </a:p>
                  </a:txBody>
                  <a:tcPr marL="45720" marR="45720" marT="9144" marB="9144">
                    <a:solidFill>
                      <a:srgbClr val="FFFFFF"/>
                    </a:solidFill>
                  </a:tcPr>
                </a:tc>
              </a:tr>
              <a:tr h="237744">
                <a:tc>
                  <a:txBody>
                    <a:bodyPr wrap="square"/>
                    <a:lstStyle/>
                    <a:p>
                      <a:r>
                        <a:rPr sz="1050" b="0">
                          <a:solidFill>
                            <a:srgbClr val="000000"/>
                          </a:solidFill>
                          <a:latin typeface="Calibri"/>
                        </a:rPr>
                        <a:t>The 233× basis advantage explains the win</a:t>
                      </a:r>
                    </a:p>
                  </a:txBody>
                  <a:tcPr marL="45720" marR="45720" marT="9144" marB="9144">
                    <a:solidFill>
                      <a:srgbClr val="FFFFFF"/>
                    </a:solidFill>
                  </a:tcPr>
                </a:tc>
                <a:tc>
                  <a:txBody>
                    <a:bodyPr wrap="square"/>
                    <a:lstStyle/>
                    <a:p>
                      <a:r>
                        <a:rPr sz="1050" b="0">
                          <a:solidFill>
                            <a:srgbClr val="000000"/>
                          </a:solidFill>
                          <a:latin typeface="Calibri"/>
                        </a:rPr>
                        <a:t>SUPERSEDED</a:t>
                      </a:r>
                    </a:p>
                  </a:txBody>
                  <a:tcPr marL="45720" marR="45720" marT="9144" marB="9144">
                    <a:solidFill>
                      <a:srgbClr val="FFFFFF"/>
                    </a:solidFill>
                  </a:tcPr>
                </a:tc>
                <a:tc>
                  <a:txBody>
                    <a:bodyPr wrap="square"/>
                    <a:lstStyle/>
                    <a:p>
                      <a:r>
                        <a:rPr sz="1050" b="0">
                          <a:solidFill>
                            <a:srgbClr val="000000"/>
                          </a:solidFill>
                          <a:latin typeface="Calibri"/>
                        </a:rPr>
                        <a:t>measures value-space fit — the wrong quantity</a:t>
                      </a:r>
                    </a:p>
                  </a:txBody>
                  <a:tcPr marL="45720" marR="45720" marT="9144" marB="9144">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What is still open</a:t>
            </a:r>
          </a:p>
        </p:txBody>
      </p:sp>
      <p:sp>
        <p:nvSpPr>
          <p:cNvPr id="3" name="TextBox 2"/>
          <p:cNvSpPr txBox="1"/>
          <p:nvPr/>
        </p:nvSpPr>
        <p:spPr>
          <a:xfrm>
            <a:off x="457200" y="932688"/>
            <a:ext cx="11338560" cy="365760"/>
          </a:xfrm>
          <a:prstGeom prst="rect">
            <a:avLst/>
          </a:prstGeom>
          <a:noFill/>
        </p:spPr>
        <p:txBody>
          <a:bodyPr wrap="square">
            <a:spAutoFit/>
          </a:bodyPr>
          <a:lstStyle/>
          <a:p>
            <a:r>
              <a:rPr sz="1300">
                <a:solidFill>
                  <a:srgbClr val="606060"/>
                </a:solidFill>
                <a:latin typeface="Calibri"/>
              </a:rPr>
              <a:t>Stated as gaps, not as pending work</a:t>
            </a:r>
          </a:p>
        </p:txBody>
      </p:sp>
      <p:sp>
        <p:nvSpPr>
          <p:cNvPr id="4" name="Rectangle 3"/>
          <p:cNvSpPr/>
          <p:nvPr/>
        </p:nvSpPr>
        <p:spPr>
          <a:xfrm>
            <a:off x="457200" y="1316736"/>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54480"/>
          <a:ext cx="11247120" cy="1664208"/>
        </p:xfrm>
        <a:graphic>
          <a:graphicData uri="http://schemas.openxmlformats.org/drawingml/2006/table">
            <a:tbl>
              <a:tblPr firstRow="1">
                <a:tableStyleId>{5C22544A-7EE6-4342-B048-85BDC9FD1C3A}</a:tableStyleId>
              </a:tblPr>
              <a:tblGrid>
                <a:gridCol w="4572000"/>
                <a:gridCol w="6675120"/>
              </a:tblGrid>
              <a:tr h="237744">
                <a:tc>
                  <a:txBody>
                    <a:bodyPr wrap="square"/>
                    <a:lstStyle/>
                    <a:p>
                      <a:r>
                        <a:rPr sz="1050" b="1">
                          <a:solidFill>
                            <a:srgbClr val="000000"/>
                          </a:solidFill>
                          <a:latin typeface="Calibri"/>
                        </a:rPr>
                        <a:t>Open question</a:t>
                      </a:r>
                    </a:p>
                  </a:txBody>
                  <a:tcPr marL="45720" marR="45720" marT="9144" marB="9144">
                    <a:solidFill>
                      <a:srgbClr val="FFFFFF"/>
                    </a:solidFill>
                  </a:tcPr>
                </a:tc>
                <a:tc>
                  <a:txBody>
                    <a:bodyPr wrap="square"/>
                    <a:lstStyle/>
                    <a:p>
                      <a:r>
                        <a:rPr sz="1050" b="1">
                          <a:solidFill>
                            <a:srgbClr val="000000"/>
                          </a:solidFill>
                          <a:latin typeface="Calibri"/>
                        </a:rPr>
                        <a:t>Why it matters</a:t>
                      </a:r>
                    </a:p>
                  </a:txBody>
                  <a:tcPr marL="45720" marR="45720" marT="9144" marB="9144">
                    <a:solidFill>
                      <a:srgbClr val="FFFFFF"/>
                    </a:solidFill>
                  </a:tcPr>
                </a:tc>
              </a:tr>
              <a:tr h="237744">
                <a:tc>
                  <a:txBody>
                    <a:bodyPr wrap="square"/>
                    <a:lstStyle/>
                    <a:p>
                      <a:r>
                        <a:rPr sz="1050" b="0">
                          <a:solidFill>
                            <a:srgbClr val="000000"/>
                          </a:solidFill>
                          <a:latin typeface="Calibri"/>
                        </a:rPr>
                        <a:t>Why the residual landscape traps Fourier-embedded KANs</a:t>
                      </a:r>
                    </a:p>
                  </a:txBody>
                  <a:tcPr marL="45720" marR="45720" marT="9144" marB="9144">
                    <a:solidFill>
                      <a:srgbClr val="FFFFFF"/>
                    </a:solidFill>
                  </a:tcPr>
                </a:tc>
                <a:tc>
                  <a:txBody>
                    <a:bodyPr wrap="square"/>
                    <a:lstStyle/>
                    <a:p>
                      <a:r>
                        <a:rPr sz="1050" b="0">
                          <a:solidFill>
                            <a:srgbClr val="000000"/>
                          </a:solidFill>
                          <a:latin typeface="Calibri"/>
                        </a:rPr>
                        <a:t>we showed it is NOT representation. What it IS has no mechanism yet, and inventing one would be worse than leaving it open.</a:t>
                      </a:r>
                    </a:p>
                  </a:txBody>
                  <a:tcPr marL="45720" marR="45720" marT="9144" marB="9144">
                    <a:solidFill>
                      <a:srgbClr val="FFFFFF"/>
                    </a:solidFill>
                  </a:tcPr>
                </a:tc>
              </a:tr>
              <a:tr h="237744">
                <a:tc>
                  <a:txBody>
                    <a:bodyPr wrap="square"/>
                    <a:lstStyle/>
                    <a:p>
                      <a:r>
                        <a:rPr sz="1050" b="0">
                          <a:solidFill>
                            <a:srgbClr val="000000"/>
                          </a:solidFill>
                          <a:latin typeface="Calibri"/>
                        </a:rPr>
                        <a:t>Only homogeneous separates the two families</a:t>
                      </a:r>
                    </a:p>
                  </a:txBody>
                  <a:tcPr marL="45720" marR="45720" marT="9144" marB="9144">
                    <a:solidFill>
                      <a:srgbClr val="FFFFFF"/>
                    </a:solidFill>
                  </a:tcPr>
                </a:tc>
                <a:tc>
                  <a:txBody>
                    <a:bodyPr wrap="square"/>
                    <a:lstStyle/>
                    <a:p>
                      <a:r>
                        <a:rPr sz="1050" b="0">
                          <a:solidFill>
                            <a:srgbClr val="000000"/>
                          </a:solidFill>
                          <a:latin typeface="Calibri"/>
                        </a:rPr>
                        <a:t>twolayer and multilayer are both ties at n = 11, so a single significant result carries the whole accuracy claim</a:t>
                      </a:r>
                    </a:p>
                  </a:txBody>
                  <a:tcPr marL="45720" marR="45720" marT="9144" marB="9144">
                    <a:solidFill>
                      <a:srgbClr val="FFFFFF"/>
                    </a:solidFill>
                  </a:tcPr>
                </a:tc>
              </a:tr>
              <a:tr h="237744">
                <a:tc>
                  <a:txBody>
                    <a:bodyPr wrap="square"/>
                    <a:lstStyle/>
                    <a:p>
                      <a:r>
                        <a:rPr sz="1050" b="0">
                          <a:solidFill>
                            <a:srgbClr val="000000"/>
                          </a:solidFill>
                          <a:latin typeface="Calibri"/>
                        </a:rPr>
                        <a:t>Does "the KAN wins where the solution is separable" generalise?</a:t>
                      </a:r>
                    </a:p>
                  </a:txBody>
                  <a:tcPr marL="45720" marR="45720" marT="9144" marB="9144">
                    <a:solidFill>
                      <a:srgbClr val="FFFFFF"/>
                    </a:solidFill>
                  </a:tcPr>
                </a:tc>
                <a:tc>
                  <a:txBody>
                    <a:bodyPr wrap="square"/>
                    <a:lstStyle/>
                    <a:p>
                      <a:r>
                        <a:rPr sz="1050" b="0">
                          <a:solidFill>
                            <a:srgbClr val="000000"/>
                          </a:solidFill>
                          <a:latin typeface="Calibri"/>
                        </a:rPr>
                        <a:t>a fourth smooth material would test whether this is a principle or a single data point</a:t>
                      </a:r>
                    </a:p>
                  </a:txBody>
                  <a:tcPr marL="45720" marR="45720" marT="9144" marB="9144">
                    <a:solidFill>
                      <a:srgbClr val="FFFFFF"/>
                    </a:solidFill>
                  </a:tcPr>
                </a:tc>
              </a:tr>
              <a:tr h="237744">
                <a:tc>
                  <a:txBody>
                    <a:bodyPr wrap="square"/>
                    <a:lstStyle/>
                    <a:p>
                      <a:r>
                        <a:rPr sz="1050" b="0">
                          <a:solidFill>
                            <a:srgbClr val="000000"/>
                          </a:solidFill>
                          <a:latin typeface="Calibri"/>
                        </a:rPr>
                        <a:t>The tuned KAN has never been run with R3, in any form</a:t>
                      </a:r>
                    </a:p>
                  </a:txBody>
                  <a:tcPr marL="45720" marR="45720" marT="9144" marB="9144">
                    <a:solidFill>
                      <a:srgbClr val="FFFFFF"/>
                    </a:solidFill>
                  </a:tcPr>
                </a:tc>
                <a:tc>
                  <a:txBody>
                    <a:bodyPr wrap="square"/>
                    <a:lstStyle/>
                    <a:p>
                      <a:r>
                        <a:rPr sz="1050" b="0">
                          <a:solidFill>
                            <a:srgbClr val="000000"/>
                          </a:solidFill>
                          <a:latin typeface="Calibri"/>
                        </a:rPr>
                        <a:t>an absence, not a pending run</a:t>
                      </a:r>
                    </a:p>
                  </a:txBody>
                  <a:tcPr marL="45720" marR="45720" marT="9144" marB="9144">
                    <a:solidFill>
                      <a:srgbClr val="FFFFFF"/>
                    </a:solidFill>
                  </a:tcPr>
                </a:tc>
              </a:tr>
              <a:tr h="237744">
                <a:tc>
                  <a:txBody>
                    <a:bodyPr wrap="square"/>
                    <a:lstStyle/>
                    <a:p>
                      <a:r>
                        <a:rPr sz="1050" b="0">
                          <a:solidFill>
                            <a:srgbClr val="000000"/>
                          </a:solidFill>
                          <a:latin typeface="Calibri"/>
                        </a:rPr>
                        <a:t>The hybrid has never been run on PirateNet or WavKAN</a:t>
                      </a:r>
                    </a:p>
                  </a:txBody>
                  <a:tcPr marL="45720" marR="45720" marT="9144" marB="9144">
                    <a:solidFill>
                      <a:srgbClr val="FFFFFF"/>
                    </a:solidFill>
                  </a:tcPr>
                </a:tc>
                <a:tc>
                  <a:txBody>
                    <a:bodyPr wrap="square"/>
                    <a:lstStyle/>
                    <a:p>
                      <a:r>
                        <a:rPr sz="1050" b="0">
                          <a:solidFill>
                            <a:srgbClr val="000000"/>
                          </a:solidFill>
                          <a:latin typeface="Calibri"/>
                        </a:rPr>
                        <a:t>an absence</a:t>
                      </a:r>
                    </a:p>
                  </a:txBody>
                  <a:tcPr marL="45720" marR="45720" marT="9144" marB="9144">
                    <a:solidFill>
                      <a:srgbClr val="FFFFFF"/>
                    </a:solidFill>
                  </a:tcPr>
                </a:tc>
              </a:tr>
              <a:tr h="237744">
                <a:tc>
                  <a:txBody>
                    <a:bodyPr wrap="square"/>
                    <a:lstStyle/>
                    <a:p>
                      <a:r>
                        <a:rPr sz="1050" b="0">
                          <a:solidFill>
                            <a:srgbClr val="000000"/>
                          </a:solidFill>
                          <a:latin typeface="Calibri"/>
                        </a:rPr>
                        <a:t>Swap the transition widths (twolayer at w=0.05, multilayer at w=0.02)</a:t>
                      </a:r>
                    </a:p>
                  </a:txBody>
                  <a:tcPr marL="45720" marR="45720" marT="9144" marB="9144">
                    <a:solidFill>
                      <a:srgbClr val="FFFFFF"/>
                    </a:solidFill>
                  </a:tcPr>
                </a:tc>
                <a:tc>
                  <a:txBody>
                    <a:bodyPr wrap="square"/>
                    <a:lstStyle/>
                    <a:p>
                      <a:r>
                        <a:rPr sz="1050" b="0">
                          <a:solidFill>
                            <a:srgbClr val="000000"/>
                          </a:solidFill>
                          <a:latin typeface="Calibri"/>
                        </a:rPr>
                        <a:t>the decisive test of whether failure follows SHARPNESS or the material. Not run.</a:t>
                      </a:r>
                    </a:p>
                  </a:txBody>
                  <a:tcPr marL="45720" marR="45720" marT="9144" marB="9144">
                    <a:solidFill>
                      <a:srgbClr val="FFFFFF"/>
                    </a:solidFill>
                  </a:tcPr>
                </a:tc>
              </a:tr>
            </a:tbl>
          </a:graphicData>
        </a:graphic>
      </p:graphicFrame>
      <p:sp>
        <p:nvSpPr>
          <p:cNvPr id="6" name="TextBox 5"/>
          <p:cNvSpPr txBox="1"/>
          <p:nvPr/>
        </p:nvSpPr>
        <p:spPr>
          <a:xfrm>
            <a:off x="502920" y="4114800"/>
            <a:ext cx="11247120" cy="2468880"/>
          </a:xfrm>
          <a:prstGeom prst="rect">
            <a:avLst/>
          </a:prstGeom>
          <a:noFill/>
        </p:spPr>
        <p:txBody>
          <a:bodyPr wrap="square">
            <a:spAutoFit/>
          </a:bodyPr>
          <a:lstStyle/>
          <a:p>
            <a:pPr>
              <a:spcAft>
                <a:spcPts val="800"/>
              </a:spcAft>
            </a:pPr>
            <a:r>
              <a:rPr sz="1300" b="1">
                <a:solidFill>
                  <a:srgbClr val="000000"/>
                </a:solidFill>
                <a:latin typeface="Calibri"/>
              </a:rPr>
              <a:t>• Base rate to keep in mind: roughly six defects were found in our own analysis code in a single session, several only because a deliberate hunt was requested. Results measured once should be assumed to carry defects at a similar rate.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338560" cy="685800"/>
          </a:xfrm>
          <a:prstGeom prst="rect">
            <a:avLst/>
          </a:prstGeom>
          <a:noFill/>
        </p:spPr>
        <p:txBody>
          <a:bodyPr wrap="square">
            <a:spAutoFit/>
          </a:bodyPr>
          <a:lstStyle/>
          <a:p>
            <a:r>
              <a:rPr sz="2600" b="1">
                <a:solidFill>
                  <a:srgbClr val="000000"/>
                </a:solidFill>
                <a:latin typeface="Calibri"/>
              </a:rPr>
              <a:t>Summary</a:t>
            </a:r>
          </a:p>
        </p:txBody>
      </p:sp>
      <p:sp>
        <p:nvSpPr>
          <p:cNvPr id="3" name="Rectangle 2"/>
          <p:cNvSpPr/>
          <p:nvPr/>
        </p:nvSpPr>
        <p:spPr>
          <a:xfrm>
            <a:off x="457200" y="1024128"/>
            <a:ext cx="11274552" cy="15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43584"/>
            <a:ext cx="11247120" cy="5340096"/>
          </a:xfrm>
          <a:prstGeom prst="rect">
            <a:avLst/>
          </a:prstGeom>
          <a:noFill/>
        </p:spPr>
        <p:txBody>
          <a:bodyPr wrap="square">
            <a:spAutoFit/>
          </a:bodyPr>
          <a:lstStyle/>
          <a:p>
            <a:pPr>
              <a:spcAft>
                <a:spcPts val="800"/>
              </a:spcAft>
            </a:pPr>
            <a:r>
              <a:rPr sz="1350" b="1">
                <a:solidFill>
                  <a:srgbClr val="000000"/>
                </a:solidFill>
                <a:latin typeface="Calibri"/>
              </a:rPr>
              <a:t>• 1. The inherited repository could not answer the question. 18 defects reproduced by execution: the KAN solved the wrong equation on 2 of 3 materials, trained without a boundary condition, for 10 Adam steps, with no checkpoint, selected on the test set, through a driver that raised TypeError.</a:t>
            </a:r>
          </a:p>
          <a:p>
            <a:pPr>
              <a:spcAft>
                <a:spcPts val="800"/>
              </a:spcAft>
            </a:pPr>
            <a:r>
              <a:rPr sz="1350" b="1">
                <a:solidFill>
                  <a:srgbClr val="000000"/>
                </a:solidFill>
                <a:latin typeface="Calibri"/>
              </a:rPr>
              <a:t>• 2. We rebuilt the whole comparison in a package with ~190 tests, 16/16 mutations caught, with everything except the network held byte-identical across arms.</a:t>
            </a:r>
          </a:p>
          <a:p>
            <a:pPr>
              <a:spcAft>
                <a:spcPts val="800"/>
              </a:spcAft>
            </a:pPr>
            <a:r>
              <a:rPr sz="1350" b="1">
                <a:solidFill>
                  <a:srgbClr val="000000"/>
                </a:solidFill>
                <a:latin typeface="Calibri"/>
              </a:rPr>
              <a:t>• 3. The optimiser, not the architecture, decided the result. Under pure L-BFGS the two families tie (p = 0.577) and the KAN looks unstable (5.44× the variance). Add 700 Adam steps and the KAN wins 1.81× (p = 0.0154) with LOWER variance. Same networks, same points.</a:t>
            </a:r>
          </a:p>
          <a:p>
            <a:pPr>
              <a:spcAft>
                <a:spcPts val="800"/>
              </a:spcAft>
            </a:pPr>
            <a:r>
              <a:rPr sz="1350" b="1">
                <a:solidFill>
                  <a:srgbClr val="000000"/>
                </a:solidFill>
                <a:latin typeface="Calibri"/>
              </a:rPr>
              <a:t>• 4. On the other two materials there is no significant difference. The KAN is never significantly worse anywhere; it is significantly better on one material of three.</a:t>
            </a:r>
          </a:p>
          <a:p>
            <a:pPr>
              <a:spcAft>
                <a:spcPts val="800"/>
              </a:spcAft>
            </a:pPr>
            <a:r>
              <a:rPr sz="1350" b="1">
                <a:solidFill>
                  <a:srgbClr val="000000"/>
                </a:solidFill>
                <a:latin typeface="Calibri"/>
              </a:rPr>
              <a:t>• 5. R3 adaptive resampling fails in all four regimes tested, including the paper's own — with a measured mechanism: our hard constraints delete the concentrated residual it was built to chase.</a:t>
            </a:r>
          </a:p>
          <a:p>
            <a:pPr>
              <a:spcAft>
                <a:spcPts val="800"/>
              </a:spcAft>
            </a:pPr>
            <a:r>
              <a:rPr sz="1350" b="1">
                <a:solidFill>
                  <a:srgbClr val="000000"/>
                </a:solidFill>
                <a:latin typeface="Calibri"/>
              </a:rPr>
              <a:t>• 6. The unifying mechanism: a PDE residual loss is a CANCELLATION to 1 part in 6,696. It does not measure how well you fit the solution; it measures whether your second derivatives cancel. Every catastrophic failure here — update_grid, both PIKANs, the soft-IC MLP — is a basis that cannot achieve that, and whose only remaining way to shrink the residual is to shrink u toward zero.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